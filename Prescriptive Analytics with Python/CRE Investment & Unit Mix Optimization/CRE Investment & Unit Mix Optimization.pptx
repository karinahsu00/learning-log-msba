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ppt/tags/tag3.xml" ContentType="application/vnd.openxmlformats-officedocument.presentationml.tags+xml"/>
  <Override PartName="/ppt/notesSlides/notesSlide6.xml" ContentType="application/vnd.openxmlformats-officedocument.presentationml.notesSlide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tags/tag5.xml" ContentType="application/vnd.openxmlformats-officedocument.presentationml.tags+xml"/>
  <Override PartName="/ppt/notesSlides/notesSlide8.xml" ContentType="application/vnd.openxmlformats-officedocument.presentationml.notesSlide+xml"/>
  <Override PartName="/ppt/tags/tag6.xml" ContentType="application/vnd.openxmlformats-officedocument.presentationml.tags+xml"/>
  <Override PartName="/ppt/notesSlides/notesSlide9.xml" ContentType="application/vnd.openxmlformats-officedocument.presentationml.notesSlide+xml"/>
  <Override PartName="/ppt/tags/tag7.xml" ContentType="application/vnd.openxmlformats-officedocument.presentationml.tags+xml"/>
  <Override PartName="/ppt/notesSlides/notesSlide10.xml" ContentType="application/vnd.openxmlformats-officedocument.presentationml.notesSlide+xml"/>
  <Override PartName="/ppt/tags/tag8.xml" ContentType="application/vnd.openxmlformats-officedocument.presentationml.tags+xml"/>
  <Override PartName="/ppt/notesSlides/notesSlide11.xml" ContentType="application/vnd.openxmlformats-officedocument.presentationml.notesSlide+xml"/>
  <Override PartName="/ppt/tags/tag9.xml" ContentType="application/vnd.openxmlformats-officedocument.presentationml.tags+xml"/>
  <Override PartName="/ppt/notesSlides/notesSlide12.xml" ContentType="application/vnd.openxmlformats-officedocument.presentationml.notesSlide+xml"/>
  <Override PartName="/ppt/tags/tag10.xml" ContentType="application/vnd.openxmlformats-officedocument.presentationml.tags+xml"/>
  <Override PartName="/ppt/notesSlides/notesSlide13.xml" ContentType="application/vnd.openxmlformats-officedocument.presentationml.notesSlide+xml"/>
  <Override PartName="/ppt/tags/tag11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  <p:sldMasterId id="2147483664" r:id="rId3"/>
  </p:sldMasterIdLst>
  <p:notesMasterIdLst>
    <p:notesMasterId r:id="rId20"/>
  </p:notesMasterIdLst>
  <p:sldIdLst>
    <p:sldId id="293" r:id="rId4"/>
    <p:sldId id="261" r:id="rId5"/>
    <p:sldId id="295" r:id="rId6"/>
    <p:sldId id="334" r:id="rId7"/>
    <p:sldId id="322" r:id="rId8"/>
    <p:sldId id="323" r:id="rId9"/>
    <p:sldId id="325" r:id="rId10"/>
    <p:sldId id="326" r:id="rId11"/>
    <p:sldId id="327" r:id="rId12"/>
    <p:sldId id="328" r:id="rId13"/>
    <p:sldId id="329" r:id="rId14"/>
    <p:sldId id="330" r:id="rId15"/>
    <p:sldId id="331" r:id="rId16"/>
    <p:sldId id="335" r:id="rId17"/>
    <p:sldId id="336" r:id="rId18"/>
    <p:sldId id="324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FFF8F2"/>
    <a:srgbClr val="FFE2C0"/>
    <a:srgbClr val="FFECE5"/>
    <a:srgbClr val="FA78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50" autoAdjust="0"/>
    <p:restoredTop sz="88674"/>
  </p:normalViewPr>
  <p:slideViewPr>
    <p:cSldViewPr snapToGrid="0" showGuides="1">
      <p:cViewPr varScale="1">
        <p:scale>
          <a:sx n="86" d="100"/>
          <a:sy n="86" d="100"/>
        </p:scale>
        <p:origin x="224" y="7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layout>
        <c:manualLayout>
          <c:xMode val="edge"/>
          <c:yMode val="edge"/>
          <c:x val="0.16470179250748387"/>
          <c:y val="7.261147247865740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IRR (%)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A9AC-184B-82D7-BD10B84E0974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9AC-184B-82D7-BD10B84E097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New Hope</c:v>
                </c:pt>
                <c:pt idx="1">
                  <c:v>Fairview</c:v>
                </c:pt>
                <c:pt idx="2">
                  <c:v>Springfield</c:v>
                </c:pt>
              </c:strCache>
            </c:strRef>
          </c:cat>
          <c:val>
            <c:numRef>
              <c:f>Sheet1!$B$2:$B$4</c:f>
              <c:numCache>
                <c:formatCode>0.00%</c:formatCode>
                <c:ptCount val="3"/>
                <c:pt idx="0">
                  <c:v>7.2999999999999995E-2</c:v>
                </c:pt>
                <c:pt idx="1">
                  <c:v>4.7600000000000003E-2</c:v>
                </c:pt>
                <c:pt idx="2">
                  <c:v>4.0300000000000002E-2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AC-184B-82D7-BD10B84E097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904423872"/>
        <c:axId val="1896197744"/>
      </c:barChart>
      <c:catAx>
        <c:axId val="19044238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896197744"/>
        <c:crosses val="autoZero"/>
        <c:auto val="1"/>
        <c:lblAlgn val="ctr"/>
        <c:lblOffset val="100"/>
        <c:noMultiLvlLbl val="0"/>
      </c:catAx>
      <c:valAx>
        <c:axId val="189619774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9044238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layout>
        <c:manualLayout>
          <c:xMode val="edge"/>
          <c:yMode val="edge"/>
          <c:x val="0.1657776110972396"/>
          <c:y val="0.1003614188273663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NOI CAGR (%)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277-7A4E-A166-81BE4C454924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277-7A4E-A166-81BE4C45492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New Hope</c:v>
                </c:pt>
                <c:pt idx="1">
                  <c:v>Fairview</c:v>
                </c:pt>
                <c:pt idx="2">
                  <c:v>Springfield</c:v>
                </c:pt>
              </c:strCache>
            </c:strRef>
          </c:cat>
          <c:val>
            <c:numRef>
              <c:f>Sheet1!$B$2:$B$4</c:f>
              <c:numCache>
                <c:formatCode>0.00%</c:formatCode>
                <c:ptCount val="3"/>
                <c:pt idx="0">
                  <c:v>0.06</c:v>
                </c:pt>
                <c:pt idx="1">
                  <c:v>0.05</c:v>
                </c:pt>
                <c:pt idx="2">
                  <c:v>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277-7A4E-A166-81BE4C45492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904423872"/>
        <c:axId val="1896197744"/>
      </c:barChart>
      <c:catAx>
        <c:axId val="19044238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896197744"/>
        <c:crosses val="autoZero"/>
        <c:auto val="1"/>
        <c:lblAlgn val="ctr"/>
        <c:lblOffset val="100"/>
        <c:noMultiLvlLbl val="0"/>
      </c:catAx>
      <c:valAx>
        <c:axId val="189619774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9044238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layout>
        <c:manualLayout>
          <c:xMode val="edge"/>
          <c:yMode val="edge"/>
          <c:x val="0.1656728999996665"/>
          <c:y val="6.333331474241350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Equity Growth (%)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AB2-9546-AF33-888FDDF8E413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AB2-9546-AF33-888FDDF8E41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New Hope</c:v>
                </c:pt>
                <c:pt idx="1">
                  <c:v>Fairview</c:v>
                </c:pt>
                <c:pt idx="2">
                  <c:v>Springfield</c:v>
                </c:pt>
              </c:strCache>
            </c:strRef>
          </c:cat>
          <c:val>
            <c:numRef>
              <c:f>Sheet1!$B$2:$B$4</c:f>
              <c:numCache>
                <c:formatCode>0.00%</c:formatCode>
                <c:ptCount val="3"/>
                <c:pt idx="0">
                  <c:v>7.9399999999999998E-2</c:v>
                </c:pt>
                <c:pt idx="1">
                  <c:v>6.1600000000000002E-2</c:v>
                </c:pt>
                <c:pt idx="2">
                  <c:v>4.9399999999999999E-2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AB2-9546-AF33-888FDDF8E41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904423872"/>
        <c:axId val="1896197744"/>
      </c:barChart>
      <c:catAx>
        <c:axId val="19044238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896197744"/>
        <c:crosses val="autoZero"/>
        <c:auto val="1"/>
        <c:lblAlgn val="ctr"/>
        <c:lblOffset val="100"/>
        <c:noMultiLvlLbl val="0"/>
      </c:catAx>
      <c:valAx>
        <c:axId val="189619774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9044238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2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3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宋体 CN" panose="02020400000000000000" pitchFamily="18" charset="-122"/>
                <a:ea typeface="思源宋体 CN" panose="02020400000000000000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宋体 CN" panose="02020400000000000000" pitchFamily="18" charset="-122"/>
                <a:ea typeface="思源宋体 CN" panose="02020400000000000000" pitchFamily="18" charset="-122"/>
              </a:defRPr>
            </a:lvl1pPr>
          </a:lstStyle>
          <a:p>
            <a:fld id="{36BD9C47-5083-42F2-9EA8-F376F4D596BB}" type="datetimeFigureOut">
              <a:rPr lang="zh-CN" altLang="en-US" smtClean="0"/>
              <a:pPr/>
              <a:t>2026/3/4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宋体 CN" panose="02020400000000000000" pitchFamily="18" charset="-122"/>
                <a:ea typeface="思源宋体 CN" panose="02020400000000000000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宋体 CN" panose="02020400000000000000" pitchFamily="18" charset="-122"/>
                <a:ea typeface="思源宋体 CN" panose="02020400000000000000" pitchFamily="18" charset="-122"/>
              </a:defRPr>
            </a:lvl1pPr>
          </a:lstStyle>
          <a:p>
            <a:fld id="{32E24CD0-02FF-439E-9E8D-2069F16AA74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85304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宋体 CN" panose="02020400000000000000" pitchFamily="18" charset="-122"/>
        <a:ea typeface="思源宋体 CN" panose="02020400000000000000" pitchFamily="18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宋体 CN" panose="02020400000000000000" pitchFamily="18" charset="-122"/>
        <a:ea typeface="思源宋体 CN" panose="02020400000000000000" pitchFamily="18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宋体 CN" panose="02020400000000000000" pitchFamily="18" charset="-122"/>
        <a:ea typeface="思源宋体 CN" panose="02020400000000000000" pitchFamily="18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宋体 CN" panose="02020400000000000000" pitchFamily="18" charset="-122"/>
        <a:ea typeface="思源宋体 CN" panose="02020400000000000000" pitchFamily="18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宋体 CN" panose="02020400000000000000" pitchFamily="18" charset="-122"/>
        <a:ea typeface="思源宋体 CN" panose="02020400000000000000" pitchFamily="18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70BDDB-563D-4FAE-A062-A86F86D3A0D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23588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E24CD0-02FF-439E-9E8D-2069F16AA747}" type="slidenum">
              <a:rPr lang="zh-CN" altLang="en-US" smtClean="0"/>
              <a:pPr/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89415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模板来自于：第一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https://www.1ppt.com/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E24CD0-02FF-439E-9E8D-2069F16AA747}" type="slidenum">
              <a:rPr lang="zh-CN" altLang="en-US" smtClean="0"/>
              <a:pPr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160939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900A2-909D-B4B6-7129-8AE52EBD4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7E8E79E-997A-05D7-B638-3EE79841D9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B27C19-387C-A521-C8B2-C5EAA23E02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4B88D8-214A-B8B5-C36B-F6E0823B38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70BDDB-563D-4FAE-A062-A86F86D3A0D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83302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8C914-25EE-E6A3-8D31-8B3B18A8E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EDB8AE7-D3C2-D895-DFAC-5ABDE29D63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FCE8A63-2F95-24F4-DA52-CD33D4F77F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C105AD-90C2-388B-9659-9BA15EA4E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70BDDB-563D-4FAE-A062-A86F86D3A0D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06367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4D2BA-FAA8-869F-66E8-51C6B8A01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1F9AB9B-1559-D53F-5E12-C315C64687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B7693BD-824E-955B-BE81-17F3E2B87D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961BD1-4676-E09F-7A41-9028931841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70BDDB-563D-4FAE-A062-A86F86D3A0D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73902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694E9-4566-DFDA-BC3F-222FDA442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E675432-AC0F-9BA5-EEE9-5369DC564D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5A069B5-091A-ADEC-C9B2-AA6FCA30CE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3DAEF3-F101-D028-9F2E-0111F23AC0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70BDDB-563D-4FAE-A062-A86F86D3A0D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33249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28800-1D9D-022D-9394-8AAEDDB79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624B97-4D5D-BC92-D0DA-BEB3716C91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8BAF5E9-DFFB-06F7-A4F9-3181F2F830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453F05-B053-1BD7-19C9-9C60A3D873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70BDDB-563D-4FAE-A062-A86F86D3A0D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19053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51123-EA4E-B9C5-7F5D-0598B9E7B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FC914A1-1AB6-716A-2F02-4C0C4FCE3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BD03DE7-FB94-8369-F1EE-6ECBD12D35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53F059-2860-9683-C545-BC4D4FA338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70BDDB-563D-4FAE-A062-A86F86D3A0D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62153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F4FBF-132B-EBE4-BB4A-B4BC48F17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7290849-9796-EFEF-0ADD-D82FA6ED5A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0F81852-DA4B-ECC7-12A1-313EC4134E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4342A1-4B20-28DE-4F02-47D1B4A6FD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70BDDB-563D-4FAE-A062-A86F86D3A0D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14954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88A4C-2F87-74CB-982D-AB74C75CA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D823076-A8A8-58B5-F8AD-FEF5514F02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01ADA1E-F517-484B-C2EC-0FEC7F751D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A15A49-E436-49E4-8E71-9BEE8F52E1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70BDDB-563D-4FAE-A062-A86F86D3A0D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56457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CBBF9-94E4-A7BE-32EB-D04FE0B19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642CA11-BD9A-FDBD-205A-2AC4526A16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6DF8F1C-8082-8F68-46AB-DF2AD4514D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67E1AE-848E-D6EF-5F55-5E6958FDDD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70BDDB-563D-4FAE-A062-A86F86D3A0D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16820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2785A-1ECD-6970-39AB-DECB4A638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627FF1B-2F1B-03B3-6B86-7224A6BBFC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1C34AB2-070E-90FB-5107-FAC0C84E1A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8805C21-1F69-395C-AF12-2653F8BD79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70BDDB-563D-4FAE-A062-A86F86D3A0D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05103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C57FC-E840-02AB-A2F1-4B59DD7FC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93EB058-FB77-06D1-A479-7E5AA5EAA2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F948520-2DE8-3ADA-EE95-3C2C2B99FC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FEA5C2-C07F-011A-BCEB-E4876CD0CD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70BDDB-563D-4FAE-A062-A86F86D3A0D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99451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5DABF-59C9-6D19-AAB0-2AA5C60AB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326AAF2-ED5F-D660-5432-E6FB7AD893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4669922-E405-83A1-CEC5-2BCB94243B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C9BFD4-F661-AB5A-12F4-F7B82E18CE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70BDDB-563D-4FAE-A062-A86F86D3A0D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46178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moban/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977D2E9-81E1-EC17-5C9D-B3556B551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CA797B4-D5FD-440D-9675-FA553737CD0B}" type="datetimeFigureOut">
              <a:rPr lang="zh-CN" altLang="en-US" smtClean="0"/>
              <a:pPr/>
              <a:t>2026/3/4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1A4A9AC-15D5-9BBA-10ED-4EBD49990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D15FBE-5C09-48E6-CCE4-22188F4F3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5A4902-D109-48DE-A495-9B8C3C64959E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51454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977D2E9-81E1-EC17-5C9D-B3556B551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CA797B4-D5FD-440D-9675-FA553737CD0B}" type="datetimeFigureOut">
              <a:rPr lang="zh-CN" altLang="en-US" smtClean="0"/>
              <a:pPr/>
              <a:t>2026/3/4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1A4A9AC-15D5-9BBA-10ED-4EBD49990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D15FBE-5C09-48E6-CCE4-22188F4F3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5A4902-D109-48DE-A495-9B8C3C64959E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11651940" y="0"/>
            <a:ext cx="54006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http://www.1ppt.com/moban/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45435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8EBC3BC-C606-302B-05A9-118741C3C5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"/>
            <a:ext cx="12192000" cy="6857999"/>
          </a:xfrm>
          <a:prstGeom prst="rect">
            <a:avLst/>
          </a:prstGeom>
          <a:solidFill>
            <a:sysClr val="window" lastClr="FFFFFF"/>
          </a:solidFill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175429F-1525-8B6E-ED6C-F4BF27454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FF361-296B-4636-9F0B-DCB4308C521A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772C642-8777-7682-2390-FD1DFC94A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DC8D0CD-9B9D-D79D-6DCD-B643906DB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9AE6F-D4C7-4ED6-B63B-BC9AFCDD67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8314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/>
              <a:t>2026/3/4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1649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/>
              <a:t>2026/3/4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8808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285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A78F2D3-A1BF-A603-C5CC-A47818FF1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8AB08A-26AE-B3D7-152D-788A0A89B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306546-32C9-9AFB-480A-E113612653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defRPr>
            </a:lvl1pPr>
          </a:lstStyle>
          <a:p>
            <a:fld id="{FCA797B4-D5FD-440D-9675-FA553737CD0B}" type="datetimeFigureOut">
              <a:rPr lang="zh-CN" altLang="en-US" smtClean="0"/>
              <a:pPr/>
              <a:t>2026/3/4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040AAD-A0E3-C4E2-1625-A9D7486D03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CB7D43-6F6D-10A5-59B0-FF4BEE90EE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defRPr>
            </a:lvl1pPr>
          </a:lstStyle>
          <a:p>
            <a:fld id="{055A4902-D109-48DE-A495-9B8C3C64959E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73981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8" r:id="rId2"/>
  </p:sldLayoutIdLst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宋体 CN" panose="02020400000000000000" pitchFamily="18" charset="-122"/>
          <a:ea typeface="思源宋体 CN" panose="02020400000000000000" pitchFamily="18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宋体 CN" panose="02020400000000000000" pitchFamily="18" charset="-122"/>
          <a:ea typeface="思源宋体 CN" panose="02020400000000000000" pitchFamily="18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宋体 CN" panose="02020400000000000000" pitchFamily="18" charset="-122"/>
          <a:ea typeface="思源宋体 CN" panose="02020400000000000000" pitchFamily="18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宋体 CN" panose="02020400000000000000" pitchFamily="18" charset="-122"/>
          <a:ea typeface="思源宋体 CN" panose="02020400000000000000" pitchFamily="18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宋体 CN" panose="02020400000000000000" pitchFamily="18" charset="-122"/>
          <a:ea typeface="思源宋体 CN" panose="02020400000000000000" pitchFamily="18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宋体 CN" panose="02020400000000000000" pitchFamily="18" charset="-122"/>
          <a:ea typeface="思源宋体 CN" panose="02020400000000000000" pitchFamily="18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FDA2316-9F80-3DA3-BD3A-EA282FDDD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F74B866-4D7D-3516-D808-1BCABEAB99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D83F93-B4CE-752C-AE4F-1E745119A7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defRPr>
            </a:lvl1pPr>
          </a:lstStyle>
          <a:p>
            <a:fld id="{0C2FF361-296B-4636-9F0B-DCB4308C521A}" type="datetimeFigureOut">
              <a:rPr lang="zh-CN" altLang="en-US" smtClean="0"/>
              <a:pPr/>
              <a:t>2026/3/4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CE5ACF-F00B-3F06-5570-82A332E1C1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097111-9A97-76DA-D87C-4E1D228A7D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defRPr>
            </a:lvl1pPr>
          </a:lstStyle>
          <a:p>
            <a:fld id="{6809AE6F-D4C7-4ED6-B63B-BC9AFCDD672D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1418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宋体 CN" panose="02020400000000000000" pitchFamily="18" charset="-122"/>
          <a:ea typeface="思源宋体 CN" panose="02020400000000000000" pitchFamily="18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宋体 CN" panose="02020400000000000000" pitchFamily="18" charset="-122"/>
          <a:ea typeface="思源宋体 CN" panose="02020400000000000000" pitchFamily="18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宋体 CN" panose="02020400000000000000" pitchFamily="18" charset="-122"/>
          <a:ea typeface="思源宋体 CN" panose="02020400000000000000" pitchFamily="18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宋体 CN" panose="02020400000000000000" pitchFamily="18" charset="-122"/>
          <a:ea typeface="思源宋体 CN" panose="02020400000000000000" pitchFamily="18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宋体 CN" panose="02020400000000000000" pitchFamily="18" charset="-122"/>
          <a:ea typeface="思源宋体 CN" panose="02020400000000000000" pitchFamily="18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宋体 CN" panose="02020400000000000000" pitchFamily="18" charset="-122"/>
          <a:ea typeface="思源宋体 CN" panose="02020400000000000000" pitchFamily="18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8594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8.sv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8.sv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8.sv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8.sv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38" descr="建筑与房屋的城市空拍图&#10;&#10;AI 生成的内容可能不正确。">
            <a:extLst>
              <a:ext uri="{FF2B5EF4-FFF2-40B4-BE49-F238E27FC236}">
                <a16:creationId xmlns:a16="http://schemas.microsoft.com/office/drawing/2014/main" id="{A3D888ED-FEB4-A378-2804-521FB93653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1E4A8B68-EAA2-BC91-0D87-C8F08DFCD597}"/>
              </a:ext>
            </a:extLst>
          </p:cNvPr>
          <p:cNvSpPr txBox="1"/>
          <p:nvPr/>
        </p:nvSpPr>
        <p:spPr>
          <a:xfrm>
            <a:off x="820848" y="2649810"/>
            <a:ext cx="654002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4800"/>
              </a:lnSpc>
              <a:defRPr/>
            </a:pPr>
            <a:r>
              <a:rPr lang="en-US" altLang="zh-CN" sz="4000" dirty="0">
                <a:solidFill>
                  <a:srgbClr val="0070C0"/>
                </a:solidFill>
                <a:latin typeface="Times New Roman" panose="02020603050405020304" pitchFamily="18" charset="0"/>
                <a:ea typeface="优设标题黑" panose="00000500000000000000" pitchFamily="2" charset="-122"/>
                <a:cs typeface="Times New Roman" panose="02020603050405020304" pitchFamily="18" charset="0"/>
              </a:rPr>
              <a:t>Skyline Capital Partners</a:t>
            </a:r>
          </a:p>
          <a:p>
            <a:pPr lvl="0">
              <a:lnSpc>
                <a:spcPts val="4800"/>
              </a:lnSpc>
              <a:defRPr/>
            </a:pPr>
            <a:r>
              <a:rPr lang="en-US" altLang="zh-CN" sz="4000" dirty="0">
                <a:solidFill>
                  <a:srgbClr val="0070C0"/>
                </a:solidFill>
                <a:latin typeface="Times New Roman" panose="02020603050405020304" pitchFamily="18" charset="0"/>
                <a:ea typeface="优设标题黑" panose="00000500000000000000" pitchFamily="2" charset="-122"/>
                <a:cs typeface="Times New Roman" panose="02020603050405020304" pitchFamily="18" charset="0"/>
              </a:rPr>
              <a:t>Strategic Investment Analysis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 panose="02020603050405020304" pitchFamily="18" charset="0"/>
              <a:ea typeface="优设标题黑" panose="00000500000000000000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4DB1CDA-C30E-5DC4-3948-4B09EAAC11B5}"/>
              </a:ext>
            </a:extLst>
          </p:cNvPr>
          <p:cNvGrpSpPr/>
          <p:nvPr/>
        </p:nvGrpSpPr>
        <p:grpSpPr>
          <a:xfrm>
            <a:off x="820848" y="1264218"/>
            <a:ext cx="6387762" cy="1689486"/>
            <a:chOff x="820849" y="1264218"/>
            <a:chExt cx="6387761" cy="1689486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3359AF4B-F1D9-FDCD-4353-A49988347D66}"/>
                </a:ext>
              </a:extLst>
            </p:cNvPr>
            <p:cNvGrpSpPr/>
            <p:nvPr/>
          </p:nvGrpSpPr>
          <p:grpSpPr>
            <a:xfrm>
              <a:off x="820849" y="1264218"/>
              <a:ext cx="2143405" cy="1689486"/>
              <a:chOff x="820849" y="1051205"/>
              <a:chExt cx="2143405" cy="1689486"/>
            </a:xfrm>
          </p:grpSpPr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5EF0F03C-8364-3A21-4C07-885F6023E23C}"/>
                  </a:ext>
                </a:extLst>
              </p:cNvPr>
              <p:cNvSpPr txBox="1"/>
              <p:nvPr/>
            </p:nvSpPr>
            <p:spPr>
              <a:xfrm>
                <a:off x="820849" y="1579735"/>
                <a:ext cx="202154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OPPOSans H" panose="00020600040101010101" pitchFamily="18" charset="-122"/>
                    <a:cs typeface="Times New Roman" panose="02020603050405020304" pitchFamily="18" charset="0"/>
                  </a:rPr>
                  <a:t>202</a:t>
                </a:r>
                <a:r>
                  <a:rPr lang="en-US" altLang="zh-CN" sz="4800" b="1" kern="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OPPOSans H" panose="00020600040101010101" pitchFamily="18" charset="-122"/>
                    <a:cs typeface="Times New Roman" panose="02020603050405020304" pitchFamily="18" charset="0"/>
                  </a:rPr>
                  <a:t>6</a:t>
                </a:r>
                <a:endParaRPr kumimoji="0" lang="zh-CN" altLang="en-US" sz="4800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OPPOSans H" panose="00020600040101010101" pitchFamily="18" charset="-12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4" name="组合 23">
                <a:extLst>
                  <a:ext uri="{FF2B5EF4-FFF2-40B4-BE49-F238E27FC236}">
                    <a16:creationId xmlns:a16="http://schemas.microsoft.com/office/drawing/2014/main" id="{384AD5BD-6453-8DDB-53D8-246721FB98CF}"/>
                  </a:ext>
                </a:extLst>
              </p:cNvPr>
              <p:cNvGrpSpPr/>
              <p:nvPr/>
            </p:nvGrpSpPr>
            <p:grpSpPr>
              <a:xfrm>
                <a:off x="1717810" y="1051205"/>
                <a:ext cx="1246444" cy="1689486"/>
                <a:chOff x="2645128" y="1012632"/>
                <a:chExt cx="1542619" cy="2090932"/>
              </a:xfrm>
            </p:grpSpPr>
            <p:sp>
              <p:nvSpPr>
                <p:cNvPr id="26" name="缺角矩形 25">
                  <a:extLst>
                    <a:ext uri="{FF2B5EF4-FFF2-40B4-BE49-F238E27FC236}">
                      <a16:creationId xmlns:a16="http://schemas.microsoft.com/office/drawing/2014/main" id="{4FC3079F-C2DE-542A-A673-4C924BEF1E09}"/>
                    </a:ext>
                  </a:extLst>
                </p:cNvPr>
                <p:cNvSpPr/>
                <p:nvPr/>
              </p:nvSpPr>
              <p:spPr>
                <a:xfrm>
                  <a:off x="3607588" y="1219480"/>
                  <a:ext cx="573405" cy="573404"/>
                </a:xfrm>
                <a:prstGeom prst="plaque">
                  <a:avLst>
                    <a:gd name="adj" fmla="val 50000"/>
                  </a:avLst>
                </a:prstGeom>
                <a:solidFill>
                  <a:schemeClr val="accent1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思源宋体 CN" panose="02020400000000000000" pitchFamily="18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椭圆 26">
                  <a:extLst>
                    <a:ext uri="{FF2B5EF4-FFF2-40B4-BE49-F238E27FC236}">
                      <a16:creationId xmlns:a16="http://schemas.microsoft.com/office/drawing/2014/main" id="{B8C978BB-8BB3-58FE-FCCC-6CC96AA00344}"/>
                    </a:ext>
                  </a:extLst>
                </p:cNvPr>
                <p:cNvSpPr/>
                <p:nvPr/>
              </p:nvSpPr>
              <p:spPr>
                <a:xfrm>
                  <a:off x="2645128" y="1012632"/>
                  <a:ext cx="1542619" cy="2090932"/>
                </a:xfrm>
                <a:prstGeom prst="ellipse">
                  <a:avLst/>
                </a:prstGeom>
                <a:noFill/>
                <a:ln w="12700" cap="flat" cmpd="sng" algn="ctr">
                  <a:gradFill>
                    <a:gsLst>
                      <a:gs pos="39000">
                        <a:schemeClr val="accent1"/>
                      </a:gs>
                      <a:gs pos="75000">
                        <a:sysClr val="window" lastClr="FFFFFF">
                          <a:alpha val="0"/>
                        </a:sysClr>
                      </a:gs>
                    </a:gsLst>
                    <a:lin ang="16200000" scaled="0"/>
                  </a:gradFill>
                  <a:prstDash val="solid"/>
                  <a:miter lim="800000"/>
                </a:ln>
                <a:effectLst/>
                <a:scene3d>
                  <a:camera prst="perspectiveRelaxed" fov="4800000">
                    <a:rot lat="17400000" lon="300000" rev="1500000"/>
                  </a:camera>
                  <a:lightRig rig="threePt" dir="t"/>
                </a:scene3d>
                <a:sp3d prstMaterial="softEdge"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思源宋体 CN" panose="02020400000000000000" pitchFamily="18" charset="-122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292467F1-3ECC-E375-EA9E-AFDDA32C5278}"/>
                </a:ext>
              </a:extLst>
            </p:cNvPr>
            <p:cNvSpPr txBox="1"/>
            <p:nvPr/>
          </p:nvSpPr>
          <p:spPr>
            <a:xfrm>
              <a:off x="3069345" y="2118350"/>
              <a:ext cx="413926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spc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Skyline Capital Partners</a:t>
              </a:r>
            </a:p>
          </p:txBody>
        </p:sp>
      </p:grpSp>
      <p:sp>
        <p:nvSpPr>
          <p:cNvPr id="32" name="TextBox 36">
            <a:extLst>
              <a:ext uri="{FF2B5EF4-FFF2-40B4-BE49-F238E27FC236}">
                <a16:creationId xmlns:a16="http://schemas.microsoft.com/office/drawing/2014/main" id="{6FD5A311-EEBA-0DF4-6E03-CAE2C6E4414A}"/>
              </a:ext>
            </a:extLst>
          </p:cNvPr>
          <p:cNvSpPr txBox="1"/>
          <p:nvPr/>
        </p:nvSpPr>
        <p:spPr>
          <a:xfrm>
            <a:off x="820848" y="4038728"/>
            <a:ext cx="6200495" cy="395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dirty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ea typeface="思源宋体 CN" panose="02020400000000000000" pitchFamily="18" charset="-122"/>
                <a:cs typeface="Times New Roman" panose="02020603050405020304" pitchFamily="18" charset="0"/>
              </a:rPr>
              <a:t>Market Selection &amp; Unit Mix Optimization for Class B Assets</a:t>
            </a: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8CDA81B8-27E5-A1D3-D281-B098A3B476E5}"/>
              </a:ext>
            </a:extLst>
          </p:cNvPr>
          <p:cNvGrpSpPr/>
          <p:nvPr/>
        </p:nvGrpSpPr>
        <p:grpSpPr>
          <a:xfrm>
            <a:off x="1039492" y="4645893"/>
            <a:ext cx="4591940" cy="621439"/>
            <a:chOff x="1102204" y="4928513"/>
            <a:chExt cx="4591940" cy="621439"/>
          </a:xfrm>
        </p:grpSpPr>
        <p:sp>
          <p:nvSpPr>
            <p:cNvPr id="35" name="椭圆 39">
              <a:extLst>
                <a:ext uri="{FF2B5EF4-FFF2-40B4-BE49-F238E27FC236}">
                  <a16:creationId xmlns:a16="http://schemas.microsoft.com/office/drawing/2014/main" id="{1F760579-7A4A-DEE8-EACD-67E6A62F018C}"/>
                </a:ext>
              </a:extLst>
            </p:cNvPr>
            <p:cNvSpPr/>
            <p:nvPr/>
          </p:nvSpPr>
          <p:spPr>
            <a:xfrm>
              <a:off x="1102204" y="5041671"/>
              <a:ext cx="241995" cy="271444"/>
            </a:xfrm>
            <a:custGeom>
              <a:avLst/>
              <a:gdLst>
                <a:gd name="connsiteX0" fmla="*/ 199932 w 300038"/>
                <a:gd name="connsiteY0" fmla="*/ 273051 h 336551"/>
                <a:gd name="connsiteX1" fmla="*/ 192088 w 300038"/>
                <a:gd name="connsiteY1" fmla="*/ 280989 h 336551"/>
                <a:gd name="connsiteX2" fmla="*/ 192088 w 300038"/>
                <a:gd name="connsiteY2" fmla="*/ 306124 h 336551"/>
                <a:gd name="connsiteX3" fmla="*/ 199932 w 300038"/>
                <a:gd name="connsiteY3" fmla="*/ 312739 h 336551"/>
                <a:gd name="connsiteX4" fmla="*/ 250919 w 300038"/>
                <a:gd name="connsiteY4" fmla="*/ 312739 h 336551"/>
                <a:gd name="connsiteX5" fmla="*/ 258763 w 300038"/>
                <a:gd name="connsiteY5" fmla="*/ 306124 h 336551"/>
                <a:gd name="connsiteX6" fmla="*/ 258763 w 300038"/>
                <a:gd name="connsiteY6" fmla="*/ 280989 h 336551"/>
                <a:gd name="connsiteX7" fmla="*/ 250919 w 300038"/>
                <a:gd name="connsiteY7" fmla="*/ 273051 h 336551"/>
                <a:gd name="connsiteX8" fmla="*/ 199932 w 300038"/>
                <a:gd name="connsiteY8" fmla="*/ 273051 h 336551"/>
                <a:gd name="connsiteX9" fmla="*/ 101328 w 300038"/>
                <a:gd name="connsiteY9" fmla="*/ 196851 h 336551"/>
                <a:gd name="connsiteX10" fmla="*/ 107908 w 300038"/>
                <a:gd name="connsiteY10" fmla="*/ 196851 h 336551"/>
                <a:gd name="connsiteX11" fmla="*/ 111856 w 300038"/>
                <a:gd name="connsiteY11" fmla="*/ 202123 h 336551"/>
                <a:gd name="connsiteX12" fmla="*/ 128964 w 300038"/>
                <a:gd name="connsiteY12" fmla="*/ 248250 h 336551"/>
                <a:gd name="connsiteX13" fmla="*/ 131595 w 300038"/>
                <a:gd name="connsiteY13" fmla="*/ 239025 h 336551"/>
                <a:gd name="connsiteX14" fmla="*/ 126332 w 300038"/>
                <a:gd name="connsiteY14" fmla="*/ 225845 h 336551"/>
                <a:gd name="connsiteX15" fmla="*/ 127648 w 300038"/>
                <a:gd name="connsiteY15" fmla="*/ 217938 h 336551"/>
                <a:gd name="connsiteX16" fmla="*/ 132911 w 300038"/>
                <a:gd name="connsiteY16" fmla="*/ 215302 h 336551"/>
                <a:gd name="connsiteX17" fmla="*/ 167126 w 300038"/>
                <a:gd name="connsiteY17" fmla="*/ 215302 h 336551"/>
                <a:gd name="connsiteX18" fmla="*/ 172390 w 300038"/>
                <a:gd name="connsiteY18" fmla="*/ 217938 h 336551"/>
                <a:gd name="connsiteX19" fmla="*/ 173706 w 300038"/>
                <a:gd name="connsiteY19" fmla="*/ 225845 h 336551"/>
                <a:gd name="connsiteX20" fmla="*/ 168442 w 300038"/>
                <a:gd name="connsiteY20" fmla="*/ 239025 h 336551"/>
                <a:gd name="connsiteX21" fmla="*/ 171074 w 300038"/>
                <a:gd name="connsiteY21" fmla="*/ 248250 h 336551"/>
                <a:gd name="connsiteX22" fmla="*/ 188182 w 300038"/>
                <a:gd name="connsiteY22" fmla="*/ 202123 h 336551"/>
                <a:gd name="connsiteX23" fmla="*/ 192130 w 300038"/>
                <a:gd name="connsiteY23" fmla="*/ 196851 h 336551"/>
                <a:gd name="connsiteX24" fmla="*/ 198710 w 300038"/>
                <a:gd name="connsiteY24" fmla="*/ 196851 h 336551"/>
                <a:gd name="connsiteX25" fmla="*/ 265823 w 300038"/>
                <a:gd name="connsiteY25" fmla="*/ 224527 h 336551"/>
                <a:gd name="connsiteX26" fmla="*/ 300038 w 300038"/>
                <a:gd name="connsiteY26" fmla="*/ 274609 h 336551"/>
                <a:gd name="connsiteX27" fmla="*/ 300038 w 300038"/>
                <a:gd name="connsiteY27" fmla="*/ 328643 h 336551"/>
                <a:gd name="connsiteX28" fmla="*/ 292142 w 300038"/>
                <a:gd name="connsiteY28" fmla="*/ 336551 h 336551"/>
                <a:gd name="connsiteX29" fmla="*/ 7896 w 300038"/>
                <a:gd name="connsiteY29" fmla="*/ 336551 h 336551"/>
                <a:gd name="connsiteX30" fmla="*/ 0 w 300038"/>
                <a:gd name="connsiteY30" fmla="*/ 328643 h 336551"/>
                <a:gd name="connsiteX31" fmla="*/ 0 w 300038"/>
                <a:gd name="connsiteY31" fmla="*/ 274609 h 336551"/>
                <a:gd name="connsiteX32" fmla="*/ 34215 w 300038"/>
                <a:gd name="connsiteY32" fmla="*/ 224527 h 336551"/>
                <a:gd name="connsiteX33" fmla="*/ 101328 w 300038"/>
                <a:gd name="connsiteY33" fmla="*/ 196851 h 336551"/>
                <a:gd name="connsiteX34" fmla="*/ 155328 w 300038"/>
                <a:gd name="connsiteY34" fmla="*/ 0 h 336551"/>
                <a:gd name="connsiteX35" fmla="*/ 201775 w 300038"/>
                <a:gd name="connsiteY35" fmla="*/ 15854 h 336551"/>
                <a:gd name="connsiteX36" fmla="*/ 223008 w 300038"/>
                <a:gd name="connsiteY36" fmla="*/ 79268 h 336551"/>
                <a:gd name="connsiteX37" fmla="*/ 224335 w 300038"/>
                <a:gd name="connsiteY37" fmla="*/ 93801 h 336551"/>
                <a:gd name="connsiteX38" fmla="*/ 229643 w 300038"/>
                <a:gd name="connsiteY38" fmla="*/ 100407 h 336551"/>
                <a:gd name="connsiteX39" fmla="*/ 232297 w 300038"/>
                <a:gd name="connsiteY39" fmla="*/ 125508 h 336551"/>
                <a:gd name="connsiteX40" fmla="*/ 208410 w 300038"/>
                <a:gd name="connsiteY40" fmla="*/ 151931 h 336551"/>
                <a:gd name="connsiteX41" fmla="*/ 185850 w 300038"/>
                <a:gd name="connsiteY41" fmla="*/ 183639 h 336551"/>
                <a:gd name="connsiteX42" fmla="*/ 172579 w 300038"/>
                <a:gd name="connsiteY42" fmla="*/ 192887 h 336551"/>
                <a:gd name="connsiteX43" fmla="*/ 150019 w 300038"/>
                <a:gd name="connsiteY43" fmla="*/ 196850 h 336551"/>
                <a:gd name="connsiteX44" fmla="*/ 127459 w 300038"/>
                <a:gd name="connsiteY44" fmla="*/ 192887 h 336551"/>
                <a:gd name="connsiteX45" fmla="*/ 114189 w 300038"/>
                <a:gd name="connsiteY45" fmla="*/ 183639 h 336551"/>
                <a:gd name="connsiteX46" fmla="*/ 91629 w 300038"/>
                <a:gd name="connsiteY46" fmla="*/ 151931 h 336551"/>
                <a:gd name="connsiteX47" fmla="*/ 67742 w 300038"/>
                <a:gd name="connsiteY47" fmla="*/ 125508 h 336551"/>
                <a:gd name="connsiteX48" fmla="*/ 70396 w 300038"/>
                <a:gd name="connsiteY48" fmla="*/ 100407 h 336551"/>
                <a:gd name="connsiteX49" fmla="*/ 75704 w 300038"/>
                <a:gd name="connsiteY49" fmla="*/ 93801 h 336551"/>
                <a:gd name="connsiteX50" fmla="*/ 77031 w 300038"/>
                <a:gd name="connsiteY50" fmla="*/ 85874 h 336551"/>
                <a:gd name="connsiteX51" fmla="*/ 74377 w 300038"/>
                <a:gd name="connsiteY51" fmla="*/ 50203 h 336551"/>
                <a:gd name="connsiteX52" fmla="*/ 103572 w 300038"/>
                <a:gd name="connsiteY52" fmla="*/ 27744 h 336551"/>
                <a:gd name="connsiteX53" fmla="*/ 119497 w 300038"/>
                <a:gd name="connsiteY53" fmla="*/ 10569 h 336551"/>
                <a:gd name="connsiteX54" fmla="*/ 155328 w 300038"/>
                <a:gd name="connsiteY54" fmla="*/ 0 h 336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300038" h="336551">
                  <a:moveTo>
                    <a:pt x="199932" y="273051"/>
                  </a:moveTo>
                  <a:cubicBezTo>
                    <a:pt x="194703" y="273051"/>
                    <a:pt x="192088" y="277020"/>
                    <a:pt x="192088" y="280989"/>
                  </a:cubicBezTo>
                  <a:cubicBezTo>
                    <a:pt x="192088" y="306124"/>
                    <a:pt x="192088" y="306124"/>
                    <a:pt x="192088" y="306124"/>
                  </a:cubicBezTo>
                  <a:cubicBezTo>
                    <a:pt x="192088" y="310093"/>
                    <a:pt x="194703" y="312739"/>
                    <a:pt x="199932" y="312739"/>
                  </a:cubicBezTo>
                  <a:cubicBezTo>
                    <a:pt x="250919" y="312739"/>
                    <a:pt x="250919" y="312739"/>
                    <a:pt x="250919" y="312739"/>
                  </a:cubicBezTo>
                  <a:cubicBezTo>
                    <a:pt x="254841" y="312739"/>
                    <a:pt x="258763" y="310093"/>
                    <a:pt x="258763" y="306124"/>
                  </a:cubicBezTo>
                  <a:lnTo>
                    <a:pt x="258763" y="280989"/>
                  </a:lnTo>
                  <a:cubicBezTo>
                    <a:pt x="258763" y="277020"/>
                    <a:pt x="254841" y="273051"/>
                    <a:pt x="250919" y="273051"/>
                  </a:cubicBezTo>
                  <a:cubicBezTo>
                    <a:pt x="199932" y="273051"/>
                    <a:pt x="199932" y="273051"/>
                    <a:pt x="199932" y="273051"/>
                  </a:cubicBezTo>
                  <a:close/>
                  <a:moveTo>
                    <a:pt x="101328" y="196851"/>
                  </a:moveTo>
                  <a:cubicBezTo>
                    <a:pt x="103960" y="196851"/>
                    <a:pt x="105276" y="196851"/>
                    <a:pt x="107908" y="196851"/>
                  </a:cubicBezTo>
                  <a:cubicBezTo>
                    <a:pt x="109224" y="198169"/>
                    <a:pt x="110540" y="199487"/>
                    <a:pt x="111856" y="202123"/>
                  </a:cubicBezTo>
                  <a:cubicBezTo>
                    <a:pt x="128964" y="248250"/>
                    <a:pt x="128964" y="248250"/>
                    <a:pt x="128964" y="248250"/>
                  </a:cubicBezTo>
                  <a:cubicBezTo>
                    <a:pt x="131595" y="239025"/>
                    <a:pt x="131595" y="239025"/>
                    <a:pt x="131595" y="239025"/>
                  </a:cubicBezTo>
                  <a:cubicBezTo>
                    <a:pt x="126332" y="225845"/>
                    <a:pt x="126332" y="225845"/>
                    <a:pt x="126332" y="225845"/>
                  </a:cubicBezTo>
                  <a:cubicBezTo>
                    <a:pt x="125016" y="223209"/>
                    <a:pt x="126332" y="220574"/>
                    <a:pt x="127648" y="217938"/>
                  </a:cubicBezTo>
                  <a:cubicBezTo>
                    <a:pt x="128964" y="216620"/>
                    <a:pt x="131595" y="215302"/>
                    <a:pt x="132911" y="215302"/>
                  </a:cubicBezTo>
                  <a:cubicBezTo>
                    <a:pt x="167126" y="215302"/>
                    <a:pt x="167126" y="215302"/>
                    <a:pt x="167126" y="215302"/>
                  </a:cubicBezTo>
                  <a:cubicBezTo>
                    <a:pt x="168442" y="215302"/>
                    <a:pt x="171074" y="216620"/>
                    <a:pt x="172390" y="217938"/>
                  </a:cubicBezTo>
                  <a:cubicBezTo>
                    <a:pt x="173706" y="220574"/>
                    <a:pt x="175022" y="223209"/>
                    <a:pt x="173706" y="225845"/>
                  </a:cubicBezTo>
                  <a:cubicBezTo>
                    <a:pt x="168442" y="239025"/>
                    <a:pt x="168442" y="239025"/>
                    <a:pt x="168442" y="239025"/>
                  </a:cubicBezTo>
                  <a:cubicBezTo>
                    <a:pt x="171074" y="248250"/>
                    <a:pt x="171074" y="248250"/>
                    <a:pt x="171074" y="248250"/>
                  </a:cubicBezTo>
                  <a:cubicBezTo>
                    <a:pt x="188182" y="202123"/>
                    <a:pt x="188182" y="202123"/>
                    <a:pt x="188182" y="202123"/>
                  </a:cubicBezTo>
                  <a:cubicBezTo>
                    <a:pt x="189498" y="199487"/>
                    <a:pt x="190814" y="198169"/>
                    <a:pt x="192130" y="196851"/>
                  </a:cubicBezTo>
                  <a:cubicBezTo>
                    <a:pt x="194762" y="196851"/>
                    <a:pt x="196078" y="196851"/>
                    <a:pt x="198710" y="196851"/>
                  </a:cubicBezTo>
                  <a:cubicBezTo>
                    <a:pt x="265823" y="224527"/>
                    <a:pt x="265823" y="224527"/>
                    <a:pt x="265823" y="224527"/>
                  </a:cubicBezTo>
                  <a:cubicBezTo>
                    <a:pt x="286879" y="232435"/>
                    <a:pt x="300038" y="252204"/>
                    <a:pt x="300038" y="274609"/>
                  </a:cubicBezTo>
                  <a:cubicBezTo>
                    <a:pt x="300038" y="328643"/>
                    <a:pt x="300038" y="328643"/>
                    <a:pt x="300038" y="328643"/>
                  </a:cubicBezTo>
                  <a:cubicBezTo>
                    <a:pt x="300038" y="332597"/>
                    <a:pt x="296090" y="336551"/>
                    <a:pt x="292142" y="336551"/>
                  </a:cubicBezTo>
                  <a:cubicBezTo>
                    <a:pt x="7896" y="336551"/>
                    <a:pt x="7896" y="336551"/>
                    <a:pt x="7896" y="336551"/>
                  </a:cubicBezTo>
                  <a:cubicBezTo>
                    <a:pt x="3948" y="336551"/>
                    <a:pt x="0" y="332597"/>
                    <a:pt x="0" y="328643"/>
                  </a:cubicBezTo>
                  <a:cubicBezTo>
                    <a:pt x="0" y="274609"/>
                    <a:pt x="0" y="274609"/>
                    <a:pt x="0" y="274609"/>
                  </a:cubicBezTo>
                  <a:cubicBezTo>
                    <a:pt x="0" y="252204"/>
                    <a:pt x="13159" y="232435"/>
                    <a:pt x="34215" y="224527"/>
                  </a:cubicBezTo>
                  <a:cubicBezTo>
                    <a:pt x="101328" y="196851"/>
                    <a:pt x="101328" y="196851"/>
                    <a:pt x="101328" y="196851"/>
                  </a:cubicBezTo>
                  <a:close/>
                  <a:moveTo>
                    <a:pt x="155328" y="0"/>
                  </a:moveTo>
                  <a:cubicBezTo>
                    <a:pt x="171252" y="0"/>
                    <a:pt x="187177" y="5285"/>
                    <a:pt x="201775" y="15854"/>
                  </a:cubicBezTo>
                  <a:cubicBezTo>
                    <a:pt x="225662" y="34350"/>
                    <a:pt x="223008" y="72663"/>
                    <a:pt x="223008" y="79268"/>
                  </a:cubicBezTo>
                  <a:cubicBezTo>
                    <a:pt x="223008" y="84553"/>
                    <a:pt x="224335" y="89838"/>
                    <a:pt x="224335" y="93801"/>
                  </a:cubicBezTo>
                  <a:cubicBezTo>
                    <a:pt x="225662" y="95122"/>
                    <a:pt x="228316" y="96443"/>
                    <a:pt x="229643" y="100407"/>
                  </a:cubicBezTo>
                  <a:cubicBezTo>
                    <a:pt x="234951" y="107012"/>
                    <a:pt x="234951" y="114939"/>
                    <a:pt x="232297" y="125508"/>
                  </a:cubicBezTo>
                  <a:cubicBezTo>
                    <a:pt x="226989" y="146647"/>
                    <a:pt x="215045" y="150610"/>
                    <a:pt x="208410" y="151931"/>
                  </a:cubicBezTo>
                  <a:cubicBezTo>
                    <a:pt x="204429" y="159858"/>
                    <a:pt x="195139" y="175712"/>
                    <a:pt x="185850" y="183639"/>
                  </a:cubicBezTo>
                  <a:cubicBezTo>
                    <a:pt x="183196" y="187602"/>
                    <a:pt x="177888" y="190244"/>
                    <a:pt x="172579" y="192887"/>
                  </a:cubicBezTo>
                  <a:cubicBezTo>
                    <a:pt x="164617" y="195529"/>
                    <a:pt x="157982" y="196850"/>
                    <a:pt x="150019" y="196850"/>
                  </a:cubicBezTo>
                  <a:cubicBezTo>
                    <a:pt x="142057" y="196850"/>
                    <a:pt x="135422" y="195529"/>
                    <a:pt x="127459" y="192887"/>
                  </a:cubicBezTo>
                  <a:cubicBezTo>
                    <a:pt x="122151" y="190244"/>
                    <a:pt x="116843" y="187602"/>
                    <a:pt x="114189" y="183639"/>
                  </a:cubicBezTo>
                  <a:cubicBezTo>
                    <a:pt x="104900" y="175712"/>
                    <a:pt x="95610" y="159858"/>
                    <a:pt x="91629" y="151931"/>
                  </a:cubicBezTo>
                  <a:cubicBezTo>
                    <a:pt x="84994" y="150610"/>
                    <a:pt x="73050" y="146647"/>
                    <a:pt x="67742" y="125508"/>
                  </a:cubicBezTo>
                  <a:cubicBezTo>
                    <a:pt x="65088" y="114939"/>
                    <a:pt x="65088" y="107012"/>
                    <a:pt x="70396" y="100407"/>
                  </a:cubicBezTo>
                  <a:cubicBezTo>
                    <a:pt x="71723" y="96443"/>
                    <a:pt x="74377" y="95122"/>
                    <a:pt x="75704" y="93801"/>
                  </a:cubicBezTo>
                  <a:cubicBezTo>
                    <a:pt x="75704" y="91159"/>
                    <a:pt x="75704" y="88516"/>
                    <a:pt x="77031" y="85874"/>
                  </a:cubicBezTo>
                  <a:cubicBezTo>
                    <a:pt x="73050" y="80590"/>
                    <a:pt x="67742" y="68699"/>
                    <a:pt x="74377" y="50203"/>
                  </a:cubicBezTo>
                  <a:cubicBezTo>
                    <a:pt x="81013" y="30386"/>
                    <a:pt x="95610" y="27744"/>
                    <a:pt x="103572" y="27744"/>
                  </a:cubicBezTo>
                  <a:cubicBezTo>
                    <a:pt x="106227" y="22459"/>
                    <a:pt x="111535" y="17175"/>
                    <a:pt x="119497" y="10569"/>
                  </a:cubicBezTo>
                  <a:cubicBezTo>
                    <a:pt x="128786" y="3963"/>
                    <a:pt x="142057" y="0"/>
                    <a:pt x="155328" y="0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思源宋体 CN" panose="02020400000000000000" pitchFamily="18" charset="-122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6015FF00-5862-418F-E606-90D611A6B42E}"/>
                </a:ext>
              </a:extLst>
            </p:cNvPr>
            <p:cNvSpPr/>
            <p:nvPr/>
          </p:nvSpPr>
          <p:spPr>
            <a:xfrm>
              <a:off x="1223202" y="4928513"/>
              <a:ext cx="2781870" cy="497761"/>
            </a:xfrm>
            <a:prstGeom prst="roundRect">
              <a:avLst>
                <a:gd name="adj" fmla="val 50000"/>
              </a:avLst>
            </a:prstGeom>
            <a:gradFill>
              <a:gsLst>
                <a:gs pos="19000">
                  <a:srgbClr val="0070C0">
                    <a:alpha val="0"/>
                  </a:srgbClr>
                </a:gs>
                <a:gs pos="100000">
                  <a:srgbClr val="0070C0">
                    <a:alpha val="10000"/>
                  </a:srgbClr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思源宋体 CN" panose="02020400000000000000" pitchFamily="18" charset="-122"/>
                <a:cs typeface="Times New Roman" panose="02020603050405020304" pitchFamily="18" charset="0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815F453F-78F9-0882-8551-A1623B2E2D58}"/>
                </a:ext>
              </a:extLst>
            </p:cNvPr>
            <p:cNvSpPr txBox="1"/>
            <p:nvPr/>
          </p:nvSpPr>
          <p:spPr>
            <a:xfrm>
              <a:off x="1102204" y="4970306"/>
              <a:ext cx="4591940" cy="579646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>
                <a:lnSpc>
                  <a:spcPts val="1920"/>
                </a:lnSpc>
                <a:defRPr/>
              </a:pPr>
              <a:r>
                <a:rPr lang="en-US" altLang="zh-CN" sz="1600" b="1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  <a:sym typeface="+mn-lt"/>
                </a:rPr>
                <a:t>Karina Hsu | Investment Analyst </a:t>
              </a:r>
            </a:p>
            <a:p>
              <a:pPr lvl="0">
                <a:lnSpc>
                  <a:spcPts val="1920"/>
                </a:lnSpc>
                <a:defRPr/>
              </a:pPr>
              <a:r>
                <a:rPr lang="en-US" altLang="zh-CN" sz="1600" b="1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  <a:sym typeface="+mn-lt"/>
                </a:rPr>
                <a:t>March 5</a:t>
              </a:r>
              <a:r>
                <a:rPr lang="en-US" altLang="zh-CN" sz="1600" b="1" kern="0" baseline="30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  <a:sym typeface="+mn-lt"/>
                </a:rPr>
                <a:t>th</a:t>
              </a:r>
              <a:r>
                <a:rPr lang="en-US" altLang="zh-CN" sz="1600" b="1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  <a:sym typeface="+mn-lt"/>
                </a:rPr>
                <a:t>, 2026</a:t>
              </a:r>
              <a:endPara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思源宋体 CN" panose="02020400000000000000" pitchFamily="18" charset="-122"/>
                <a:cs typeface="Times New Roman" panose="02020603050405020304" pitchFamily="18" charset="0"/>
                <a:sym typeface="+mn-lt"/>
              </a:endParaRPr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0CE8B86-46C2-E16E-AD5F-2CC0B2ACFF0C}"/>
              </a:ext>
            </a:extLst>
          </p:cNvPr>
          <p:cNvCxnSpPr>
            <a:cxnSpLocks/>
          </p:cNvCxnSpPr>
          <p:nvPr/>
        </p:nvCxnSpPr>
        <p:spPr>
          <a:xfrm>
            <a:off x="916541" y="4645893"/>
            <a:ext cx="0" cy="663233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915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25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750"/>
                            </p:stCondLst>
                            <p:childTnLst>
                              <p:par>
                                <p:cTn id="20" presetID="2" presetClass="entr" presetSubtype="8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河边的城市&#10;&#10;描述已自动生成">
            <a:extLst>
              <a:ext uri="{FF2B5EF4-FFF2-40B4-BE49-F238E27FC236}">
                <a16:creationId xmlns:a16="http://schemas.microsoft.com/office/drawing/2014/main" id="{525C903A-2FB7-AB5C-9740-65AFEDE8E7C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42268" y="0"/>
            <a:ext cx="8449733" cy="2600324"/>
          </a:xfrm>
          <a:prstGeom prst="rect">
            <a:avLst/>
          </a:prstGeom>
        </p:spPr>
      </p:pic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9F714647-1A01-9BFE-DFBC-32000E7D8C0D}"/>
              </a:ext>
            </a:extLst>
          </p:cNvPr>
          <p:cNvSpPr/>
          <p:nvPr/>
        </p:nvSpPr>
        <p:spPr>
          <a:xfrm>
            <a:off x="-1" y="0"/>
            <a:ext cx="5465237" cy="2600324"/>
          </a:xfrm>
          <a:custGeom>
            <a:avLst/>
            <a:gdLst>
              <a:gd name="connsiteX0" fmla="*/ 0 w 5465237"/>
              <a:gd name="connsiteY0" fmla="*/ 0 h 2600324"/>
              <a:gd name="connsiteX1" fmla="*/ 3958008 w 5465237"/>
              <a:gd name="connsiteY1" fmla="*/ 0 h 2600324"/>
              <a:gd name="connsiteX2" fmla="*/ 5465237 w 5465237"/>
              <a:gd name="connsiteY2" fmla="*/ 2600324 h 2600324"/>
              <a:gd name="connsiteX3" fmla="*/ 0 w 5465237"/>
              <a:gd name="connsiteY3" fmla="*/ 2600324 h 2600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65237" h="2600324">
                <a:moveTo>
                  <a:pt x="0" y="0"/>
                </a:moveTo>
                <a:lnTo>
                  <a:pt x="3958008" y="0"/>
                </a:lnTo>
                <a:lnTo>
                  <a:pt x="5465237" y="2600324"/>
                </a:lnTo>
                <a:lnTo>
                  <a:pt x="0" y="2600324"/>
                </a:lnTo>
                <a:close/>
              </a:path>
            </a:pathLst>
          </a:custGeom>
          <a:solidFill>
            <a:srgbClr val="FA78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思源宋体 CN" panose="02020400000000000000" pitchFamily="18" charset="-122"/>
              <a:cs typeface="Times New Roman" panose="02020603050405020304" pitchFamily="18" charset="0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5FA67C4C-CA40-F2E7-0963-2FF2E5ED2F2D}"/>
              </a:ext>
            </a:extLst>
          </p:cNvPr>
          <p:cNvSpPr/>
          <p:nvPr/>
        </p:nvSpPr>
        <p:spPr>
          <a:xfrm>
            <a:off x="0" y="0"/>
            <a:ext cx="5042501" cy="2600324"/>
          </a:xfrm>
          <a:custGeom>
            <a:avLst/>
            <a:gdLst>
              <a:gd name="connsiteX0" fmla="*/ 0 w 5042501"/>
              <a:gd name="connsiteY0" fmla="*/ 0 h 2600324"/>
              <a:gd name="connsiteX1" fmla="*/ 3535273 w 5042501"/>
              <a:gd name="connsiteY1" fmla="*/ 0 h 2600324"/>
              <a:gd name="connsiteX2" fmla="*/ 5042501 w 5042501"/>
              <a:gd name="connsiteY2" fmla="*/ 2600324 h 2600324"/>
              <a:gd name="connsiteX3" fmla="*/ 0 w 5042501"/>
              <a:gd name="connsiteY3" fmla="*/ 2600324 h 2600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42501" h="2600324">
                <a:moveTo>
                  <a:pt x="0" y="0"/>
                </a:moveTo>
                <a:lnTo>
                  <a:pt x="3535273" y="0"/>
                </a:lnTo>
                <a:lnTo>
                  <a:pt x="5042501" y="2600324"/>
                </a:lnTo>
                <a:lnTo>
                  <a:pt x="0" y="260032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思源宋体 CN" panose="02020400000000000000" pitchFamily="18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EBEBCF3-0C3E-66A0-5FD8-875631453C40}"/>
              </a:ext>
            </a:extLst>
          </p:cNvPr>
          <p:cNvSpPr txBox="1"/>
          <p:nvPr/>
        </p:nvSpPr>
        <p:spPr>
          <a:xfrm>
            <a:off x="540060" y="952937"/>
            <a:ext cx="8201130" cy="156966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lvl="0" defTabSz="1219200">
              <a:defRPr/>
            </a:pPr>
            <a:r>
              <a:rPr lang="en-US" altLang="zh-CN" sz="4800" kern="0" dirty="0">
                <a:solidFill>
                  <a:prstClr val="white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  <a:sym typeface="思源宋体 CN Light" panose="02020300000000000000" pitchFamily="18" charset="-122"/>
              </a:rPr>
              <a:t>Executive </a:t>
            </a:r>
          </a:p>
          <a:p>
            <a:pPr lvl="0" defTabSz="1219200">
              <a:defRPr/>
            </a:pPr>
            <a:r>
              <a:rPr lang="en-US" altLang="zh-CN" sz="4800" kern="0" dirty="0">
                <a:solidFill>
                  <a:prstClr val="white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  <a:sym typeface="思源宋体 CN Light" panose="02020300000000000000" pitchFamily="18" charset="-122"/>
              </a:rPr>
              <a:t>      Summary</a:t>
            </a:r>
            <a:endParaRPr kumimoji="0" lang="zh-CN" altLang="en-US" sz="4800" b="0" i="0" u="none" strike="noStrike" kern="0" cap="none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思源宋体 CN Heavy" panose="02020900000000000000" pitchFamily="18" charset="-122"/>
              <a:cs typeface="Times New Roman" panose="02020603050405020304" pitchFamily="18" charset="0"/>
              <a:sym typeface="思源宋体 CN Light" panose="02020300000000000000" pitchFamily="18" charset="-122"/>
            </a:endParaRPr>
          </a:p>
        </p:txBody>
      </p:sp>
      <p:sp>
        <p:nvSpPr>
          <p:cNvPr id="41" name="TextBox 3">
            <a:extLst>
              <a:ext uri="{FF2B5EF4-FFF2-40B4-BE49-F238E27FC236}">
                <a16:creationId xmlns:a16="http://schemas.microsoft.com/office/drawing/2014/main" id="{0E1C5434-DA25-B420-5682-E39DEFD708B8}"/>
              </a:ext>
            </a:extLst>
          </p:cNvPr>
          <p:cNvSpPr txBox="1"/>
          <p:nvPr/>
        </p:nvSpPr>
        <p:spPr>
          <a:xfrm>
            <a:off x="0" y="0"/>
            <a:ext cx="54006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noFill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PPT</a:t>
            </a:r>
            <a:r>
              <a:rPr lang="zh-CN" altLang="en-US" sz="100" dirty="0">
                <a:noFill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模板 </a:t>
            </a:r>
            <a:r>
              <a:rPr lang="en-US" altLang="zh-CN" sz="100" dirty="0">
                <a:noFill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http://www.1ppt.com/moban/</a:t>
            </a:r>
            <a:r>
              <a:rPr lang="zh-CN" altLang="en-US" sz="100" dirty="0">
                <a:noFill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lang="en-US" altLang="zh-CN" sz="100" dirty="0">
              <a:noFill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5" name="组合 11">
            <a:extLst>
              <a:ext uri="{FF2B5EF4-FFF2-40B4-BE49-F238E27FC236}">
                <a16:creationId xmlns:a16="http://schemas.microsoft.com/office/drawing/2014/main" id="{55E6EE04-78F2-8C0D-AAE8-5801A7BD790F}"/>
              </a:ext>
            </a:extLst>
          </p:cNvPr>
          <p:cNvGrpSpPr/>
          <p:nvPr/>
        </p:nvGrpSpPr>
        <p:grpSpPr>
          <a:xfrm>
            <a:off x="538712" y="2974516"/>
            <a:ext cx="5471552" cy="1613934"/>
            <a:chOff x="478545" y="1658936"/>
            <a:chExt cx="5471552" cy="1613934"/>
          </a:xfrm>
        </p:grpSpPr>
        <p:sp>
          <p:nvSpPr>
            <p:cNvPr id="7" name="矩形: 圆角 12">
              <a:extLst>
                <a:ext uri="{FF2B5EF4-FFF2-40B4-BE49-F238E27FC236}">
                  <a16:creationId xmlns:a16="http://schemas.microsoft.com/office/drawing/2014/main" id="{A36BF7EC-65AA-2376-1C22-24826F03E0A8}"/>
                </a:ext>
              </a:extLst>
            </p:cNvPr>
            <p:cNvSpPr/>
            <p:nvPr/>
          </p:nvSpPr>
          <p:spPr>
            <a:xfrm>
              <a:off x="478545" y="1658936"/>
              <a:ext cx="3568323" cy="472454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defTabSz="257810">
                <a:defRPr/>
              </a:pPr>
              <a:r>
                <a:rPr lang="en-US" altLang="zh-CN" sz="2000" b="1" kern="0" dirty="0">
                  <a:solidFill>
                    <a:prstClr val="white"/>
                  </a:solidFill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</a:rPr>
                <a:t>Investment Recommendation</a:t>
              </a:r>
              <a:endParaRPr lang="zh-CN" altLang="en-US" sz="2000" b="1" kern="0" dirty="0">
                <a:solidFill>
                  <a:prstClr val="white"/>
                </a:solidFill>
                <a:latin typeface="Times New Roman" panose="02020603050405020304" pitchFamily="18" charset="0"/>
                <a:ea typeface="思源宋体 CN" panose="02020400000000000000" pitchFamily="18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B4EF0ADF-6570-3279-06D5-C5D138AADB43}"/>
                </a:ext>
              </a:extLst>
            </p:cNvPr>
            <p:cNvSpPr/>
            <p:nvPr/>
          </p:nvSpPr>
          <p:spPr>
            <a:xfrm>
              <a:off x="603505" y="2209117"/>
              <a:ext cx="5346592" cy="106375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257810" hangingPunct="0">
                <a:lnSpc>
                  <a:spcPct val="150000"/>
                </a:lnSpc>
              </a:pPr>
              <a:r>
                <a:rPr lang="en-US" altLang="zh-CN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  <a:sym typeface="+mn-lt"/>
                </a:rPr>
                <a:t>We recommend New Hope as the primary market for Class B expansion. Our data-driven analysis indicates New Hope offers the highest risk-adjusted returns among the three target cities.</a:t>
              </a:r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思源宋体 CN" panose="02020400000000000000" pitchFamily="18" charset="-122"/>
                <a:cs typeface="Times New Roman" panose="02020603050405020304" pitchFamily="18" charset="0"/>
                <a:sym typeface="+mn-lt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E8EB76CE-C4AA-758D-6CA1-5B7A4E194958}"/>
              </a:ext>
            </a:extLst>
          </p:cNvPr>
          <p:cNvSpPr txBox="1"/>
          <p:nvPr/>
        </p:nvSpPr>
        <p:spPr>
          <a:xfrm>
            <a:off x="663672" y="4733494"/>
            <a:ext cx="5219001" cy="1525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257810" hangingPunct="0"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思源宋体 CN" panose="02020400000000000000" pitchFamily="18" charset="-122"/>
                <a:cs typeface="Times New Roman" panose="02020603050405020304" pitchFamily="18" charset="0"/>
              </a:rPr>
              <a:t>• Highest IRR: 7.30% vs. 4.76% (Fairview).</a:t>
            </a:r>
          </a:p>
          <a:p>
            <a:pPr defTabSz="257810" hangingPunct="0"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思源宋体 CN" panose="02020400000000000000" pitchFamily="18" charset="-122"/>
                <a:cs typeface="Times New Roman" panose="02020603050405020304" pitchFamily="18" charset="0"/>
              </a:rPr>
              <a:t>• Best Growth: 6.0% NOI CAGR (Historical).</a:t>
            </a:r>
          </a:p>
          <a:p>
            <a:pPr defTabSz="257810" hangingPunct="0"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思源宋体 CN" panose="02020400000000000000" pitchFamily="18" charset="-122"/>
                <a:cs typeface="Times New Roman" panose="02020603050405020304" pitchFamily="18" charset="0"/>
              </a:rPr>
              <a:t>• Asset Strategy: Optimize for Studios to maximize NPV per </a:t>
            </a:r>
          </a:p>
          <a:p>
            <a:pPr defTabSz="257810" hangingPunct="0">
              <a:lnSpc>
                <a:spcPct val="150000"/>
              </a:lnSpc>
            </a:pPr>
            <a:r>
              <a:rPr lang="zh-TW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思源宋体 CN" panose="02020400000000000000" pitchFamily="18" charset="-122"/>
                <a:cs typeface="Times New Roman" panose="02020603050405020304" pitchFamily="18" charset="0"/>
              </a:rPr>
              <a:t>                            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思源宋体 CN" panose="02020400000000000000" pitchFamily="18" charset="-122"/>
                <a:cs typeface="Times New Roman" panose="02020603050405020304" pitchFamily="18" charset="0"/>
              </a:rPr>
              <a:t>Sq. Ft. efficiency ($411).</a:t>
            </a:r>
          </a:p>
        </p:txBody>
      </p:sp>
      <p:grpSp>
        <p:nvGrpSpPr>
          <p:cNvPr id="24" name="组合 41">
            <a:extLst>
              <a:ext uri="{FF2B5EF4-FFF2-40B4-BE49-F238E27FC236}">
                <a16:creationId xmlns:a16="http://schemas.microsoft.com/office/drawing/2014/main" id="{59335622-789D-3D48-AF74-6B6659A48684}"/>
              </a:ext>
            </a:extLst>
          </p:cNvPr>
          <p:cNvGrpSpPr/>
          <p:nvPr/>
        </p:nvGrpSpPr>
        <p:grpSpPr>
          <a:xfrm>
            <a:off x="6407885" y="2974516"/>
            <a:ext cx="5219002" cy="3284396"/>
            <a:chOff x="8031440" y="1479313"/>
            <a:chExt cx="5129639" cy="3068791"/>
          </a:xfrm>
        </p:grpSpPr>
        <p:sp>
          <p:nvSpPr>
            <p:cNvPr id="29" name="矩形 42">
              <a:extLst>
                <a:ext uri="{FF2B5EF4-FFF2-40B4-BE49-F238E27FC236}">
                  <a16:creationId xmlns:a16="http://schemas.microsoft.com/office/drawing/2014/main" id="{93144157-B573-4B0C-DA81-45426561B715}"/>
                </a:ext>
              </a:extLst>
            </p:cNvPr>
            <p:cNvSpPr/>
            <p:nvPr/>
          </p:nvSpPr>
          <p:spPr>
            <a:xfrm>
              <a:off x="8031440" y="1479313"/>
              <a:ext cx="5129639" cy="3068791"/>
            </a:xfrm>
            <a:prstGeom prst="rect">
              <a:avLst/>
            </a:prstGeom>
            <a:solidFill>
              <a:srgbClr val="FA782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762000" algn="ctr" rotWithShape="0">
                <a:srgbClr val="00BCBC">
                  <a:alpha val="1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思源宋体 CN" panose="02020400000000000000" pitchFamily="18" charset="-122"/>
                <a:cs typeface="Times New Roman" panose="02020603050405020304" pitchFamily="18" charset="0"/>
              </a:endParaRPr>
            </a:p>
          </p:txBody>
        </p:sp>
        <p:sp>
          <p:nvSpPr>
            <p:cNvPr id="31" name="矩形 43">
              <a:extLst>
                <a:ext uri="{FF2B5EF4-FFF2-40B4-BE49-F238E27FC236}">
                  <a16:creationId xmlns:a16="http://schemas.microsoft.com/office/drawing/2014/main" id="{0656987C-45F2-4B3D-24C5-AFE466C83F6C}"/>
                </a:ext>
              </a:extLst>
            </p:cNvPr>
            <p:cNvSpPr/>
            <p:nvPr/>
          </p:nvSpPr>
          <p:spPr>
            <a:xfrm>
              <a:off x="8428822" y="1564275"/>
              <a:ext cx="4508553" cy="276249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lnSpc>
                  <a:spcPct val="150000"/>
                </a:lnSpc>
                <a:defRPr/>
              </a:pPr>
              <a:r>
                <a:rPr lang="en-US" altLang="zh-CN" sz="2000" b="1" kern="0" dirty="0">
                  <a:solidFill>
                    <a:prstClr val="white"/>
                  </a:solidFill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</a:rPr>
                <a:t>Key Decision Drivers</a:t>
              </a:r>
            </a:p>
            <a:p>
              <a:pPr lvl="0" algn="ctr">
                <a:lnSpc>
                  <a:spcPct val="150000"/>
                </a:lnSpc>
                <a:defRPr/>
              </a:pPr>
              <a:endParaRPr lang="en-US" altLang="zh-CN" sz="700" b="1" kern="0" dirty="0">
                <a:solidFill>
                  <a:prstClr val="white"/>
                </a:solidFill>
                <a:latin typeface="Times New Roman" panose="02020603050405020304" pitchFamily="18" charset="0"/>
                <a:ea typeface="思源宋体 CN" panose="02020400000000000000" pitchFamily="18" charset="-122"/>
                <a:cs typeface="Times New Roman" panose="02020603050405020304" pitchFamily="18" charset="0"/>
              </a:endParaRPr>
            </a:p>
            <a:p>
              <a:pPr lvl="0" algn="ctr">
                <a:lnSpc>
                  <a:spcPct val="150000"/>
                </a:lnSpc>
                <a:defRPr/>
              </a:pPr>
              <a:r>
                <a:rPr lang="en-US" altLang="zh-CN" sz="1600" kern="0" dirty="0">
                  <a:solidFill>
                    <a:prstClr val="white"/>
                  </a:solidFill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  <a:sym typeface="+mn-lt"/>
                </a:rPr>
                <a:t>New Hope demonstrates a structural advantage in expense management (lowest OER) and capital appreciation (highest Equity Multiple).</a:t>
              </a:r>
            </a:p>
            <a:p>
              <a:pPr lvl="0" algn="ctr">
                <a:lnSpc>
                  <a:spcPct val="150000"/>
                </a:lnSpc>
                <a:defRPr/>
              </a:pPr>
              <a:r>
                <a:rPr lang="en-US" altLang="zh-CN" sz="1600" kern="0" dirty="0">
                  <a:solidFill>
                    <a:prstClr val="white"/>
                  </a:solidFill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  <a:sym typeface="+mn-lt"/>
                </a:rPr>
                <a:t>While Fairview offers slightly better occupancy, the return premium in New Hope significantly outweighs the marginal leasing risk.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思源宋体 CN" panose="02020400000000000000" pitchFamily="18" charset="-122"/>
                <a:cs typeface="Times New Roman" panose="02020603050405020304" pitchFamily="18" charset="0"/>
                <a:sym typeface="+mn-lt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FB7FCF0-F2EB-27D5-BE05-C440773042B1}"/>
              </a:ext>
            </a:extLst>
          </p:cNvPr>
          <p:cNvSpPr txBox="1"/>
          <p:nvPr/>
        </p:nvSpPr>
        <p:spPr>
          <a:xfrm>
            <a:off x="0" y="6550223"/>
            <a:ext cx="86347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represents the Net Present Value generated per square foot of floor space (Total Unit NPV / Unit Size).</a:t>
            </a:r>
          </a:p>
        </p:txBody>
      </p:sp>
    </p:spTree>
    <p:extLst>
      <p:ext uri="{BB962C8B-B14F-4D97-AF65-F5344CB8AC3E}">
        <p14:creationId xmlns:p14="http://schemas.microsoft.com/office/powerpoint/2010/main" val="746413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 descr="城市的高楼大厦&#10;&#10;AI 生成的内容可能不正确。">
            <a:extLst>
              <a:ext uri="{FF2B5EF4-FFF2-40B4-BE49-F238E27FC236}">
                <a16:creationId xmlns:a16="http://schemas.microsoft.com/office/drawing/2014/main" id="{93D4139C-0CBE-E12C-DB01-91A6A6D79AC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" y="0"/>
            <a:ext cx="12201033" cy="3361298"/>
          </a:xfrm>
          <a:prstGeom prst="rect">
            <a:avLst/>
          </a:prstGeom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F26FE5B-B2FF-A8ED-3BDD-46ACB3103669}"/>
              </a:ext>
            </a:extLst>
          </p:cNvPr>
          <p:cNvSpPr/>
          <p:nvPr/>
        </p:nvSpPr>
        <p:spPr>
          <a:xfrm>
            <a:off x="1268209" y="2419351"/>
            <a:ext cx="9655585" cy="342899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思源宋体 CN" panose="02020400000000000000" pitchFamily="18" charset="-122"/>
              <a:cs typeface="Times New Roman" panose="02020603050405020304" pitchFamily="18" charset="0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7CB6B76B-3D48-F459-9FAC-3DDC37BABE3B}"/>
              </a:ext>
            </a:extLst>
          </p:cNvPr>
          <p:cNvGrpSpPr/>
          <p:nvPr/>
        </p:nvGrpSpPr>
        <p:grpSpPr>
          <a:xfrm>
            <a:off x="1673654" y="2847975"/>
            <a:ext cx="2571751" cy="2571751"/>
            <a:chOff x="1480542" y="2514599"/>
            <a:chExt cx="2571751" cy="2571751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4A3633EE-DB96-A5D0-2916-8B359C007BD3}"/>
                </a:ext>
              </a:extLst>
            </p:cNvPr>
            <p:cNvGrpSpPr/>
            <p:nvPr/>
          </p:nvGrpSpPr>
          <p:grpSpPr>
            <a:xfrm>
              <a:off x="1480542" y="2514599"/>
              <a:ext cx="2571751" cy="2571751"/>
              <a:chOff x="1118592" y="2282587"/>
              <a:chExt cx="3070464" cy="3070464"/>
            </a:xfrm>
          </p:grpSpPr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403B3CDB-5595-19B6-7D23-05CA1C19C877}"/>
                  </a:ext>
                </a:extLst>
              </p:cNvPr>
              <p:cNvGrpSpPr/>
              <p:nvPr/>
            </p:nvGrpSpPr>
            <p:grpSpPr>
              <a:xfrm flipH="1">
                <a:off x="1118592" y="2282587"/>
                <a:ext cx="3070464" cy="3070464"/>
                <a:chOff x="6172200" y="1658146"/>
                <a:chExt cx="3524931" cy="3524931"/>
              </a:xfrm>
            </p:grpSpPr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21E0FC8D-8D36-B858-3520-3F1E0CA1B5C4}"/>
                    </a:ext>
                  </a:extLst>
                </p:cNvPr>
                <p:cNvSpPr/>
                <p:nvPr/>
              </p:nvSpPr>
              <p:spPr>
                <a:xfrm>
                  <a:off x="6299129" y="1785076"/>
                  <a:ext cx="3271072" cy="3271072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  <a:alpha val="10000"/>
                  </a:schemeClr>
                </a:solidFill>
                <a:ln>
                  <a:noFill/>
                </a:ln>
                <a:effectLst>
                  <a:outerShdw blurRad="762000" algn="ctr" rotWithShape="0">
                    <a:srgbClr val="0070C0">
                      <a:alpha val="10000"/>
                    </a:srgb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思源宋体 CN" panose="02020400000000000000" pitchFamily="18" charset="-122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24" name="组合 23">
                  <a:extLst>
                    <a:ext uri="{FF2B5EF4-FFF2-40B4-BE49-F238E27FC236}">
                      <a16:creationId xmlns:a16="http://schemas.microsoft.com/office/drawing/2014/main" id="{1BC58BA0-1EE1-924C-16F5-CFB256300151}"/>
                    </a:ext>
                  </a:extLst>
                </p:cNvPr>
                <p:cNvGrpSpPr/>
                <p:nvPr/>
              </p:nvGrpSpPr>
              <p:grpSpPr>
                <a:xfrm>
                  <a:off x="6172200" y="1658146"/>
                  <a:ext cx="3524931" cy="3524931"/>
                  <a:chOff x="4591050" y="1619250"/>
                  <a:chExt cx="2543175" cy="2543175"/>
                </a:xfrm>
              </p:grpSpPr>
              <p:sp>
                <p:nvSpPr>
                  <p:cNvPr id="25" name="弧形 24">
                    <a:extLst>
                      <a:ext uri="{FF2B5EF4-FFF2-40B4-BE49-F238E27FC236}">
                        <a16:creationId xmlns:a16="http://schemas.microsoft.com/office/drawing/2014/main" id="{364C453F-3695-256D-EAE3-ECE44952A298}"/>
                      </a:ext>
                    </a:extLst>
                  </p:cNvPr>
                  <p:cNvSpPr/>
                  <p:nvPr/>
                </p:nvSpPr>
                <p:spPr>
                  <a:xfrm>
                    <a:off x="4591050" y="1619250"/>
                    <a:ext cx="2543175" cy="2543175"/>
                  </a:xfrm>
                  <a:prstGeom prst="arc">
                    <a:avLst>
                      <a:gd name="adj1" fmla="val 13430332"/>
                      <a:gd name="adj2" fmla="val 529113"/>
                    </a:avLst>
                  </a:prstGeom>
                  <a:noFill/>
                  <a:ln w="317500" cap="rnd" cmpd="sng" algn="ctr">
                    <a:gradFill>
                      <a:gsLst>
                        <a:gs pos="22000">
                          <a:srgbClr val="FA7821"/>
                        </a:gs>
                        <a:gs pos="100000">
                          <a:schemeClr val="bg1">
                            <a:alpha val="0"/>
                          </a:schemeClr>
                        </a:gs>
                      </a:gsLst>
                      <a:lin ang="0" scaled="0"/>
                    </a:gra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思源宋体 CN" panose="02020400000000000000" pitchFamily="18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6" name="弧形 25">
                    <a:extLst>
                      <a:ext uri="{FF2B5EF4-FFF2-40B4-BE49-F238E27FC236}">
                        <a16:creationId xmlns:a16="http://schemas.microsoft.com/office/drawing/2014/main" id="{06AAB877-3C19-8CB6-0449-9CE2F705A34A}"/>
                      </a:ext>
                    </a:extLst>
                  </p:cNvPr>
                  <p:cNvSpPr/>
                  <p:nvPr/>
                </p:nvSpPr>
                <p:spPr>
                  <a:xfrm flipH="1" flipV="1">
                    <a:off x="4591050" y="1619250"/>
                    <a:ext cx="2543175" cy="2543175"/>
                  </a:xfrm>
                  <a:prstGeom prst="arc">
                    <a:avLst>
                      <a:gd name="adj1" fmla="val 13430332"/>
                      <a:gd name="adj2" fmla="val 529113"/>
                    </a:avLst>
                  </a:prstGeom>
                  <a:noFill/>
                  <a:ln w="317500" cap="rnd" cmpd="sng" algn="ctr">
                    <a:gradFill>
                      <a:gsLst>
                        <a:gs pos="0">
                          <a:srgbClr val="FA7821"/>
                        </a:gs>
                        <a:gs pos="100000">
                          <a:sysClr val="window" lastClr="FFFFFF">
                            <a:alpha val="0"/>
                          </a:sysClr>
                        </a:gs>
                      </a:gsLst>
                      <a:lin ang="0" scaled="0"/>
                    </a:gra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思源宋体 CN" panose="02020400000000000000" pitchFamily="18" charset="-122"/>
                      <a:cs typeface="Times New Roman" panose="02020603050405020304" pitchFamily="18" charset="0"/>
                    </a:endParaRPr>
                  </a:p>
                </p:txBody>
              </p:sp>
            </p:grpSp>
          </p:grp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C39291AF-963A-3DBA-819B-42BD717BF76C}"/>
                  </a:ext>
                </a:extLst>
              </p:cNvPr>
              <p:cNvSpPr/>
              <p:nvPr/>
            </p:nvSpPr>
            <p:spPr>
              <a:xfrm>
                <a:off x="1620251" y="2784246"/>
                <a:ext cx="2067146" cy="2067146"/>
              </a:xfrm>
              <a:prstGeom prst="ellipse">
                <a:avLst/>
              </a:prstGeom>
              <a:gradFill flip="none" rotWithShape="1">
                <a:gsLst>
                  <a:gs pos="8000">
                    <a:schemeClr val="accent1">
                      <a:lumMod val="60000"/>
                      <a:lumOff val="40000"/>
                    </a:schemeClr>
                  </a:gs>
                  <a:gs pos="59000">
                    <a:srgbClr val="0070C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>
                <a:outerShdw blurRad="279400" dist="342900" dir="5400000" sx="88000" sy="88000" algn="t" rotWithShape="0">
                  <a:srgbClr val="0070C0">
                    <a:alpha val="20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FF53856-DA52-C9E1-52F6-D18EBE4A7129}"/>
                </a:ext>
              </a:extLst>
            </p:cNvPr>
            <p:cNvSpPr txBox="1"/>
            <p:nvPr/>
          </p:nvSpPr>
          <p:spPr>
            <a:xfrm>
              <a:off x="1700809" y="3200311"/>
              <a:ext cx="2131218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72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OPPOSans H" panose="00020600040101010101" pitchFamily="18" charset="-122"/>
                  <a:cs typeface="Times New Roman" panose="02020603050405020304" pitchFamily="18" charset="0"/>
                </a:rPr>
                <a:t>01</a:t>
              </a:r>
            </a:p>
          </p:txBody>
        </p:sp>
      </p:grpSp>
      <p:sp>
        <p:nvSpPr>
          <p:cNvPr id="33" name="文本框 20">
            <a:extLst>
              <a:ext uri="{FF2B5EF4-FFF2-40B4-BE49-F238E27FC236}">
                <a16:creationId xmlns:a16="http://schemas.microsoft.com/office/drawing/2014/main" id="{C4BA1147-B029-34AC-0D32-944528D0B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0252" y="3505467"/>
            <a:ext cx="5776788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defTabSz="1219200">
              <a:lnSpc>
                <a:spcPct val="100000"/>
              </a:lnSpc>
              <a:spcBef>
                <a:spcPct val="0"/>
              </a:spcBef>
              <a:buFont typeface="思源宋体 CN Heavy" panose="02020900000000000000" pitchFamily="18" charset="-122"/>
              <a:buNone/>
              <a:defRPr/>
            </a:pPr>
            <a:r>
              <a:rPr lang="en-US" altLang="zh-CN" sz="54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Market Selection</a:t>
            </a:r>
            <a:endParaRPr lang="zh-CN" altLang="en-US" sz="54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ea typeface="思源宋体 CN Heavy" panose="02020900000000000000" pitchFamily="18" charset="-122"/>
              <a:cs typeface="Times New Roman" panose="02020603050405020304" pitchFamily="18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1670A51-D51B-D611-77EB-1871C63D173E}"/>
              </a:ext>
            </a:extLst>
          </p:cNvPr>
          <p:cNvSpPr/>
          <p:nvPr/>
        </p:nvSpPr>
        <p:spPr>
          <a:xfrm>
            <a:off x="4288001" y="4572966"/>
            <a:ext cx="6196967" cy="6574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思源宋体 CN" panose="02020400000000000000" pitchFamily="18" charset="-122"/>
                <a:cs typeface="Times New Roman" panose="02020603050405020304" pitchFamily="18" charset="0"/>
              </a:rPr>
              <a:t>Comparative historical analysis of Fairview, New Hope, and Springfield to identify the strongest development opportunity.</a:t>
            </a:r>
          </a:p>
        </p:txBody>
      </p:sp>
    </p:spTree>
    <p:extLst>
      <p:ext uri="{BB962C8B-B14F-4D97-AF65-F5344CB8AC3E}">
        <p14:creationId xmlns:p14="http://schemas.microsoft.com/office/powerpoint/2010/main" val="1902720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AB7E7-1DB8-5C67-3212-561BEFB6E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21E5B210-FDFD-202B-2B26-57194605822B}"/>
              </a:ext>
            </a:extLst>
          </p:cNvPr>
          <p:cNvGrpSpPr/>
          <p:nvPr/>
        </p:nvGrpSpPr>
        <p:grpSpPr>
          <a:xfrm>
            <a:off x="184152" y="203959"/>
            <a:ext cx="7471290" cy="632426"/>
            <a:chOff x="262864" y="138417"/>
            <a:chExt cx="7471290" cy="632426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11E12BEC-2485-BEF7-180D-CADA144266F3}"/>
                </a:ext>
              </a:extLst>
            </p:cNvPr>
            <p:cNvGrpSpPr/>
            <p:nvPr/>
          </p:nvGrpSpPr>
          <p:grpSpPr>
            <a:xfrm>
              <a:off x="262864" y="138417"/>
              <a:ext cx="4828032" cy="632426"/>
              <a:chOff x="482600" y="451413"/>
              <a:chExt cx="4828032" cy="437588"/>
            </a:xfrm>
          </p:grpSpPr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374CA53D-76B8-9415-8CFA-EDD3F40DB465}"/>
                  </a:ext>
                </a:extLst>
              </p:cNvPr>
              <p:cNvSpPr/>
              <p:nvPr/>
            </p:nvSpPr>
            <p:spPr>
              <a:xfrm>
                <a:off x="544576" y="451413"/>
                <a:ext cx="4766056" cy="437587"/>
              </a:xfrm>
              <a:prstGeom prst="rect">
                <a:avLst/>
              </a:prstGeom>
              <a:gradFill flip="none" rotWithShape="1">
                <a:gsLst>
                  <a:gs pos="0">
                    <a:srgbClr val="0070C0">
                      <a:alpha val="0"/>
                    </a:srgbClr>
                  </a:gs>
                  <a:gs pos="100000">
                    <a:srgbClr val="0070C0">
                      <a:alpha val="5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宋体 CN Light" panose="02020300000000000000" pitchFamily="18" charset="-122"/>
                  <a:cs typeface="Times New Roman" panose="02020603050405020304" pitchFamily="18" charset="0"/>
                  <a:sym typeface="+mn-lt"/>
                </a:endParaRPr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E2331BDE-04F3-C1B1-BEF7-7BCC5E4BDEC9}"/>
                  </a:ext>
                </a:extLst>
              </p:cNvPr>
              <p:cNvSpPr/>
              <p:nvPr/>
            </p:nvSpPr>
            <p:spPr>
              <a:xfrm>
                <a:off x="482600" y="451413"/>
                <a:ext cx="61976" cy="437588"/>
              </a:xfrm>
              <a:prstGeom prst="rect">
                <a:avLst/>
              </a:prstGeom>
              <a:solidFill>
                <a:srgbClr val="0070C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宋体 CN Light" panose="02020300000000000000" pitchFamily="18" charset="-122"/>
                  <a:cs typeface="Times New Roman" panose="02020603050405020304" pitchFamily="18" charset="0"/>
                  <a:sym typeface="+mn-lt"/>
                </a:endParaRPr>
              </a:p>
            </p:txBody>
          </p:sp>
        </p:grp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D4B2DB1E-65C4-6B9A-3F5D-648F44B9D3F2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386815" y="193018"/>
              <a:ext cx="7347339" cy="52322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defTabSz="1219200">
                <a:lnSpc>
                  <a:spcPct val="100000"/>
                </a:lnSpc>
                <a:spcBef>
                  <a:spcPct val="0"/>
                </a:spcBef>
                <a:buFont typeface="思源宋体 CN Heavy" panose="02020900000000000000" pitchFamily="18" charset="-122"/>
                <a:buNone/>
                <a:defRPr/>
              </a:pPr>
              <a:r>
                <a:rPr lang="en-US" altLang="zh-CN" sz="28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Times New Roman" panose="02020603050405020304" pitchFamily="18" charset="0"/>
                  <a:ea typeface="思源宋体 CN Heavy" panose="02020900000000000000" pitchFamily="18" charset="-122"/>
                  <a:cs typeface="Times New Roman" panose="02020603050405020304" pitchFamily="18" charset="0"/>
                </a:rPr>
                <a:t>Market Scorecard: Class B Performance</a:t>
              </a:r>
              <a:endParaRPr lang="zh-CN" alt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29" name="Chart 28">
            <a:extLst>
              <a:ext uri="{FF2B5EF4-FFF2-40B4-BE49-F238E27FC236}">
                <a16:creationId xmlns:a16="http://schemas.microsoft.com/office/drawing/2014/main" id="{4D0A208E-9A20-21DD-7086-F135D84EB0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0821401"/>
              </p:ext>
            </p:extLst>
          </p:nvPr>
        </p:nvGraphicFramePr>
        <p:xfrm>
          <a:off x="308103" y="972010"/>
          <a:ext cx="5097273" cy="1865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2" name="Chart 31">
            <a:extLst>
              <a:ext uri="{FF2B5EF4-FFF2-40B4-BE49-F238E27FC236}">
                <a16:creationId xmlns:a16="http://schemas.microsoft.com/office/drawing/2014/main" id="{607728F7-1467-43C1-8C34-1AFF46AEE6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55428281"/>
              </p:ext>
            </p:extLst>
          </p:nvPr>
        </p:nvGraphicFramePr>
        <p:xfrm>
          <a:off x="411125" y="2952272"/>
          <a:ext cx="4994251" cy="18280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pSp>
        <p:nvGrpSpPr>
          <p:cNvPr id="37" name="组合 10">
            <a:extLst>
              <a:ext uri="{FF2B5EF4-FFF2-40B4-BE49-F238E27FC236}">
                <a16:creationId xmlns:a16="http://schemas.microsoft.com/office/drawing/2014/main" id="{27A2D18D-29C0-C070-1CC5-D0E078605342}"/>
              </a:ext>
            </a:extLst>
          </p:cNvPr>
          <p:cNvGrpSpPr/>
          <p:nvPr/>
        </p:nvGrpSpPr>
        <p:grpSpPr>
          <a:xfrm>
            <a:off x="5832016" y="1387123"/>
            <a:ext cx="5839715" cy="1156086"/>
            <a:chOff x="878308" y="1505355"/>
            <a:chExt cx="5839715" cy="1156086"/>
          </a:xfrm>
        </p:grpSpPr>
        <p:sp>
          <p:nvSpPr>
            <p:cNvPr id="38" name="六边形 18">
              <a:extLst>
                <a:ext uri="{FF2B5EF4-FFF2-40B4-BE49-F238E27FC236}">
                  <a16:creationId xmlns:a16="http://schemas.microsoft.com/office/drawing/2014/main" id="{03854DAD-9699-7F2D-F970-51FD5B377B77}"/>
                </a:ext>
              </a:extLst>
            </p:cNvPr>
            <p:cNvSpPr/>
            <p:nvPr/>
          </p:nvSpPr>
          <p:spPr>
            <a:xfrm>
              <a:off x="878308" y="1681139"/>
              <a:ext cx="736897" cy="812338"/>
            </a:xfrm>
            <a:custGeom>
              <a:avLst/>
              <a:gdLst>
                <a:gd name="connsiteX0" fmla="*/ 448946 w 736897"/>
                <a:gd name="connsiteY0" fmla="*/ 19018 h 812338"/>
                <a:gd name="connsiteX1" fmla="*/ 637395 w 736897"/>
                <a:gd name="connsiteY1" fmla="*/ 113242 h 812338"/>
                <a:gd name="connsiteX2" fmla="*/ 736897 w 736897"/>
                <a:gd name="connsiteY2" fmla="*/ 274239 h 812338"/>
                <a:gd name="connsiteX3" fmla="*/ 736897 w 736897"/>
                <a:gd name="connsiteY3" fmla="*/ 538100 h 812338"/>
                <a:gd name="connsiteX4" fmla="*/ 637395 w 736897"/>
                <a:gd name="connsiteY4" fmla="*/ 699097 h 812338"/>
                <a:gd name="connsiteX5" fmla="*/ 448946 w 736897"/>
                <a:gd name="connsiteY5" fmla="*/ 793321 h 812338"/>
                <a:gd name="connsiteX6" fmla="*/ 287950 w 736897"/>
                <a:gd name="connsiteY6" fmla="*/ 793321 h 812338"/>
                <a:gd name="connsiteX7" fmla="*/ 99502 w 736897"/>
                <a:gd name="connsiteY7" fmla="*/ 699097 h 812338"/>
                <a:gd name="connsiteX8" fmla="*/ 0 w 736897"/>
                <a:gd name="connsiteY8" fmla="*/ 538100 h 812338"/>
                <a:gd name="connsiteX9" fmla="*/ 0 w 736897"/>
                <a:gd name="connsiteY9" fmla="*/ 274239 h 812338"/>
                <a:gd name="connsiteX10" fmla="*/ 99502 w 736897"/>
                <a:gd name="connsiteY10" fmla="*/ 113242 h 812338"/>
                <a:gd name="connsiteX11" fmla="*/ 287950 w 736897"/>
                <a:gd name="connsiteY11" fmla="*/ 19018 h 812338"/>
                <a:gd name="connsiteX12" fmla="*/ 448946 w 736897"/>
                <a:gd name="connsiteY12" fmla="*/ 19018 h 812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36897" h="812338">
                  <a:moveTo>
                    <a:pt x="448946" y="19018"/>
                  </a:moveTo>
                  <a:lnTo>
                    <a:pt x="637395" y="113242"/>
                  </a:lnTo>
                  <a:cubicBezTo>
                    <a:pt x="698390" y="143740"/>
                    <a:pt x="736897" y="206045"/>
                    <a:pt x="736897" y="274239"/>
                  </a:cubicBezTo>
                  <a:lnTo>
                    <a:pt x="736897" y="538100"/>
                  </a:lnTo>
                  <a:cubicBezTo>
                    <a:pt x="736897" y="606294"/>
                    <a:pt x="698390" y="668600"/>
                    <a:pt x="637395" y="699097"/>
                  </a:cubicBezTo>
                  <a:lnTo>
                    <a:pt x="448946" y="793321"/>
                  </a:lnTo>
                  <a:cubicBezTo>
                    <a:pt x="398232" y="818678"/>
                    <a:pt x="338664" y="818678"/>
                    <a:pt x="287950" y="793321"/>
                  </a:cubicBezTo>
                  <a:lnTo>
                    <a:pt x="99502" y="699097"/>
                  </a:lnTo>
                  <a:cubicBezTo>
                    <a:pt x="38507" y="668600"/>
                    <a:pt x="0" y="606294"/>
                    <a:pt x="0" y="538100"/>
                  </a:cubicBezTo>
                  <a:lnTo>
                    <a:pt x="0" y="274239"/>
                  </a:lnTo>
                  <a:cubicBezTo>
                    <a:pt x="0" y="206045"/>
                    <a:pt x="38507" y="143739"/>
                    <a:pt x="99502" y="113242"/>
                  </a:cubicBezTo>
                  <a:lnTo>
                    <a:pt x="287950" y="19018"/>
                  </a:lnTo>
                  <a:cubicBezTo>
                    <a:pt x="338664" y="-6339"/>
                    <a:pt x="398232" y="-6339"/>
                    <a:pt x="448946" y="19018"/>
                  </a:cubicBezTo>
                </a:path>
              </a:pathLst>
            </a:cu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 dirty="0">
                <a:solidFill>
                  <a:prstClr val="white"/>
                </a:solidFill>
                <a:latin typeface="Times New Roman" panose="02020603050405020304" pitchFamily="18" charset="0"/>
                <a:ea typeface="思源宋体 CN" panose="02020400000000000000" pitchFamily="18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39" name="组合 12">
              <a:extLst>
                <a:ext uri="{FF2B5EF4-FFF2-40B4-BE49-F238E27FC236}">
                  <a16:creationId xmlns:a16="http://schemas.microsoft.com/office/drawing/2014/main" id="{5B6734EB-2855-0B58-9838-E70C9404BEC4}"/>
                </a:ext>
              </a:extLst>
            </p:cNvPr>
            <p:cNvGrpSpPr/>
            <p:nvPr/>
          </p:nvGrpSpPr>
          <p:grpSpPr>
            <a:xfrm>
              <a:off x="1054251" y="1505355"/>
              <a:ext cx="5663772" cy="1156086"/>
              <a:chOff x="6271943" y="1697358"/>
              <a:chExt cx="5663772" cy="1156086"/>
            </a:xfrm>
          </p:grpSpPr>
          <p:sp>
            <p:nvSpPr>
              <p:cNvPr id="40" name="文本框 13">
                <a:extLst>
                  <a:ext uri="{FF2B5EF4-FFF2-40B4-BE49-F238E27FC236}">
                    <a16:creationId xmlns:a16="http://schemas.microsoft.com/office/drawing/2014/main" id="{5C66EA4A-7CBD-2342-7615-9764C089DCC2}"/>
                  </a:ext>
                </a:extLst>
              </p:cNvPr>
              <p:cNvSpPr txBox="1"/>
              <p:nvPr/>
            </p:nvSpPr>
            <p:spPr>
              <a:xfrm>
                <a:off x="6271943" y="1956146"/>
                <a:ext cx="38501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defRPr/>
                </a:pPr>
                <a:r>
                  <a:rPr lang="en-US" altLang="zh-CN" sz="3600" kern="0" dirty="0">
                    <a:solidFill>
                      <a:prstClr val="white"/>
                    </a:solidFill>
                    <a:latin typeface="Times New Roman" panose="02020603050405020304" pitchFamily="18" charset="0"/>
                    <a:ea typeface="思源宋体 CN Heavy" panose="02020900000000000000" pitchFamily="18" charset="-122"/>
                    <a:cs typeface="Times New Roman" panose="02020603050405020304" pitchFamily="18" charset="0"/>
                  </a:rPr>
                  <a:t>A</a:t>
                </a:r>
                <a:endParaRPr lang="zh-CN" altLang="en-US" sz="3600" kern="0" dirty="0">
                  <a:solidFill>
                    <a:prstClr val="white"/>
                  </a:solidFill>
                  <a:latin typeface="Times New Roman" panose="02020603050405020304" pitchFamily="18" charset="0"/>
                  <a:ea typeface="思源宋体 CN Heavy" panose="02020900000000000000" pitchFamily="18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2" name="文本框 16">
                <a:extLst>
                  <a:ext uri="{FF2B5EF4-FFF2-40B4-BE49-F238E27FC236}">
                    <a16:creationId xmlns:a16="http://schemas.microsoft.com/office/drawing/2014/main" id="{59114220-546B-9970-6720-558FCC2ABE01}"/>
                  </a:ext>
                </a:extLst>
              </p:cNvPr>
              <p:cNvSpPr txBox="1"/>
              <p:nvPr/>
            </p:nvSpPr>
            <p:spPr>
              <a:xfrm>
                <a:off x="6941464" y="1697358"/>
                <a:ext cx="4994251" cy="11560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altLang="zh-CN" sz="1600" kern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思源宋体 CN" panose="02020400000000000000" pitchFamily="18" charset="-122"/>
                    <a:cs typeface="Times New Roman" panose="02020603050405020304" pitchFamily="18" charset="0"/>
                    <a:sym typeface="+mn-ea"/>
                  </a:rPr>
                  <a:t>A materially higher IRR suggests stronger cash flow + value creation, providing more buffer against downside scenarios.</a:t>
                </a:r>
                <a:endParaRPr lang="zh-CN" altLang="en-US" sz="16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  <a:sym typeface="+mn-ea"/>
                </a:endParaRPr>
              </a:p>
            </p:txBody>
          </p:sp>
        </p:grpSp>
      </p:grpSp>
      <p:grpSp>
        <p:nvGrpSpPr>
          <p:cNvPr id="44" name="组合 18">
            <a:extLst>
              <a:ext uri="{FF2B5EF4-FFF2-40B4-BE49-F238E27FC236}">
                <a16:creationId xmlns:a16="http://schemas.microsoft.com/office/drawing/2014/main" id="{01F5C6C1-5506-503F-F059-0DB90E37379E}"/>
              </a:ext>
            </a:extLst>
          </p:cNvPr>
          <p:cNvGrpSpPr/>
          <p:nvPr/>
        </p:nvGrpSpPr>
        <p:grpSpPr>
          <a:xfrm>
            <a:off x="5832016" y="3320756"/>
            <a:ext cx="5843296" cy="1156086"/>
            <a:chOff x="878308" y="2987815"/>
            <a:chExt cx="5843296" cy="1156086"/>
          </a:xfrm>
        </p:grpSpPr>
        <p:sp>
          <p:nvSpPr>
            <p:cNvPr id="45" name="六边形 48">
              <a:extLst>
                <a:ext uri="{FF2B5EF4-FFF2-40B4-BE49-F238E27FC236}">
                  <a16:creationId xmlns:a16="http://schemas.microsoft.com/office/drawing/2014/main" id="{58E2703B-439A-35D8-A80D-9D5483564D9F}"/>
                </a:ext>
              </a:extLst>
            </p:cNvPr>
            <p:cNvSpPr/>
            <p:nvPr/>
          </p:nvSpPr>
          <p:spPr>
            <a:xfrm>
              <a:off x="878308" y="3159689"/>
              <a:ext cx="736897" cy="812338"/>
            </a:xfrm>
            <a:custGeom>
              <a:avLst/>
              <a:gdLst>
                <a:gd name="connsiteX0" fmla="*/ 448946 w 736897"/>
                <a:gd name="connsiteY0" fmla="*/ 19018 h 812338"/>
                <a:gd name="connsiteX1" fmla="*/ 637395 w 736897"/>
                <a:gd name="connsiteY1" fmla="*/ 113242 h 812338"/>
                <a:gd name="connsiteX2" fmla="*/ 736897 w 736897"/>
                <a:gd name="connsiteY2" fmla="*/ 274239 h 812338"/>
                <a:gd name="connsiteX3" fmla="*/ 736897 w 736897"/>
                <a:gd name="connsiteY3" fmla="*/ 538100 h 812338"/>
                <a:gd name="connsiteX4" fmla="*/ 637395 w 736897"/>
                <a:gd name="connsiteY4" fmla="*/ 699097 h 812338"/>
                <a:gd name="connsiteX5" fmla="*/ 448946 w 736897"/>
                <a:gd name="connsiteY5" fmla="*/ 793321 h 812338"/>
                <a:gd name="connsiteX6" fmla="*/ 287950 w 736897"/>
                <a:gd name="connsiteY6" fmla="*/ 793321 h 812338"/>
                <a:gd name="connsiteX7" fmla="*/ 99502 w 736897"/>
                <a:gd name="connsiteY7" fmla="*/ 699097 h 812338"/>
                <a:gd name="connsiteX8" fmla="*/ 0 w 736897"/>
                <a:gd name="connsiteY8" fmla="*/ 538100 h 812338"/>
                <a:gd name="connsiteX9" fmla="*/ 0 w 736897"/>
                <a:gd name="connsiteY9" fmla="*/ 274239 h 812338"/>
                <a:gd name="connsiteX10" fmla="*/ 99502 w 736897"/>
                <a:gd name="connsiteY10" fmla="*/ 113242 h 812338"/>
                <a:gd name="connsiteX11" fmla="*/ 287950 w 736897"/>
                <a:gd name="connsiteY11" fmla="*/ 19018 h 812338"/>
                <a:gd name="connsiteX12" fmla="*/ 448946 w 736897"/>
                <a:gd name="connsiteY12" fmla="*/ 19018 h 812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36897" h="812338">
                  <a:moveTo>
                    <a:pt x="448946" y="19018"/>
                  </a:moveTo>
                  <a:lnTo>
                    <a:pt x="637395" y="113242"/>
                  </a:lnTo>
                  <a:cubicBezTo>
                    <a:pt x="698390" y="143740"/>
                    <a:pt x="736897" y="206045"/>
                    <a:pt x="736897" y="274239"/>
                  </a:cubicBezTo>
                  <a:lnTo>
                    <a:pt x="736897" y="538100"/>
                  </a:lnTo>
                  <a:cubicBezTo>
                    <a:pt x="736897" y="606294"/>
                    <a:pt x="698390" y="668599"/>
                    <a:pt x="637395" y="699097"/>
                  </a:cubicBezTo>
                  <a:lnTo>
                    <a:pt x="448946" y="793321"/>
                  </a:lnTo>
                  <a:cubicBezTo>
                    <a:pt x="398232" y="818678"/>
                    <a:pt x="338664" y="818678"/>
                    <a:pt x="287950" y="793321"/>
                  </a:cubicBezTo>
                  <a:lnTo>
                    <a:pt x="99502" y="699097"/>
                  </a:lnTo>
                  <a:cubicBezTo>
                    <a:pt x="38507" y="668599"/>
                    <a:pt x="0" y="606294"/>
                    <a:pt x="0" y="538100"/>
                  </a:cubicBezTo>
                  <a:lnTo>
                    <a:pt x="0" y="274239"/>
                  </a:lnTo>
                  <a:cubicBezTo>
                    <a:pt x="0" y="206045"/>
                    <a:pt x="38507" y="143740"/>
                    <a:pt x="99502" y="113242"/>
                  </a:cubicBezTo>
                  <a:lnTo>
                    <a:pt x="287950" y="19018"/>
                  </a:lnTo>
                  <a:cubicBezTo>
                    <a:pt x="338664" y="-6339"/>
                    <a:pt x="398232" y="-6339"/>
                    <a:pt x="448946" y="19018"/>
                  </a:cubicBezTo>
                </a:path>
              </a:pathLst>
            </a:custGeom>
            <a:solidFill>
              <a:srgbClr val="FA782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 dirty="0">
                <a:solidFill>
                  <a:prstClr val="white"/>
                </a:solidFill>
                <a:latin typeface="Times New Roman" panose="02020603050405020304" pitchFamily="18" charset="0"/>
                <a:ea typeface="思源宋体 CN" panose="02020400000000000000" pitchFamily="18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46" name="组合 20">
              <a:extLst>
                <a:ext uri="{FF2B5EF4-FFF2-40B4-BE49-F238E27FC236}">
                  <a16:creationId xmlns:a16="http://schemas.microsoft.com/office/drawing/2014/main" id="{41808BB9-A5D5-4551-3CEA-A53779F246A1}"/>
                </a:ext>
              </a:extLst>
            </p:cNvPr>
            <p:cNvGrpSpPr/>
            <p:nvPr/>
          </p:nvGrpSpPr>
          <p:grpSpPr>
            <a:xfrm>
              <a:off x="1054251" y="2987815"/>
              <a:ext cx="5667353" cy="1156086"/>
              <a:chOff x="6271943" y="1701268"/>
              <a:chExt cx="5667353" cy="1156086"/>
            </a:xfrm>
          </p:grpSpPr>
          <p:sp>
            <p:nvSpPr>
              <p:cNvPr id="47" name="文本框 21">
                <a:extLst>
                  <a:ext uri="{FF2B5EF4-FFF2-40B4-BE49-F238E27FC236}">
                    <a16:creationId xmlns:a16="http://schemas.microsoft.com/office/drawing/2014/main" id="{B7F65E60-A101-4CD3-D261-99FC62857695}"/>
                  </a:ext>
                </a:extLst>
              </p:cNvPr>
              <p:cNvSpPr txBox="1"/>
              <p:nvPr/>
            </p:nvSpPr>
            <p:spPr>
              <a:xfrm>
                <a:off x="6271943" y="1956146"/>
                <a:ext cx="38501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defRPr/>
                </a:pPr>
                <a:r>
                  <a:rPr lang="en-US" altLang="zh-CN" sz="3600" kern="0" dirty="0">
                    <a:solidFill>
                      <a:prstClr val="white"/>
                    </a:solidFill>
                    <a:latin typeface="Times New Roman" panose="02020603050405020304" pitchFamily="18" charset="0"/>
                    <a:ea typeface="思源宋体 CN Heavy" panose="02020900000000000000" pitchFamily="18" charset="-122"/>
                    <a:cs typeface="Times New Roman" panose="02020603050405020304" pitchFamily="18" charset="0"/>
                  </a:rPr>
                  <a:t>B</a:t>
                </a:r>
                <a:endParaRPr lang="zh-CN" altLang="en-US" sz="3600" kern="0" dirty="0">
                  <a:solidFill>
                    <a:prstClr val="white"/>
                  </a:solidFill>
                  <a:latin typeface="Times New Roman" panose="02020603050405020304" pitchFamily="18" charset="0"/>
                  <a:ea typeface="思源宋体 CN Heavy" panose="02020900000000000000" pitchFamily="18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9" name="文本框 24">
                <a:extLst>
                  <a:ext uri="{FF2B5EF4-FFF2-40B4-BE49-F238E27FC236}">
                    <a16:creationId xmlns:a16="http://schemas.microsoft.com/office/drawing/2014/main" id="{7DBB9C37-1DBC-42EA-A350-B6A4E57B2D48}"/>
                  </a:ext>
                </a:extLst>
              </p:cNvPr>
              <p:cNvSpPr txBox="1"/>
              <p:nvPr/>
            </p:nvSpPr>
            <p:spPr>
              <a:xfrm>
                <a:off x="6945045" y="1701268"/>
                <a:ext cx="4994251" cy="11560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altLang="zh-CN" sz="1600" kern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思源宋体 CN" panose="02020400000000000000" pitchFamily="18" charset="-122"/>
                    <a:cs typeface="Times New Roman" panose="02020603050405020304" pitchFamily="18" charset="0"/>
                    <a:sym typeface="+mn-ea"/>
                  </a:rPr>
                  <a:t>Stronger NOI growth supports higher exit value (cap-rate based valuation) and improves resilience against rising expenses or soft demand.</a:t>
                </a:r>
                <a:endParaRPr lang="zh-CN" altLang="en-US" sz="16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  <a:sym typeface="+mn-ea"/>
                </a:endParaRPr>
              </a:p>
            </p:txBody>
          </p:sp>
        </p:grpSp>
      </p:grp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9FA2AB4E-DAAB-C726-BECA-CD80D9FCA7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4990535"/>
              </p:ext>
            </p:extLst>
          </p:nvPr>
        </p:nvGraphicFramePr>
        <p:xfrm>
          <a:off x="411125" y="4953651"/>
          <a:ext cx="5097273" cy="17929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pSp>
        <p:nvGrpSpPr>
          <p:cNvPr id="4" name="组合 10">
            <a:extLst>
              <a:ext uri="{FF2B5EF4-FFF2-40B4-BE49-F238E27FC236}">
                <a16:creationId xmlns:a16="http://schemas.microsoft.com/office/drawing/2014/main" id="{B59D7724-B2DE-97EB-234D-CB3A0E3E2319}"/>
              </a:ext>
            </a:extLst>
          </p:cNvPr>
          <p:cNvGrpSpPr/>
          <p:nvPr/>
        </p:nvGrpSpPr>
        <p:grpSpPr>
          <a:xfrm>
            <a:off x="5832016" y="5087437"/>
            <a:ext cx="6055184" cy="1525418"/>
            <a:chOff x="878308" y="1505355"/>
            <a:chExt cx="6055184" cy="1525418"/>
          </a:xfrm>
        </p:grpSpPr>
        <p:sp>
          <p:nvSpPr>
            <p:cNvPr id="7" name="六边形 18">
              <a:extLst>
                <a:ext uri="{FF2B5EF4-FFF2-40B4-BE49-F238E27FC236}">
                  <a16:creationId xmlns:a16="http://schemas.microsoft.com/office/drawing/2014/main" id="{0EE56AA4-4627-3872-752D-599A798E5BED}"/>
                </a:ext>
              </a:extLst>
            </p:cNvPr>
            <p:cNvSpPr/>
            <p:nvPr/>
          </p:nvSpPr>
          <p:spPr>
            <a:xfrm>
              <a:off x="878308" y="1681139"/>
              <a:ext cx="736897" cy="812338"/>
            </a:xfrm>
            <a:custGeom>
              <a:avLst/>
              <a:gdLst>
                <a:gd name="connsiteX0" fmla="*/ 448946 w 736897"/>
                <a:gd name="connsiteY0" fmla="*/ 19018 h 812338"/>
                <a:gd name="connsiteX1" fmla="*/ 637395 w 736897"/>
                <a:gd name="connsiteY1" fmla="*/ 113242 h 812338"/>
                <a:gd name="connsiteX2" fmla="*/ 736897 w 736897"/>
                <a:gd name="connsiteY2" fmla="*/ 274239 h 812338"/>
                <a:gd name="connsiteX3" fmla="*/ 736897 w 736897"/>
                <a:gd name="connsiteY3" fmla="*/ 538100 h 812338"/>
                <a:gd name="connsiteX4" fmla="*/ 637395 w 736897"/>
                <a:gd name="connsiteY4" fmla="*/ 699097 h 812338"/>
                <a:gd name="connsiteX5" fmla="*/ 448946 w 736897"/>
                <a:gd name="connsiteY5" fmla="*/ 793321 h 812338"/>
                <a:gd name="connsiteX6" fmla="*/ 287950 w 736897"/>
                <a:gd name="connsiteY6" fmla="*/ 793321 h 812338"/>
                <a:gd name="connsiteX7" fmla="*/ 99502 w 736897"/>
                <a:gd name="connsiteY7" fmla="*/ 699097 h 812338"/>
                <a:gd name="connsiteX8" fmla="*/ 0 w 736897"/>
                <a:gd name="connsiteY8" fmla="*/ 538100 h 812338"/>
                <a:gd name="connsiteX9" fmla="*/ 0 w 736897"/>
                <a:gd name="connsiteY9" fmla="*/ 274239 h 812338"/>
                <a:gd name="connsiteX10" fmla="*/ 99502 w 736897"/>
                <a:gd name="connsiteY10" fmla="*/ 113242 h 812338"/>
                <a:gd name="connsiteX11" fmla="*/ 287950 w 736897"/>
                <a:gd name="connsiteY11" fmla="*/ 19018 h 812338"/>
                <a:gd name="connsiteX12" fmla="*/ 448946 w 736897"/>
                <a:gd name="connsiteY12" fmla="*/ 19018 h 812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36897" h="812338">
                  <a:moveTo>
                    <a:pt x="448946" y="19018"/>
                  </a:moveTo>
                  <a:lnTo>
                    <a:pt x="637395" y="113242"/>
                  </a:lnTo>
                  <a:cubicBezTo>
                    <a:pt x="698390" y="143740"/>
                    <a:pt x="736897" y="206045"/>
                    <a:pt x="736897" y="274239"/>
                  </a:cubicBezTo>
                  <a:lnTo>
                    <a:pt x="736897" y="538100"/>
                  </a:lnTo>
                  <a:cubicBezTo>
                    <a:pt x="736897" y="606294"/>
                    <a:pt x="698390" y="668600"/>
                    <a:pt x="637395" y="699097"/>
                  </a:cubicBezTo>
                  <a:lnTo>
                    <a:pt x="448946" y="793321"/>
                  </a:lnTo>
                  <a:cubicBezTo>
                    <a:pt x="398232" y="818678"/>
                    <a:pt x="338664" y="818678"/>
                    <a:pt x="287950" y="793321"/>
                  </a:cubicBezTo>
                  <a:lnTo>
                    <a:pt x="99502" y="699097"/>
                  </a:lnTo>
                  <a:cubicBezTo>
                    <a:pt x="38507" y="668600"/>
                    <a:pt x="0" y="606294"/>
                    <a:pt x="0" y="538100"/>
                  </a:cubicBezTo>
                  <a:lnTo>
                    <a:pt x="0" y="274239"/>
                  </a:lnTo>
                  <a:cubicBezTo>
                    <a:pt x="0" y="206045"/>
                    <a:pt x="38507" y="143739"/>
                    <a:pt x="99502" y="113242"/>
                  </a:cubicBezTo>
                  <a:lnTo>
                    <a:pt x="287950" y="19018"/>
                  </a:lnTo>
                  <a:cubicBezTo>
                    <a:pt x="338664" y="-6339"/>
                    <a:pt x="398232" y="-6339"/>
                    <a:pt x="448946" y="19018"/>
                  </a:cubicBezTo>
                </a:path>
              </a:pathLst>
            </a:cu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 dirty="0">
                <a:solidFill>
                  <a:prstClr val="white"/>
                </a:solidFill>
                <a:latin typeface="Times New Roman" panose="02020603050405020304" pitchFamily="18" charset="0"/>
                <a:ea typeface="思源宋体 CN" panose="02020400000000000000" pitchFamily="18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8" name="组合 12">
              <a:extLst>
                <a:ext uri="{FF2B5EF4-FFF2-40B4-BE49-F238E27FC236}">
                  <a16:creationId xmlns:a16="http://schemas.microsoft.com/office/drawing/2014/main" id="{DBC6D124-A86A-2816-ABE8-BD96FA5D4EF3}"/>
                </a:ext>
              </a:extLst>
            </p:cNvPr>
            <p:cNvGrpSpPr/>
            <p:nvPr/>
          </p:nvGrpSpPr>
          <p:grpSpPr>
            <a:xfrm>
              <a:off x="1054251" y="1505355"/>
              <a:ext cx="5879241" cy="1525418"/>
              <a:chOff x="6271943" y="1697358"/>
              <a:chExt cx="5879241" cy="1525418"/>
            </a:xfrm>
          </p:grpSpPr>
          <p:sp>
            <p:nvSpPr>
              <p:cNvPr id="9" name="文本框 13">
                <a:extLst>
                  <a:ext uri="{FF2B5EF4-FFF2-40B4-BE49-F238E27FC236}">
                    <a16:creationId xmlns:a16="http://schemas.microsoft.com/office/drawing/2014/main" id="{72765E2C-E928-AC2C-CAAE-A19D6F3E35A4}"/>
                  </a:ext>
                </a:extLst>
              </p:cNvPr>
              <p:cNvSpPr txBox="1"/>
              <p:nvPr/>
            </p:nvSpPr>
            <p:spPr>
              <a:xfrm>
                <a:off x="6271943" y="1956146"/>
                <a:ext cx="38501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defRPr/>
                </a:pPr>
                <a:r>
                  <a:rPr lang="en-US" altLang="zh-CN" sz="3600" kern="0" dirty="0">
                    <a:solidFill>
                      <a:prstClr val="white"/>
                    </a:solidFill>
                    <a:latin typeface="Times New Roman" panose="02020603050405020304" pitchFamily="18" charset="0"/>
                    <a:ea typeface="思源宋体 CN Heavy" panose="02020900000000000000" pitchFamily="18" charset="-122"/>
                    <a:cs typeface="Times New Roman" panose="02020603050405020304" pitchFamily="18" charset="0"/>
                  </a:rPr>
                  <a:t>C</a:t>
                </a:r>
                <a:endParaRPr lang="zh-CN" altLang="en-US" sz="3600" kern="0" dirty="0">
                  <a:solidFill>
                    <a:prstClr val="white"/>
                  </a:solidFill>
                  <a:latin typeface="Times New Roman" panose="02020603050405020304" pitchFamily="18" charset="0"/>
                  <a:ea typeface="思源宋体 CN Heavy" panose="02020900000000000000" pitchFamily="18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文本框 16">
                <a:extLst>
                  <a:ext uri="{FF2B5EF4-FFF2-40B4-BE49-F238E27FC236}">
                    <a16:creationId xmlns:a16="http://schemas.microsoft.com/office/drawing/2014/main" id="{D4BD67BF-3DE1-D4AC-01B6-3C61FDE3AC18}"/>
                  </a:ext>
                </a:extLst>
              </p:cNvPr>
              <p:cNvSpPr txBox="1"/>
              <p:nvPr/>
            </p:nvSpPr>
            <p:spPr>
              <a:xfrm>
                <a:off x="6941464" y="1697358"/>
                <a:ext cx="5209720" cy="15254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altLang="zh-CN" sz="1600" kern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思源宋体 CN" panose="02020400000000000000" pitchFamily="18" charset="-122"/>
                    <a:cs typeface="Times New Roman" panose="02020603050405020304" pitchFamily="18" charset="0"/>
                    <a:sym typeface="+mn-ea"/>
                  </a:rPr>
                  <a:t>New Hope Leads Capital Appreciation: Highest Average Equity Multiple (1.08x) and Equity Growth (7.94%). This confirms that New Hope is not just an income play (NOI), but also the strongest capital appreciation play.</a:t>
                </a:r>
                <a:endParaRPr lang="zh-CN" altLang="en-US" sz="16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  <a:sym typeface="+mn-ea"/>
                </a:endParaRPr>
              </a:p>
            </p:txBody>
          </p:sp>
        </p:grp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808DF42-D568-A270-591F-65D4C5D06772}"/>
              </a:ext>
            </a:extLst>
          </p:cNvPr>
          <p:cNvSpPr txBox="1"/>
          <p:nvPr/>
        </p:nvSpPr>
        <p:spPr>
          <a:xfrm>
            <a:off x="342828" y="759311"/>
            <a:ext cx="92884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Hope consistently leads return outcomes across both operational income growth and investor capital appreciation.</a:t>
            </a:r>
          </a:p>
        </p:txBody>
      </p:sp>
    </p:spTree>
    <p:extLst>
      <p:ext uri="{BB962C8B-B14F-4D97-AF65-F5344CB8AC3E}">
        <p14:creationId xmlns:p14="http://schemas.microsoft.com/office/powerpoint/2010/main" val="2404775850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F0FF1-A12E-5C35-762A-5F0C1D25A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33432796-4DFD-BAAD-C263-616DE7AB0094}"/>
              </a:ext>
            </a:extLst>
          </p:cNvPr>
          <p:cNvGrpSpPr/>
          <p:nvPr/>
        </p:nvGrpSpPr>
        <p:grpSpPr>
          <a:xfrm>
            <a:off x="184152" y="203959"/>
            <a:ext cx="8013550" cy="632426"/>
            <a:chOff x="262864" y="138417"/>
            <a:chExt cx="8013550" cy="632426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0BA39187-92A8-D6F4-D202-54C635204943}"/>
                </a:ext>
              </a:extLst>
            </p:cNvPr>
            <p:cNvGrpSpPr/>
            <p:nvPr/>
          </p:nvGrpSpPr>
          <p:grpSpPr>
            <a:xfrm>
              <a:off x="262864" y="138417"/>
              <a:ext cx="4828032" cy="632426"/>
              <a:chOff x="482600" y="451413"/>
              <a:chExt cx="4828032" cy="437588"/>
            </a:xfrm>
          </p:grpSpPr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9C5F5BEE-7CD7-56C2-3505-248F45040A9A}"/>
                  </a:ext>
                </a:extLst>
              </p:cNvPr>
              <p:cNvSpPr/>
              <p:nvPr/>
            </p:nvSpPr>
            <p:spPr>
              <a:xfrm>
                <a:off x="544576" y="451413"/>
                <a:ext cx="4766056" cy="437587"/>
              </a:xfrm>
              <a:prstGeom prst="rect">
                <a:avLst/>
              </a:prstGeom>
              <a:gradFill flip="none" rotWithShape="1">
                <a:gsLst>
                  <a:gs pos="0">
                    <a:srgbClr val="0070C0">
                      <a:alpha val="0"/>
                    </a:srgbClr>
                  </a:gs>
                  <a:gs pos="100000">
                    <a:srgbClr val="0070C0">
                      <a:alpha val="5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宋体 CN Light" panose="02020300000000000000" pitchFamily="18" charset="-122"/>
                  <a:cs typeface="Times New Roman" panose="02020603050405020304" pitchFamily="18" charset="0"/>
                  <a:sym typeface="+mn-lt"/>
                </a:endParaRPr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0B2F8BBA-EC5C-BAB7-6B41-7A46BF190C51}"/>
                  </a:ext>
                </a:extLst>
              </p:cNvPr>
              <p:cNvSpPr/>
              <p:nvPr/>
            </p:nvSpPr>
            <p:spPr>
              <a:xfrm>
                <a:off x="482600" y="451413"/>
                <a:ext cx="61976" cy="437588"/>
              </a:xfrm>
              <a:prstGeom prst="rect">
                <a:avLst/>
              </a:prstGeom>
              <a:solidFill>
                <a:srgbClr val="0070C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宋体 CN Light" panose="02020300000000000000" pitchFamily="18" charset="-122"/>
                  <a:cs typeface="Times New Roman" panose="02020603050405020304" pitchFamily="18" charset="0"/>
                  <a:sym typeface="+mn-lt"/>
                </a:endParaRPr>
              </a:p>
            </p:txBody>
          </p:sp>
        </p:grp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E47AD7C3-EB44-5341-36A6-E24091E793F6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386815" y="193019"/>
              <a:ext cx="7889599" cy="52322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lvl="0">
                <a:defRPr/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思源宋体 CN Heavy" panose="02020900000000000000" charset="-122"/>
                  <a:cs typeface="Times New Roman" panose="02020603050405020304" pitchFamily="18" charset="0"/>
                  <a:sym typeface="+mn-ea"/>
                </a:rPr>
                <a:t>Profitability Headwinds: Expense Analysis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思源宋体 CN Heavy" panose="02020900000000000000" charset="-122"/>
                <a:cs typeface="Times New Roman" panose="02020603050405020304" pitchFamily="18" charset="0"/>
                <a:sym typeface="+mn-ea"/>
              </a:endParaRPr>
            </a:p>
          </p:txBody>
        </p:sp>
      </p:grp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8901CA4-5243-F7F4-8A15-A7BDA8EB9F9A}"/>
              </a:ext>
            </a:extLst>
          </p:cNvPr>
          <p:cNvSpPr/>
          <p:nvPr/>
        </p:nvSpPr>
        <p:spPr>
          <a:xfrm>
            <a:off x="6332712" y="1521385"/>
            <a:ext cx="3513037" cy="532799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defTabSz="257810">
              <a:defRPr/>
            </a:pPr>
            <a:r>
              <a:rPr lang="en-US" altLang="zh-CN" sz="2000" b="1" kern="0" dirty="0">
                <a:solidFill>
                  <a:prstClr val="white"/>
                </a:solidFill>
                <a:latin typeface="Times New Roman" panose="02020603050405020304" pitchFamily="18" charset="0"/>
                <a:ea typeface="思源宋体 CN" panose="02020400000000000000" pitchFamily="18" charset="-122"/>
                <a:cs typeface="Times New Roman" panose="02020603050405020304" pitchFamily="18" charset="0"/>
              </a:rPr>
              <a:t>Operating Efficiency Insight</a:t>
            </a:r>
            <a:endParaRPr lang="zh-CN" altLang="en-US" sz="2000" b="1" kern="0" dirty="0">
              <a:solidFill>
                <a:prstClr val="white"/>
              </a:solidFill>
              <a:latin typeface="Times New Roman" panose="02020603050405020304" pitchFamily="18" charset="0"/>
              <a:ea typeface="思源宋体 CN" panose="02020400000000000000" pitchFamily="18" charset="-122"/>
              <a:cs typeface="Times New Roman" panose="02020603050405020304" pitchFamily="18" charset="0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F0C779BB-7A5A-626A-674B-6883DCC2D266}"/>
              </a:ext>
            </a:extLst>
          </p:cNvPr>
          <p:cNvGrpSpPr/>
          <p:nvPr/>
        </p:nvGrpSpPr>
        <p:grpSpPr>
          <a:xfrm>
            <a:off x="6374174" y="2401295"/>
            <a:ext cx="5060525" cy="1023101"/>
            <a:chOff x="7136015" y="3164835"/>
            <a:chExt cx="5060525" cy="1023101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97497B61-2D28-465B-ADAA-42046BD1C4AB}"/>
                </a:ext>
              </a:extLst>
            </p:cNvPr>
            <p:cNvGrpSpPr/>
            <p:nvPr/>
          </p:nvGrpSpPr>
          <p:grpSpPr>
            <a:xfrm>
              <a:off x="7136015" y="3285873"/>
              <a:ext cx="542925" cy="542925"/>
              <a:chOff x="7136015" y="3276600"/>
              <a:chExt cx="542925" cy="542925"/>
            </a:xfrm>
          </p:grpSpPr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D1B48FA6-B7C9-911B-1212-D80A363050B9}"/>
                  </a:ext>
                </a:extLst>
              </p:cNvPr>
              <p:cNvSpPr/>
              <p:nvPr/>
            </p:nvSpPr>
            <p:spPr>
              <a:xfrm>
                <a:off x="7136015" y="3276600"/>
                <a:ext cx="542925" cy="542925"/>
              </a:xfrm>
              <a:prstGeom prst="ellipse">
                <a:avLst/>
              </a:prstGeom>
              <a:solidFill>
                <a:srgbClr val="FA782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20" name="图形 19">
                <a:extLst>
                  <a:ext uri="{FF2B5EF4-FFF2-40B4-BE49-F238E27FC236}">
                    <a16:creationId xmlns:a16="http://schemas.microsoft.com/office/drawing/2014/main" id="{E2D3CF0F-02BB-2BA7-1363-3ECCEEA921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7222635" y="3363220"/>
                <a:ext cx="369685" cy="369685"/>
              </a:xfrm>
              <a:prstGeom prst="rect">
                <a:avLst/>
              </a:prstGeom>
            </p:spPr>
          </p:pic>
        </p:grp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CB8FA347-A123-756D-2D5E-B9D5B40CDD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65560" y="3164835"/>
              <a:ext cx="4430980" cy="102310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9pPr>
            </a:lstStyle>
            <a:p>
              <a:pPr>
                <a:lnSpc>
                  <a:spcPct val="150000"/>
                </a:lnSpc>
                <a:defRPr/>
              </a:pPr>
              <a:r>
                <a:rPr lang="en-US" altLang="zh-CN" sz="14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  <a:sym typeface="思源宋体 CN Heavy" panose="02020900000000000000" pitchFamily="18" charset="-122"/>
                </a:rPr>
                <a:t>While Fairview shows slightly better occupancy (lower vacancy), the vacancy gap is small (0.53 pp range) and does not offset New Hope’s return advantage.</a:t>
              </a:r>
              <a:endParaRPr lang="zh-CN" alt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思源宋体 CN" panose="02020400000000000000" pitchFamily="18" charset="-122"/>
                <a:cs typeface="Times New Roman" panose="02020603050405020304" pitchFamily="18" charset="0"/>
                <a:sym typeface="思源宋体 CN Heavy" panose="02020900000000000000" pitchFamily="18" charset="-122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0428EB76-94CC-A456-7086-8F1941203D2A}"/>
              </a:ext>
            </a:extLst>
          </p:cNvPr>
          <p:cNvGrpSpPr/>
          <p:nvPr/>
        </p:nvGrpSpPr>
        <p:grpSpPr>
          <a:xfrm>
            <a:off x="6374174" y="3662917"/>
            <a:ext cx="5060525" cy="2315762"/>
            <a:chOff x="7136015" y="4702346"/>
            <a:chExt cx="5060525" cy="2315762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FC74A687-C3EC-513B-E5AD-6FDC018A1255}"/>
                </a:ext>
              </a:extLst>
            </p:cNvPr>
            <p:cNvGrpSpPr/>
            <p:nvPr/>
          </p:nvGrpSpPr>
          <p:grpSpPr>
            <a:xfrm>
              <a:off x="7136015" y="4809100"/>
              <a:ext cx="542925" cy="542925"/>
              <a:chOff x="7136015" y="4412562"/>
              <a:chExt cx="542925" cy="542925"/>
            </a:xfrm>
          </p:grpSpPr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7344B449-0353-D5EC-D2D2-3EE087926DEF}"/>
                  </a:ext>
                </a:extLst>
              </p:cNvPr>
              <p:cNvSpPr/>
              <p:nvPr/>
            </p:nvSpPr>
            <p:spPr>
              <a:xfrm>
                <a:off x="7136015" y="4412562"/>
                <a:ext cx="542925" cy="542925"/>
              </a:xfrm>
              <a:prstGeom prst="ellipse">
                <a:avLst/>
              </a:prstGeom>
              <a:solidFill>
                <a:srgbClr val="0070C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26" name="图形 9" descr="钻石_diamond">
                <a:extLst>
                  <a:ext uri="{FF2B5EF4-FFF2-40B4-BE49-F238E27FC236}">
                    <a16:creationId xmlns:a16="http://schemas.microsoft.com/office/drawing/2014/main" id="{91BB014A-98AB-87DC-762C-8F14B57775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7222634" y="4499181"/>
                <a:ext cx="369686" cy="369686"/>
              </a:xfrm>
              <a:prstGeom prst="rect">
                <a:avLst/>
              </a:prstGeom>
            </p:spPr>
          </p:pic>
        </p:grp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40829D33-B582-F1C4-B7D9-6B66981761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65560" y="4702346"/>
              <a:ext cx="4430980" cy="23157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9pPr>
            </a:lstStyle>
            <a:p>
              <a:pPr>
                <a:lnSpc>
                  <a:spcPct val="150000"/>
                </a:lnSpc>
                <a:defRPr/>
              </a:pPr>
              <a:r>
                <a:rPr lang="en-US" altLang="zh-CN" sz="14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  <a:sym typeface="思源宋体 CN Heavy" panose="02020900000000000000" pitchFamily="18" charset="-122"/>
                </a:rPr>
                <a:t>Operating Expense Ratio (OER) is a direct headwind to profitability. New Hope's structurally lower OER (50.26%) supports stronger cash flow conversion. 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4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  <a:sym typeface="思源宋体 CN Heavy" panose="02020900000000000000" pitchFamily="18" charset="-122"/>
                </a:rPr>
                <a:t>In contrast, Fairview suffers from a significant expense drag (57.56%), eroding nearly 7.5% more margin than New Hope, which limits its IRR potential despite high occupancy.</a:t>
              </a:r>
              <a:endParaRPr lang="zh-CN" alt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思源宋体 CN" panose="02020400000000000000" pitchFamily="18" charset="-122"/>
                <a:cs typeface="Times New Roman" panose="02020603050405020304" pitchFamily="18" charset="0"/>
                <a:sym typeface="思源宋体 CN Heavy" panose="02020900000000000000" pitchFamily="18" charset="-122"/>
              </a:endParaRPr>
            </a:p>
          </p:txBody>
        </p:sp>
      </p:grp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295DC8E1-599A-695E-38D7-98D98228C4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3237552"/>
              </p:ext>
            </p:extLst>
          </p:nvPr>
        </p:nvGraphicFramePr>
        <p:xfrm>
          <a:off x="449056" y="2598320"/>
          <a:ext cx="5368772" cy="2541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1322">
                  <a:extLst>
                    <a:ext uri="{9D8B030D-6E8A-4147-A177-3AD203B41FA5}">
                      <a16:colId xmlns:a16="http://schemas.microsoft.com/office/drawing/2014/main" val="1732225178"/>
                    </a:ext>
                  </a:extLst>
                </a:gridCol>
                <a:gridCol w="1957561">
                  <a:extLst>
                    <a:ext uri="{9D8B030D-6E8A-4147-A177-3AD203B41FA5}">
                      <a16:colId xmlns:a16="http://schemas.microsoft.com/office/drawing/2014/main" val="2463830403"/>
                    </a:ext>
                  </a:extLst>
                </a:gridCol>
                <a:gridCol w="1889889">
                  <a:extLst>
                    <a:ext uri="{9D8B030D-6E8A-4147-A177-3AD203B41FA5}">
                      <a16:colId xmlns:a16="http://schemas.microsoft.com/office/drawing/2014/main" val="4278657344"/>
                    </a:ext>
                  </a:extLst>
                </a:gridCol>
              </a:tblGrid>
              <a:tr h="92832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Avg Vacancy (%)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Avg OER (%)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4987536"/>
                  </a:ext>
                </a:extLst>
              </a:tr>
              <a:tr h="53783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 Hope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50.26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0994798"/>
                  </a:ext>
                </a:extLst>
              </a:tr>
              <a:tr h="53783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Springfield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52.05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5635100"/>
                  </a:ext>
                </a:extLst>
              </a:tr>
              <a:tr h="53783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Fairview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57.56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1372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5323448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D76C7-0C34-18A0-22F5-B61DD8A91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4135F337-9A58-25CA-34FC-D8351C479B2C}"/>
              </a:ext>
            </a:extLst>
          </p:cNvPr>
          <p:cNvGrpSpPr/>
          <p:nvPr/>
        </p:nvGrpSpPr>
        <p:grpSpPr>
          <a:xfrm>
            <a:off x="184152" y="203959"/>
            <a:ext cx="6439932" cy="632426"/>
            <a:chOff x="262864" y="138417"/>
            <a:chExt cx="6439932" cy="632426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C3A50C99-EA4C-E35B-65EA-C34706D81122}"/>
                </a:ext>
              </a:extLst>
            </p:cNvPr>
            <p:cNvGrpSpPr/>
            <p:nvPr/>
          </p:nvGrpSpPr>
          <p:grpSpPr>
            <a:xfrm>
              <a:off x="262864" y="138417"/>
              <a:ext cx="4828032" cy="632426"/>
              <a:chOff x="482600" y="451413"/>
              <a:chExt cx="4828032" cy="437588"/>
            </a:xfrm>
          </p:grpSpPr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69EA19C3-11DB-26BD-5EE2-C36ED29A7CDB}"/>
                  </a:ext>
                </a:extLst>
              </p:cNvPr>
              <p:cNvSpPr/>
              <p:nvPr/>
            </p:nvSpPr>
            <p:spPr>
              <a:xfrm>
                <a:off x="544576" y="451413"/>
                <a:ext cx="4766056" cy="437587"/>
              </a:xfrm>
              <a:prstGeom prst="rect">
                <a:avLst/>
              </a:prstGeom>
              <a:gradFill flip="none" rotWithShape="1">
                <a:gsLst>
                  <a:gs pos="0">
                    <a:srgbClr val="0070C0">
                      <a:alpha val="0"/>
                    </a:srgbClr>
                  </a:gs>
                  <a:gs pos="100000">
                    <a:srgbClr val="0070C0">
                      <a:alpha val="5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宋体 CN Light" panose="02020300000000000000" pitchFamily="18" charset="-122"/>
                  <a:cs typeface="Times New Roman" panose="02020603050405020304" pitchFamily="18" charset="0"/>
                  <a:sym typeface="+mn-lt"/>
                </a:endParaRPr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06DD0626-A255-E002-6DB7-0F1970053105}"/>
                  </a:ext>
                </a:extLst>
              </p:cNvPr>
              <p:cNvSpPr/>
              <p:nvPr/>
            </p:nvSpPr>
            <p:spPr>
              <a:xfrm>
                <a:off x="482600" y="451413"/>
                <a:ext cx="61976" cy="437588"/>
              </a:xfrm>
              <a:prstGeom prst="rect">
                <a:avLst/>
              </a:prstGeom>
              <a:solidFill>
                <a:srgbClr val="0070C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宋体 CN Light" panose="02020300000000000000" pitchFamily="18" charset="-122"/>
                  <a:cs typeface="Times New Roman" panose="02020603050405020304" pitchFamily="18" charset="0"/>
                  <a:sym typeface="+mn-lt"/>
                </a:endParaRPr>
              </a:p>
            </p:txBody>
          </p:sp>
        </p:grp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1F9A7BFE-C50E-B525-7A7F-D7B1DC96602B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386815" y="193019"/>
              <a:ext cx="6315981" cy="52322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defTabSz="1219200">
                <a:lnSpc>
                  <a:spcPct val="100000"/>
                </a:lnSpc>
                <a:spcBef>
                  <a:spcPct val="0"/>
                </a:spcBef>
                <a:buFont typeface="思源宋体 CN Heavy" panose="02020900000000000000" pitchFamily="18" charset="-122"/>
                <a:buNone/>
                <a:defRPr/>
              </a:pPr>
              <a:r>
                <a:rPr lang="en-US" altLang="zh-CN" sz="28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Times New Roman" panose="02020603050405020304" pitchFamily="18" charset="0"/>
                  <a:ea typeface="思源宋体 CN Heavy" panose="02020900000000000000" pitchFamily="18" charset="-122"/>
                  <a:cs typeface="Times New Roman" panose="02020603050405020304" pitchFamily="18" charset="0"/>
                </a:rPr>
                <a:t>Market Specific Risk Factors</a:t>
              </a:r>
              <a:endParaRPr lang="zh-CN" alt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AFAF2C9-ED27-B1A5-4D5B-917C32244073}"/>
              </a:ext>
            </a:extLst>
          </p:cNvPr>
          <p:cNvSpPr/>
          <p:nvPr/>
        </p:nvSpPr>
        <p:spPr>
          <a:xfrm>
            <a:off x="250657" y="1578934"/>
            <a:ext cx="3646968" cy="4853764"/>
          </a:xfrm>
          <a:prstGeom prst="roundRect">
            <a:avLst/>
          </a:prstGeom>
          <a:noFill/>
          <a:ln w="57150">
            <a:solidFill>
              <a:srgbClr val="FA78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3EBA141-D31F-C513-441C-54BF333D10AF}"/>
              </a:ext>
            </a:extLst>
          </p:cNvPr>
          <p:cNvSpPr/>
          <p:nvPr/>
        </p:nvSpPr>
        <p:spPr>
          <a:xfrm>
            <a:off x="4272516" y="1578934"/>
            <a:ext cx="3646968" cy="4853763"/>
          </a:xfrm>
          <a:prstGeom prst="round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E933625-AF44-2588-3D2C-261F72053C8D}"/>
              </a:ext>
            </a:extLst>
          </p:cNvPr>
          <p:cNvSpPr/>
          <p:nvPr/>
        </p:nvSpPr>
        <p:spPr>
          <a:xfrm>
            <a:off x="8294375" y="1578935"/>
            <a:ext cx="3646968" cy="4853762"/>
          </a:xfrm>
          <a:prstGeom prst="roundRect">
            <a:avLst/>
          </a:prstGeom>
          <a:noFill/>
          <a:ln w="57150">
            <a:solidFill>
              <a:srgbClr val="FA78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C37627-D8AC-6D5B-B6B2-DB7990BB2E30}"/>
              </a:ext>
            </a:extLst>
          </p:cNvPr>
          <p:cNvSpPr txBox="1"/>
          <p:nvPr/>
        </p:nvSpPr>
        <p:spPr>
          <a:xfrm>
            <a:off x="456585" y="1933791"/>
            <a:ext cx="3339237" cy="4233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Hope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36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Risk: Vacancy 10.01% is slightly above Fairview (+0.29 pp) → modest lease-up risk.</a:t>
            </a:r>
          </a:p>
          <a:p>
            <a:pPr>
              <a:lnSpc>
                <a:spcPts val="236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36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Impact: Lower effective rent can slow NOI realization early in the hold.</a:t>
            </a:r>
          </a:p>
          <a:p>
            <a:pPr>
              <a:lnSpc>
                <a:spcPts val="236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36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Mitigation: Underwrite +1 pp vacancy stress and fund a lease-up/marketing reserve.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BBBC15-44B8-7299-1CDF-F11287524C8A}"/>
              </a:ext>
            </a:extLst>
          </p:cNvPr>
          <p:cNvSpPr txBox="1"/>
          <p:nvPr/>
        </p:nvSpPr>
        <p:spPr>
          <a:xfrm>
            <a:off x="4491860" y="1933791"/>
            <a:ext cx="3280541" cy="3926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Fairview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36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Risk: High cost structure - OER 57.56% (+7.30 pp vs New Hope).</a:t>
            </a:r>
          </a:p>
          <a:p>
            <a:pPr>
              <a:lnSpc>
                <a:spcPts val="236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36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Impact: Expense drag compresses NOI and limits IRR upside.</a:t>
            </a:r>
          </a:p>
          <a:p>
            <a:pPr>
              <a:lnSpc>
                <a:spcPts val="236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36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Mitigation/Condition: Invest only with a clear cost-down plan (ops + capex) and contingency reserves.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F00BBA-B81A-8B4D-01E6-9E545D653D28}"/>
              </a:ext>
            </a:extLst>
          </p:cNvPr>
          <p:cNvSpPr txBox="1"/>
          <p:nvPr/>
        </p:nvSpPr>
        <p:spPr>
          <a:xfrm>
            <a:off x="8538893" y="1933791"/>
            <a:ext cx="3327042" cy="4209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Springfield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36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Risk: Growth stagnation - NOI CAGR 1.0% with IRR 4.03%.</a:t>
            </a:r>
          </a:p>
          <a:p>
            <a:pPr>
              <a:lnSpc>
                <a:spcPts val="236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36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Impact: Weak reward for similar vacancy levels; limited valuation expansion.</a:t>
            </a:r>
          </a:p>
          <a:p>
            <a:pPr>
              <a:lnSpc>
                <a:spcPts val="236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36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Decision: Deprioritize unless a specific catalyst/value-add thesis is identified.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1FDEE9-8718-911B-E0F8-F5C8EFA41463}"/>
              </a:ext>
            </a:extLst>
          </p:cNvPr>
          <p:cNvSpPr txBox="1"/>
          <p:nvPr/>
        </p:nvSpPr>
        <p:spPr>
          <a:xfrm>
            <a:off x="332282" y="798083"/>
            <a:ext cx="1169974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is evaluated using vacancy (demand risk) and OER (cost risk), then weighed against return outcomes (NOI CAGR, IRR).</a:t>
            </a:r>
          </a:p>
        </p:txBody>
      </p:sp>
      <p:sp>
        <p:nvSpPr>
          <p:cNvPr id="25" name="矩形: 圆角 8">
            <a:extLst>
              <a:ext uri="{FF2B5EF4-FFF2-40B4-BE49-F238E27FC236}">
                <a16:creationId xmlns:a16="http://schemas.microsoft.com/office/drawing/2014/main" id="{B98A849A-CC83-7F5E-1191-1813AAE69533}"/>
              </a:ext>
            </a:extLst>
          </p:cNvPr>
          <p:cNvSpPr/>
          <p:nvPr/>
        </p:nvSpPr>
        <p:spPr>
          <a:xfrm>
            <a:off x="456586" y="2519916"/>
            <a:ext cx="2403572" cy="398755"/>
          </a:xfrm>
          <a:prstGeom prst="roundRect">
            <a:avLst>
              <a:gd name="adj" fmla="val 50000"/>
            </a:avLst>
          </a:prstGeom>
          <a:solidFill>
            <a:srgbClr val="FA782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思源宋体 CN" panose="02020400000000000000" pitchFamily="18" charset="-122"/>
                <a:cs typeface="Times New Roman" panose="02020603050405020304" pitchFamily="18" charset="0"/>
              </a:rPr>
              <a:t>Demand/Lease-up Risk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思源宋体 CN" panose="02020400000000000000" pitchFamily="18" charset="-122"/>
              <a:cs typeface="Times New Roman" panose="02020603050405020304" pitchFamily="18" charset="0"/>
            </a:endParaRPr>
          </a:p>
        </p:txBody>
      </p:sp>
      <p:sp>
        <p:nvSpPr>
          <p:cNvPr id="26" name="矩形: 圆角 9">
            <a:extLst>
              <a:ext uri="{FF2B5EF4-FFF2-40B4-BE49-F238E27FC236}">
                <a16:creationId xmlns:a16="http://schemas.microsoft.com/office/drawing/2014/main" id="{9D68A459-6829-1843-F990-1F4EDED32DE5}"/>
              </a:ext>
            </a:extLst>
          </p:cNvPr>
          <p:cNvSpPr/>
          <p:nvPr/>
        </p:nvSpPr>
        <p:spPr>
          <a:xfrm>
            <a:off x="4473650" y="2519916"/>
            <a:ext cx="1884227" cy="398755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思源宋体 CN" panose="02020400000000000000" pitchFamily="18" charset="-122"/>
                <a:cs typeface="Times New Roman" panose="02020603050405020304" pitchFamily="18" charset="0"/>
              </a:rPr>
              <a:t>Cost/Margin Risk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思源宋体 CN" panose="02020400000000000000" pitchFamily="18" charset="-122"/>
              <a:cs typeface="Times New Roman" panose="02020603050405020304" pitchFamily="18" charset="0"/>
            </a:endParaRPr>
          </a:p>
        </p:txBody>
      </p:sp>
      <p:sp>
        <p:nvSpPr>
          <p:cNvPr id="27" name="矩形: 圆角 8">
            <a:extLst>
              <a:ext uri="{FF2B5EF4-FFF2-40B4-BE49-F238E27FC236}">
                <a16:creationId xmlns:a16="http://schemas.microsoft.com/office/drawing/2014/main" id="{A1E3E823-CFCB-BA4D-14F0-4BB5C15D0AA0}"/>
              </a:ext>
            </a:extLst>
          </p:cNvPr>
          <p:cNvSpPr/>
          <p:nvPr/>
        </p:nvSpPr>
        <p:spPr>
          <a:xfrm>
            <a:off x="8563072" y="2519916"/>
            <a:ext cx="2165179" cy="398755"/>
          </a:xfrm>
          <a:prstGeom prst="roundRect">
            <a:avLst>
              <a:gd name="adj" fmla="val 50000"/>
            </a:avLst>
          </a:prstGeom>
          <a:solidFill>
            <a:srgbClr val="FA782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思源宋体 CN" panose="02020400000000000000" pitchFamily="18" charset="-122"/>
                <a:cs typeface="Times New Roman" panose="02020603050405020304" pitchFamily="18" charset="0"/>
              </a:rPr>
              <a:t>Growth/Upside Risk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思源宋体 CN" panose="02020400000000000000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413350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CA87F-FA99-F032-A5DD-58C1D5611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83618937-4A76-41A6-6E7E-FCC71F430CD9}"/>
              </a:ext>
            </a:extLst>
          </p:cNvPr>
          <p:cNvGrpSpPr/>
          <p:nvPr/>
        </p:nvGrpSpPr>
        <p:grpSpPr>
          <a:xfrm>
            <a:off x="184152" y="203959"/>
            <a:ext cx="8119876" cy="632426"/>
            <a:chOff x="262864" y="138417"/>
            <a:chExt cx="8119876" cy="632426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1A747D36-C80A-8E75-0CDA-8BDC2AEB3A6B}"/>
                </a:ext>
              </a:extLst>
            </p:cNvPr>
            <p:cNvGrpSpPr/>
            <p:nvPr/>
          </p:nvGrpSpPr>
          <p:grpSpPr>
            <a:xfrm>
              <a:off x="262864" y="138417"/>
              <a:ext cx="4828032" cy="632426"/>
              <a:chOff x="482600" y="451413"/>
              <a:chExt cx="4828032" cy="437588"/>
            </a:xfrm>
          </p:grpSpPr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6A42455E-288A-F2D5-726E-62F126A9C97F}"/>
                  </a:ext>
                </a:extLst>
              </p:cNvPr>
              <p:cNvSpPr/>
              <p:nvPr/>
            </p:nvSpPr>
            <p:spPr>
              <a:xfrm>
                <a:off x="544576" y="451413"/>
                <a:ext cx="4766056" cy="437587"/>
              </a:xfrm>
              <a:prstGeom prst="rect">
                <a:avLst/>
              </a:prstGeom>
              <a:gradFill flip="none" rotWithShape="1">
                <a:gsLst>
                  <a:gs pos="0">
                    <a:srgbClr val="0070C0">
                      <a:alpha val="0"/>
                    </a:srgbClr>
                  </a:gs>
                  <a:gs pos="100000">
                    <a:srgbClr val="0070C0">
                      <a:alpha val="5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宋体 CN Light" panose="02020300000000000000" pitchFamily="18" charset="-122"/>
                  <a:cs typeface="Times New Roman" panose="02020603050405020304" pitchFamily="18" charset="0"/>
                  <a:sym typeface="+mn-lt"/>
                </a:endParaRPr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4DB2606F-DC39-A3D0-AFEE-BEE03F6C81F7}"/>
                  </a:ext>
                </a:extLst>
              </p:cNvPr>
              <p:cNvSpPr/>
              <p:nvPr/>
            </p:nvSpPr>
            <p:spPr>
              <a:xfrm>
                <a:off x="482600" y="451413"/>
                <a:ext cx="61976" cy="437588"/>
              </a:xfrm>
              <a:prstGeom prst="rect">
                <a:avLst/>
              </a:prstGeom>
              <a:solidFill>
                <a:srgbClr val="0070C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宋体 CN Light" panose="02020300000000000000" pitchFamily="18" charset="-122"/>
                  <a:cs typeface="Times New Roman" panose="02020603050405020304" pitchFamily="18" charset="0"/>
                  <a:sym typeface="+mn-lt"/>
                </a:endParaRPr>
              </a:p>
            </p:txBody>
          </p:sp>
        </p:grp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2CBA9BDA-C016-60E6-8C04-DB4A92F4623B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386815" y="193019"/>
              <a:ext cx="7995925" cy="52322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lvl="0">
                <a:defRPr/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思源宋体 CN Heavy" panose="02020900000000000000" charset="-122"/>
                  <a:cs typeface="Times New Roman" panose="02020603050405020304" pitchFamily="18" charset="0"/>
                  <a:sym typeface="+mn-ea"/>
                </a:rPr>
                <a:t>Strategic Trade-offs &amp; Risk-Adjusted Returns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思源宋体 CN Heavy" panose="02020900000000000000" charset="-122"/>
                <a:cs typeface="Times New Roman" panose="02020603050405020304" pitchFamily="18" charset="0"/>
                <a:sym typeface="+mn-ea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C574A16B-95F2-16ED-D28C-8AF91B6CD6A1}"/>
              </a:ext>
            </a:extLst>
          </p:cNvPr>
          <p:cNvGrpSpPr/>
          <p:nvPr/>
        </p:nvGrpSpPr>
        <p:grpSpPr>
          <a:xfrm>
            <a:off x="585831" y="1660014"/>
            <a:ext cx="3023431" cy="4280116"/>
            <a:chOff x="904819" y="1247775"/>
            <a:chExt cx="3023431" cy="4280116"/>
          </a:xfrm>
        </p:grpSpPr>
        <p:sp>
          <p:nvSpPr>
            <p:cNvPr id="4" name="矩形: 圆顶角 3">
              <a:extLst>
                <a:ext uri="{FF2B5EF4-FFF2-40B4-BE49-F238E27FC236}">
                  <a16:creationId xmlns:a16="http://schemas.microsoft.com/office/drawing/2014/main" id="{F456B5B1-D2EC-6DE7-FDCF-13269390C5BC}"/>
                </a:ext>
              </a:extLst>
            </p:cNvPr>
            <p:cNvSpPr/>
            <p:nvPr/>
          </p:nvSpPr>
          <p:spPr>
            <a:xfrm>
              <a:off x="904819" y="1247775"/>
              <a:ext cx="3023431" cy="4280116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762000" algn="ctr" rotWithShape="0">
                <a:srgbClr val="4865C8">
                  <a:alpha val="10000"/>
                </a:srgb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思源宋体 CN" panose="02020400000000000000" pitchFamily="18" charset="-122"/>
                <a:cs typeface="Times New Roman" panose="02020603050405020304" pitchFamily="18" charset="0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604DCB77-5025-26AD-12FA-F07E42FDCB9C}"/>
                </a:ext>
              </a:extLst>
            </p:cNvPr>
            <p:cNvSpPr txBox="1"/>
            <p:nvPr/>
          </p:nvSpPr>
          <p:spPr>
            <a:xfrm>
              <a:off x="1034416" y="2148344"/>
              <a:ext cx="2789087" cy="19002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6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</a:rPr>
                <a:t>2.54%</a:t>
              </a:r>
            </a:p>
            <a:p>
              <a:pPr lvl="0" algn="ctr" defTabSz="541655" hangingPunct="0">
                <a:lnSpc>
                  <a:spcPct val="150000"/>
                </a:lnSpc>
                <a:defRPr/>
              </a:pPr>
              <a:r>
                <a:rPr lang="en-US" altLang="zh-CN" sz="1400" kern="0" dirty="0">
                  <a:solidFill>
                    <a:prstClr val="white"/>
                  </a:solidFill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  <a:sym typeface="+mn-lt"/>
                </a:rPr>
                <a:t>IRR Alpha vs. Fairview</a:t>
              </a:r>
              <a:endPara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思源宋体 CN" panose="02020400000000000000" pitchFamily="18" charset="-122"/>
                <a:cs typeface="Times New Roman" panose="02020603050405020304" pitchFamily="18" charset="0"/>
                <a:sym typeface="+mn-lt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09EC88E-748F-0816-05A3-8CDF918C2706}"/>
              </a:ext>
            </a:extLst>
          </p:cNvPr>
          <p:cNvGrpSpPr/>
          <p:nvPr/>
        </p:nvGrpSpPr>
        <p:grpSpPr>
          <a:xfrm>
            <a:off x="4222754" y="1407687"/>
            <a:ext cx="7549249" cy="1311727"/>
            <a:chOff x="478545" y="1580168"/>
            <a:chExt cx="7549249" cy="1311727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1931DB9A-1866-1B59-8CC8-3A2CCDEB96B1}"/>
                </a:ext>
              </a:extLst>
            </p:cNvPr>
            <p:cNvSpPr/>
            <p:nvPr/>
          </p:nvSpPr>
          <p:spPr>
            <a:xfrm>
              <a:off x="478545" y="1580168"/>
              <a:ext cx="4140188" cy="532799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257810">
                <a:defRPr/>
              </a:pPr>
              <a:r>
                <a:rPr lang="en-US" altLang="zh-CN" sz="2000" b="1" kern="0" dirty="0">
                  <a:solidFill>
                    <a:prstClr val="white"/>
                  </a:solidFill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</a:rPr>
                <a:t>The Yield-Stability Trade-off</a:t>
              </a:r>
              <a:endParaRPr lang="zh-CN" altLang="en-US" sz="2000" b="1" kern="0" dirty="0">
                <a:solidFill>
                  <a:prstClr val="white"/>
                </a:solidFill>
                <a:latin typeface="Times New Roman" panose="02020603050405020304" pitchFamily="18" charset="0"/>
                <a:ea typeface="思源宋体 CN" panose="02020400000000000000" pitchFamily="18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B614EE00-37A1-D0B0-3998-4E5EB7247F85}"/>
                </a:ext>
              </a:extLst>
            </p:cNvPr>
            <p:cNvSpPr/>
            <p:nvPr/>
          </p:nvSpPr>
          <p:spPr>
            <a:xfrm>
              <a:off x="731094" y="2197474"/>
              <a:ext cx="7296700" cy="6944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257810" hangingPunct="0">
                <a:lnSpc>
                  <a:spcPct val="150000"/>
                </a:lnSpc>
              </a:pPr>
              <a:r>
                <a:rPr lang="en-US" altLang="zh-CN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  <a:sym typeface="+mn-lt"/>
                </a:rPr>
                <a:t>Across markets, New Hope offers the highest return profile, while Fairview is marginally more stable on occupancy. The stability gap is small, but the return gap is meaningful.</a:t>
              </a:r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思源宋体 CN" panose="02020400000000000000" pitchFamily="18" charset="-122"/>
                <a:cs typeface="Times New Roman" panose="02020603050405020304" pitchFamily="18" charset="0"/>
                <a:sym typeface="+mn-lt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31D4D38C-32EE-E64F-753B-E841EE876C9E}"/>
              </a:ext>
            </a:extLst>
          </p:cNvPr>
          <p:cNvGrpSpPr/>
          <p:nvPr/>
        </p:nvGrpSpPr>
        <p:grpSpPr>
          <a:xfrm>
            <a:off x="4222754" y="2986070"/>
            <a:ext cx="7549249" cy="1248419"/>
            <a:chOff x="7136015" y="2932645"/>
            <a:chExt cx="7549249" cy="1248419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294C2E47-B942-D3ED-365F-B560BAF4CAC5}"/>
                </a:ext>
              </a:extLst>
            </p:cNvPr>
            <p:cNvGrpSpPr/>
            <p:nvPr/>
          </p:nvGrpSpPr>
          <p:grpSpPr>
            <a:xfrm>
              <a:off x="7136015" y="3285873"/>
              <a:ext cx="542925" cy="542925"/>
              <a:chOff x="7136015" y="3276600"/>
              <a:chExt cx="542925" cy="542925"/>
            </a:xfrm>
          </p:grpSpPr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90BBAD90-B4EF-CFE9-75D6-9A7896244DAF}"/>
                  </a:ext>
                </a:extLst>
              </p:cNvPr>
              <p:cNvSpPr/>
              <p:nvPr/>
            </p:nvSpPr>
            <p:spPr>
              <a:xfrm>
                <a:off x="7136015" y="3276600"/>
                <a:ext cx="542925" cy="542925"/>
              </a:xfrm>
              <a:prstGeom prst="ellipse">
                <a:avLst/>
              </a:prstGeom>
              <a:solidFill>
                <a:srgbClr val="FA782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20" name="图形 19">
                <a:extLst>
                  <a:ext uri="{FF2B5EF4-FFF2-40B4-BE49-F238E27FC236}">
                    <a16:creationId xmlns:a16="http://schemas.microsoft.com/office/drawing/2014/main" id="{D32DB438-CAE1-29A3-8937-23AB829693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7222635" y="3363220"/>
                <a:ext cx="369685" cy="369685"/>
              </a:xfrm>
              <a:prstGeom prst="rect">
                <a:avLst/>
              </a:prstGeom>
            </p:spPr>
          </p:pic>
        </p:grp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7CF651E2-071D-0F2F-EFF1-36599C7B3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94978" y="2932645"/>
              <a:ext cx="6890286" cy="124841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9pPr>
            </a:lstStyle>
            <a:p>
              <a:pPr>
                <a:lnSpc>
                  <a:spcPct val="150000"/>
                </a:lnSpc>
                <a:defRPr/>
              </a:pPr>
              <a:r>
                <a:rPr lang="en-US" altLang="zh-CN" sz="20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  <a:sym typeface="思源宋体 CN Heavy" panose="02020900000000000000" pitchFamily="18" charset="-122"/>
                </a:rPr>
                <a:t>New Hope (Selected)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  <a:sym typeface="思源宋体 CN Heavy" panose="02020900000000000000" pitchFamily="18" charset="-122"/>
                </a:rPr>
                <a:t>We trade 0.29 pp occupancy stability (vacancy proxy) for +2.54 pp IRR alpha vs. Fairview - an attractive risk-adjusted exchange aligned with Skyline’s mandate.</a:t>
              </a:r>
              <a:endParaRPr lang="zh-CN" altLang="en-US" sz="16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思源宋体 CN" panose="02020400000000000000" pitchFamily="18" charset="-122"/>
                <a:cs typeface="Times New Roman" panose="02020603050405020304" pitchFamily="18" charset="0"/>
                <a:sym typeface="思源宋体 CN Heavy" panose="02020900000000000000" pitchFamily="18" charset="-122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F4A72C29-7377-E765-2A29-37825648DBB3}"/>
              </a:ext>
            </a:extLst>
          </p:cNvPr>
          <p:cNvGrpSpPr/>
          <p:nvPr/>
        </p:nvGrpSpPr>
        <p:grpSpPr>
          <a:xfrm>
            <a:off x="4222754" y="4645758"/>
            <a:ext cx="7643173" cy="1248419"/>
            <a:chOff x="7136015" y="4455872"/>
            <a:chExt cx="7643173" cy="1248419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1903D5DD-5E29-0F53-B728-29EC9279FDDE}"/>
                </a:ext>
              </a:extLst>
            </p:cNvPr>
            <p:cNvGrpSpPr/>
            <p:nvPr/>
          </p:nvGrpSpPr>
          <p:grpSpPr>
            <a:xfrm>
              <a:off x="7136015" y="4809100"/>
              <a:ext cx="542925" cy="542925"/>
              <a:chOff x="7136015" y="4412562"/>
              <a:chExt cx="542925" cy="542925"/>
            </a:xfrm>
          </p:grpSpPr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E93C488B-C7CC-F35B-3113-E1C540987347}"/>
                  </a:ext>
                </a:extLst>
              </p:cNvPr>
              <p:cNvSpPr/>
              <p:nvPr/>
            </p:nvSpPr>
            <p:spPr>
              <a:xfrm>
                <a:off x="7136015" y="4412562"/>
                <a:ext cx="542925" cy="542925"/>
              </a:xfrm>
              <a:prstGeom prst="ellipse">
                <a:avLst/>
              </a:prstGeom>
              <a:solidFill>
                <a:srgbClr val="0070C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26" name="图形 9" descr="钻石_diamond">
                <a:extLst>
                  <a:ext uri="{FF2B5EF4-FFF2-40B4-BE49-F238E27FC236}">
                    <a16:creationId xmlns:a16="http://schemas.microsoft.com/office/drawing/2014/main" id="{0187C529-DBC9-B81F-D044-0F54648764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7222634" y="4499181"/>
                <a:ext cx="369686" cy="369686"/>
              </a:xfrm>
              <a:prstGeom prst="rect">
                <a:avLst/>
              </a:prstGeom>
            </p:spPr>
          </p:pic>
        </p:grp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B9B5E637-AE61-29DE-F183-AD2F59D33D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94977" y="4455872"/>
              <a:ext cx="6984211" cy="124841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9pPr>
            </a:lstStyle>
            <a:p>
              <a:pPr>
                <a:lnSpc>
                  <a:spcPct val="150000"/>
                </a:lnSpc>
                <a:defRPr/>
              </a:pPr>
              <a:r>
                <a:rPr lang="en-US" altLang="zh-CN" sz="20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  <a:sym typeface="思源宋体 CN Heavy" panose="02020900000000000000" pitchFamily="18" charset="-122"/>
                </a:rPr>
                <a:t>Risk Action (Defensive Growth)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  <a:sym typeface="思源宋体 CN Heavy" panose="02020900000000000000" pitchFamily="18" charset="-122"/>
                </a:rPr>
                <a:t>Underwrite +1 pp vacancy stress, fund a lease-up/marketing reserve, and prioritize tenant retention to protect NOI while capturing growth.</a:t>
              </a:r>
              <a:endParaRPr lang="zh-CN" altLang="en-US" sz="16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思源宋体 CN" panose="02020400000000000000" pitchFamily="18" charset="-122"/>
                <a:cs typeface="Times New Roman" panose="02020603050405020304" pitchFamily="18" charset="0"/>
                <a:sym typeface="思源宋体 CN Heavy" panose="02020900000000000000" pitchFamily="18" charset="-122"/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720B5331-AD2E-DD5B-BC4F-93019B8AEB02}"/>
              </a:ext>
            </a:extLst>
          </p:cNvPr>
          <p:cNvSpPr txBox="1"/>
          <p:nvPr/>
        </p:nvSpPr>
        <p:spPr>
          <a:xfrm>
            <a:off x="-938915" y="4564498"/>
            <a:ext cx="6097772" cy="786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541655" hangingPunct="0">
              <a:lnSpc>
                <a:spcPct val="150000"/>
              </a:lnSpc>
              <a:defRPr/>
            </a:pPr>
            <a:r>
              <a:rPr lang="en-US" sz="1600" b="1" kern="0" dirty="0">
                <a:solidFill>
                  <a:prstClr val="white"/>
                </a:solidFill>
                <a:latin typeface="Times New Roman" panose="02020603050405020304" pitchFamily="18" charset="0"/>
                <a:ea typeface="思源宋体 CN" panose="02020400000000000000" pitchFamily="18" charset="-122"/>
                <a:cs typeface="Times New Roman" panose="02020603050405020304" pitchFamily="18" charset="0"/>
              </a:rPr>
              <a:t>IRR: 7.30% vs 4.76%</a:t>
            </a:r>
          </a:p>
          <a:p>
            <a:pPr algn="ctr" defTabSz="541655" hangingPunct="0">
              <a:lnSpc>
                <a:spcPct val="150000"/>
              </a:lnSpc>
              <a:defRPr/>
            </a:pPr>
            <a:r>
              <a:rPr lang="en-US" sz="1600" b="1" kern="0" dirty="0">
                <a:solidFill>
                  <a:prstClr val="white"/>
                </a:solidFill>
                <a:latin typeface="Times New Roman" panose="02020603050405020304" pitchFamily="18" charset="0"/>
                <a:ea typeface="思源宋体 CN" panose="02020400000000000000" pitchFamily="18" charset="-122"/>
                <a:cs typeface="Times New Roman" panose="02020603050405020304" pitchFamily="18" charset="0"/>
              </a:rPr>
              <a:t>Vacancy: 10.01% vs 9.72%</a:t>
            </a:r>
          </a:p>
        </p:txBody>
      </p:sp>
    </p:spTree>
    <p:extLst>
      <p:ext uri="{BB962C8B-B14F-4D97-AF65-F5344CB8AC3E}">
        <p14:creationId xmlns:p14="http://schemas.microsoft.com/office/powerpoint/2010/main" val="3660517905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0AA13-7EF3-31B5-913B-E33F13440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 descr="城市的高楼大厦&#10;&#10;AI 生成的内容可能不正确。">
            <a:extLst>
              <a:ext uri="{FF2B5EF4-FFF2-40B4-BE49-F238E27FC236}">
                <a16:creationId xmlns:a16="http://schemas.microsoft.com/office/drawing/2014/main" id="{01A35596-820E-C685-02A6-1EBE8A65C3F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" y="0"/>
            <a:ext cx="12201033" cy="3361298"/>
          </a:xfrm>
          <a:prstGeom prst="rect">
            <a:avLst/>
          </a:prstGeom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2DF7423E-6C7C-64D3-B0CC-78A298A88F11}"/>
              </a:ext>
            </a:extLst>
          </p:cNvPr>
          <p:cNvSpPr/>
          <p:nvPr/>
        </p:nvSpPr>
        <p:spPr>
          <a:xfrm>
            <a:off x="2020186" y="2419350"/>
            <a:ext cx="7910624" cy="342899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思源宋体 CN" panose="02020400000000000000" pitchFamily="18" charset="-122"/>
              <a:cs typeface="Times New Roman" panose="02020603050405020304" pitchFamily="18" charset="0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7BD8EB4-0268-A023-35BD-88E65A62047F}"/>
              </a:ext>
            </a:extLst>
          </p:cNvPr>
          <p:cNvGrpSpPr/>
          <p:nvPr/>
        </p:nvGrpSpPr>
        <p:grpSpPr>
          <a:xfrm>
            <a:off x="2436683" y="2847973"/>
            <a:ext cx="2571751" cy="2571751"/>
            <a:chOff x="1480542" y="2514599"/>
            <a:chExt cx="2571751" cy="2571751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EE176780-4D1C-E6ED-6806-DD916DA25020}"/>
                </a:ext>
              </a:extLst>
            </p:cNvPr>
            <p:cNvGrpSpPr/>
            <p:nvPr/>
          </p:nvGrpSpPr>
          <p:grpSpPr>
            <a:xfrm>
              <a:off x="1480542" y="2514599"/>
              <a:ext cx="2571751" cy="2571751"/>
              <a:chOff x="1118592" y="2282587"/>
              <a:chExt cx="3070464" cy="3070464"/>
            </a:xfrm>
          </p:grpSpPr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CC006BD7-4365-8B99-0E17-5FBE4C5F20CE}"/>
                  </a:ext>
                </a:extLst>
              </p:cNvPr>
              <p:cNvGrpSpPr/>
              <p:nvPr/>
            </p:nvGrpSpPr>
            <p:grpSpPr>
              <a:xfrm flipH="1">
                <a:off x="1118592" y="2282587"/>
                <a:ext cx="3070464" cy="3070464"/>
                <a:chOff x="6172200" y="1658146"/>
                <a:chExt cx="3524931" cy="3524931"/>
              </a:xfrm>
            </p:grpSpPr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20430EC3-2A47-1840-BE9C-39DFA708BB8E}"/>
                    </a:ext>
                  </a:extLst>
                </p:cNvPr>
                <p:cNvSpPr/>
                <p:nvPr/>
              </p:nvSpPr>
              <p:spPr>
                <a:xfrm>
                  <a:off x="6299129" y="1785076"/>
                  <a:ext cx="3271072" cy="3271072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  <a:alpha val="10000"/>
                  </a:schemeClr>
                </a:solidFill>
                <a:ln>
                  <a:noFill/>
                </a:ln>
                <a:effectLst>
                  <a:outerShdw blurRad="762000" algn="ctr" rotWithShape="0">
                    <a:srgbClr val="0070C0">
                      <a:alpha val="10000"/>
                    </a:srgb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思源宋体 CN" panose="02020400000000000000" pitchFamily="18" charset="-122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24" name="组合 23">
                  <a:extLst>
                    <a:ext uri="{FF2B5EF4-FFF2-40B4-BE49-F238E27FC236}">
                      <a16:creationId xmlns:a16="http://schemas.microsoft.com/office/drawing/2014/main" id="{B1E43618-58D5-822B-8DD4-480AD8DECCF4}"/>
                    </a:ext>
                  </a:extLst>
                </p:cNvPr>
                <p:cNvGrpSpPr/>
                <p:nvPr/>
              </p:nvGrpSpPr>
              <p:grpSpPr>
                <a:xfrm>
                  <a:off x="6172200" y="1658146"/>
                  <a:ext cx="3524931" cy="3524931"/>
                  <a:chOff x="4591050" y="1619250"/>
                  <a:chExt cx="2543175" cy="2543175"/>
                </a:xfrm>
              </p:grpSpPr>
              <p:sp>
                <p:nvSpPr>
                  <p:cNvPr id="25" name="弧形 24">
                    <a:extLst>
                      <a:ext uri="{FF2B5EF4-FFF2-40B4-BE49-F238E27FC236}">
                        <a16:creationId xmlns:a16="http://schemas.microsoft.com/office/drawing/2014/main" id="{46F3D0AC-ECBD-2C05-3157-652012E735AC}"/>
                      </a:ext>
                    </a:extLst>
                  </p:cNvPr>
                  <p:cNvSpPr/>
                  <p:nvPr/>
                </p:nvSpPr>
                <p:spPr>
                  <a:xfrm>
                    <a:off x="4591050" y="1619250"/>
                    <a:ext cx="2543175" cy="2543175"/>
                  </a:xfrm>
                  <a:prstGeom prst="arc">
                    <a:avLst>
                      <a:gd name="adj1" fmla="val 13430332"/>
                      <a:gd name="adj2" fmla="val 529113"/>
                    </a:avLst>
                  </a:prstGeom>
                  <a:noFill/>
                  <a:ln w="317500" cap="rnd" cmpd="sng" algn="ctr">
                    <a:gradFill>
                      <a:gsLst>
                        <a:gs pos="22000">
                          <a:srgbClr val="FA7821"/>
                        </a:gs>
                        <a:gs pos="100000">
                          <a:schemeClr val="bg1">
                            <a:alpha val="0"/>
                          </a:schemeClr>
                        </a:gs>
                      </a:gsLst>
                      <a:lin ang="0" scaled="0"/>
                    </a:gra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思源宋体 CN" panose="02020400000000000000" pitchFamily="18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6" name="弧形 25">
                    <a:extLst>
                      <a:ext uri="{FF2B5EF4-FFF2-40B4-BE49-F238E27FC236}">
                        <a16:creationId xmlns:a16="http://schemas.microsoft.com/office/drawing/2014/main" id="{126BA761-67D3-44F9-E20D-76864755FBE2}"/>
                      </a:ext>
                    </a:extLst>
                  </p:cNvPr>
                  <p:cNvSpPr/>
                  <p:nvPr/>
                </p:nvSpPr>
                <p:spPr>
                  <a:xfrm flipH="1" flipV="1">
                    <a:off x="4591050" y="1619250"/>
                    <a:ext cx="2543175" cy="2543175"/>
                  </a:xfrm>
                  <a:prstGeom prst="arc">
                    <a:avLst>
                      <a:gd name="adj1" fmla="val 13430332"/>
                      <a:gd name="adj2" fmla="val 529113"/>
                    </a:avLst>
                  </a:prstGeom>
                  <a:noFill/>
                  <a:ln w="317500" cap="rnd" cmpd="sng" algn="ctr">
                    <a:gradFill>
                      <a:gsLst>
                        <a:gs pos="0">
                          <a:srgbClr val="FA7821"/>
                        </a:gs>
                        <a:gs pos="100000">
                          <a:sysClr val="window" lastClr="FFFFFF">
                            <a:alpha val="0"/>
                          </a:sysClr>
                        </a:gs>
                      </a:gsLst>
                      <a:lin ang="0" scaled="0"/>
                    </a:gra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思源宋体 CN" panose="02020400000000000000" pitchFamily="18" charset="-122"/>
                      <a:cs typeface="Times New Roman" panose="02020603050405020304" pitchFamily="18" charset="0"/>
                    </a:endParaRPr>
                  </a:p>
                </p:txBody>
              </p:sp>
            </p:grpSp>
          </p:grp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8E712DCD-BACE-710B-EBCE-A0B17EE65851}"/>
                  </a:ext>
                </a:extLst>
              </p:cNvPr>
              <p:cNvSpPr/>
              <p:nvPr/>
            </p:nvSpPr>
            <p:spPr>
              <a:xfrm>
                <a:off x="1620251" y="2784246"/>
                <a:ext cx="2067146" cy="2067146"/>
              </a:xfrm>
              <a:prstGeom prst="ellipse">
                <a:avLst/>
              </a:prstGeom>
              <a:gradFill flip="none" rotWithShape="1">
                <a:gsLst>
                  <a:gs pos="8000">
                    <a:schemeClr val="accent1">
                      <a:lumMod val="60000"/>
                      <a:lumOff val="40000"/>
                    </a:schemeClr>
                  </a:gs>
                  <a:gs pos="59000">
                    <a:srgbClr val="0070C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>
                <a:outerShdw blurRad="279400" dist="342900" dir="5400000" sx="88000" sy="88000" algn="t" rotWithShape="0">
                  <a:srgbClr val="0070C0">
                    <a:alpha val="20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CF933BF-6E57-C3E2-4C5A-DF9830FD61A1}"/>
                </a:ext>
              </a:extLst>
            </p:cNvPr>
            <p:cNvSpPr txBox="1"/>
            <p:nvPr/>
          </p:nvSpPr>
          <p:spPr>
            <a:xfrm>
              <a:off x="1700809" y="3200311"/>
              <a:ext cx="2131218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7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OPPOSans H" panose="00020600040101010101" pitchFamily="18" charset="-122"/>
                  <a:cs typeface="Times New Roman" panose="02020603050405020304" pitchFamily="18" charset="0"/>
                </a:rPr>
                <a:t>02</a:t>
              </a:r>
            </a:p>
          </p:txBody>
        </p:sp>
      </p:grpSp>
      <p:sp>
        <p:nvSpPr>
          <p:cNvPr id="33" name="文本框 20">
            <a:extLst>
              <a:ext uri="{FF2B5EF4-FFF2-40B4-BE49-F238E27FC236}">
                <a16:creationId xmlns:a16="http://schemas.microsoft.com/office/drawing/2014/main" id="{9B8613CF-2107-5D06-1F98-64A76A0BD1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2559" y="3453905"/>
            <a:ext cx="6777541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 algn="ctr" defTabSz="1219200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en-US" altLang="zh-CN" sz="6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Simulation</a:t>
            </a:r>
            <a:endParaRPr lang="zh-CN" altLang="en-US" sz="60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ea typeface="思源宋体 CN Heavy" panose="02020900000000000000" pitchFamily="18" charset="-122"/>
              <a:cs typeface="Times New Roman" panose="02020603050405020304" pitchFamily="18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A19DD4E-B1C0-1A8C-1AFB-385C5243DC37}"/>
              </a:ext>
            </a:extLst>
          </p:cNvPr>
          <p:cNvSpPr/>
          <p:nvPr/>
        </p:nvSpPr>
        <p:spPr>
          <a:xfrm>
            <a:off x="4289963" y="4565429"/>
            <a:ext cx="5776789" cy="395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20000"/>
              </a:lnSpc>
              <a:defRPr/>
            </a:pPr>
            <a:r>
              <a:rPr lang="en-US" altLang="zh-CN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Based Unit Mix Optimization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Times New Roman" panose="02020603050405020304" pitchFamily="18" charset="0"/>
              <a:ea typeface="思源宋体 CN" panose="02020400000000000000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514638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F76AD-38AA-0A59-D85D-85CC39B0F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A46C014A-A74E-24AF-E9ED-2B1313CCCB6B}"/>
              </a:ext>
            </a:extLst>
          </p:cNvPr>
          <p:cNvGrpSpPr/>
          <p:nvPr/>
        </p:nvGrpSpPr>
        <p:grpSpPr>
          <a:xfrm>
            <a:off x="184152" y="203959"/>
            <a:ext cx="6037714" cy="632426"/>
            <a:chOff x="262864" y="138417"/>
            <a:chExt cx="6037714" cy="632426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CD44909D-1433-2122-5A6D-0CB45412F07E}"/>
                </a:ext>
              </a:extLst>
            </p:cNvPr>
            <p:cNvGrpSpPr/>
            <p:nvPr/>
          </p:nvGrpSpPr>
          <p:grpSpPr>
            <a:xfrm>
              <a:off x="262864" y="138417"/>
              <a:ext cx="4828032" cy="632426"/>
              <a:chOff x="482600" y="451413"/>
              <a:chExt cx="4828032" cy="437588"/>
            </a:xfrm>
          </p:grpSpPr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4A5AD4DA-186D-876F-730E-9E7B4B2EAE44}"/>
                  </a:ext>
                </a:extLst>
              </p:cNvPr>
              <p:cNvSpPr/>
              <p:nvPr/>
            </p:nvSpPr>
            <p:spPr>
              <a:xfrm>
                <a:off x="544576" y="451413"/>
                <a:ext cx="4766056" cy="437587"/>
              </a:xfrm>
              <a:prstGeom prst="rect">
                <a:avLst/>
              </a:prstGeom>
              <a:gradFill flip="none" rotWithShape="1">
                <a:gsLst>
                  <a:gs pos="0">
                    <a:srgbClr val="0070C0">
                      <a:alpha val="0"/>
                    </a:srgbClr>
                  </a:gs>
                  <a:gs pos="100000">
                    <a:srgbClr val="0070C0">
                      <a:alpha val="5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宋体 CN Light" panose="02020300000000000000" pitchFamily="18" charset="-122"/>
                  <a:cs typeface="Times New Roman" panose="02020603050405020304" pitchFamily="18" charset="0"/>
                  <a:sym typeface="+mn-lt"/>
                </a:endParaRPr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2DB0819B-688E-96C6-D918-634EF102E6C5}"/>
                  </a:ext>
                </a:extLst>
              </p:cNvPr>
              <p:cNvSpPr/>
              <p:nvPr/>
            </p:nvSpPr>
            <p:spPr>
              <a:xfrm>
                <a:off x="482600" y="451413"/>
                <a:ext cx="61976" cy="437588"/>
              </a:xfrm>
              <a:prstGeom prst="rect">
                <a:avLst/>
              </a:prstGeom>
              <a:solidFill>
                <a:srgbClr val="0070C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宋体 CN Light" panose="02020300000000000000" pitchFamily="18" charset="-122"/>
                  <a:cs typeface="Times New Roman" panose="02020603050405020304" pitchFamily="18" charset="0"/>
                  <a:sym typeface="+mn-lt"/>
                </a:endParaRPr>
              </a:p>
            </p:txBody>
          </p:sp>
        </p:grp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00327191-1A5D-B09C-9790-4EC15A253721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386815" y="193019"/>
              <a:ext cx="5913763" cy="52322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lvl="0">
                <a:defRPr/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思源宋体 CN Heavy" panose="02020900000000000000" charset="-122"/>
                  <a:cs typeface="Times New Roman" panose="02020603050405020304" pitchFamily="18" charset="0"/>
                  <a:sym typeface="+mn-ea"/>
                </a:rPr>
                <a:t>Objective &amp; Decision Framing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思源宋体 CN Heavy" panose="02020900000000000000" charset="-122"/>
                <a:cs typeface="Times New Roman" panose="02020603050405020304" pitchFamily="18" charset="0"/>
                <a:sym typeface="+mn-ea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1AAA9515-B7AD-F7FB-D42C-5F5A5BB1A04B}"/>
              </a:ext>
            </a:extLst>
          </p:cNvPr>
          <p:cNvGrpSpPr/>
          <p:nvPr/>
        </p:nvGrpSpPr>
        <p:grpSpPr>
          <a:xfrm>
            <a:off x="925728" y="1419244"/>
            <a:ext cx="2533651" cy="3733800"/>
            <a:chOff x="1713532" y="1727858"/>
            <a:chExt cx="2533650" cy="3733800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87DDC45D-6BCE-3E35-748E-C47BACC4F6AA}"/>
                </a:ext>
              </a:extLst>
            </p:cNvPr>
            <p:cNvGrpSpPr/>
            <p:nvPr/>
          </p:nvGrpSpPr>
          <p:grpSpPr>
            <a:xfrm>
              <a:off x="1713532" y="1727858"/>
              <a:ext cx="2533650" cy="3733800"/>
              <a:chOff x="3291" y="3247"/>
              <a:chExt cx="3990" cy="5880"/>
            </a:xfrm>
          </p:grpSpPr>
          <p:sp>
            <p:nvSpPr>
              <p:cNvPr id="8" name="椭圆 7">
                <a:extLst>
                  <a:ext uri="{FF2B5EF4-FFF2-40B4-BE49-F238E27FC236}">
                    <a16:creationId xmlns:a16="http://schemas.microsoft.com/office/drawing/2014/main" id="{B0D5E1A7-EA1C-E3B3-9F32-618AB63DACFC}"/>
                  </a:ext>
                </a:extLst>
              </p:cNvPr>
              <p:cNvSpPr/>
              <p:nvPr/>
            </p:nvSpPr>
            <p:spPr>
              <a:xfrm>
                <a:off x="3291" y="5174"/>
                <a:ext cx="2030" cy="2030"/>
              </a:xfrm>
              <a:prstGeom prst="ellipse">
                <a:avLst/>
              </a:prstGeom>
              <a:solidFill>
                <a:srgbClr val="0070C0"/>
              </a:solidFill>
              <a:ln w="1270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  <a:sym typeface="+mn-lt"/>
                </a:endParaRPr>
              </a:p>
            </p:txBody>
          </p:sp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685E3EE9-889F-1A0A-FB5F-12DE093E3414}"/>
                  </a:ext>
                </a:extLst>
              </p:cNvPr>
              <p:cNvCxnSpPr/>
              <p:nvPr/>
            </p:nvCxnSpPr>
            <p:spPr>
              <a:xfrm>
                <a:off x="5377" y="6188"/>
                <a:ext cx="692" cy="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  <a:miter lim="800000"/>
                <a:headEnd type="none"/>
                <a:tailEnd type="triangle"/>
              </a:ln>
              <a:effectLst/>
            </p:spPr>
          </p:cxnSp>
          <p:sp>
            <p:nvSpPr>
              <p:cNvPr id="10" name="任意多边形 9">
                <a:extLst>
                  <a:ext uri="{FF2B5EF4-FFF2-40B4-BE49-F238E27FC236}">
                    <a16:creationId xmlns:a16="http://schemas.microsoft.com/office/drawing/2014/main" id="{687C4E43-5BB6-1E43-E2FC-62AE8FD850B0}"/>
                  </a:ext>
                </a:extLst>
              </p:cNvPr>
              <p:cNvSpPr/>
              <p:nvPr/>
            </p:nvSpPr>
            <p:spPr>
              <a:xfrm flipH="1">
                <a:off x="4379" y="3790"/>
                <a:ext cx="1651" cy="1296"/>
              </a:xfrm>
              <a:custGeom>
                <a:avLst/>
                <a:gdLst>
                  <a:gd name="connsiteX0" fmla="*/ 0 w 1440"/>
                  <a:gd name="connsiteY0" fmla="*/ 0 h 1440"/>
                  <a:gd name="connsiteX1" fmla="*/ 1270 w 1440"/>
                  <a:gd name="connsiteY1" fmla="*/ 0 h 1440"/>
                  <a:gd name="connsiteX2" fmla="*/ 1440 w 1440"/>
                  <a:gd name="connsiteY2" fmla="*/ 170 h 1440"/>
                  <a:gd name="connsiteX3" fmla="*/ 1440 w 1440"/>
                  <a:gd name="connsiteY3" fmla="*/ 1440 h 1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40" h="1440">
                    <a:moveTo>
                      <a:pt x="0" y="0"/>
                    </a:moveTo>
                    <a:lnTo>
                      <a:pt x="1270" y="0"/>
                    </a:lnTo>
                    <a:cubicBezTo>
                      <a:pt x="1364" y="0"/>
                      <a:pt x="1440" y="76"/>
                      <a:pt x="1440" y="170"/>
                    </a:cubicBezTo>
                    <a:lnTo>
                      <a:pt x="1440" y="1440"/>
                    </a:lnTo>
                  </a:path>
                </a:pathLst>
              </a:custGeom>
              <a:noFill/>
              <a:ln w="19050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  <a:miter lim="800000"/>
                <a:headEnd type="triangle"/>
                <a:tailEnd type="none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  <a:sym typeface="+mn-lt"/>
                </a:endParaRPr>
              </a:p>
            </p:txBody>
          </p:sp>
          <p:sp>
            <p:nvSpPr>
              <p:cNvPr id="11" name="任意多边形 10">
                <a:extLst>
                  <a:ext uri="{FF2B5EF4-FFF2-40B4-BE49-F238E27FC236}">
                    <a16:creationId xmlns:a16="http://schemas.microsoft.com/office/drawing/2014/main" id="{5BE067D0-EA99-E36D-F33D-BC8F7079B202}"/>
                  </a:ext>
                </a:extLst>
              </p:cNvPr>
              <p:cNvSpPr/>
              <p:nvPr/>
            </p:nvSpPr>
            <p:spPr>
              <a:xfrm flipH="1" flipV="1">
                <a:off x="4379" y="7278"/>
                <a:ext cx="1651" cy="1296"/>
              </a:xfrm>
              <a:custGeom>
                <a:avLst/>
                <a:gdLst>
                  <a:gd name="connsiteX0" fmla="*/ 0 w 1440"/>
                  <a:gd name="connsiteY0" fmla="*/ 0 h 1440"/>
                  <a:gd name="connsiteX1" fmla="*/ 1270 w 1440"/>
                  <a:gd name="connsiteY1" fmla="*/ 0 h 1440"/>
                  <a:gd name="connsiteX2" fmla="*/ 1440 w 1440"/>
                  <a:gd name="connsiteY2" fmla="*/ 170 h 1440"/>
                  <a:gd name="connsiteX3" fmla="*/ 1440 w 1440"/>
                  <a:gd name="connsiteY3" fmla="*/ 1440 h 1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40" h="1440">
                    <a:moveTo>
                      <a:pt x="0" y="0"/>
                    </a:moveTo>
                    <a:lnTo>
                      <a:pt x="1270" y="0"/>
                    </a:lnTo>
                    <a:cubicBezTo>
                      <a:pt x="1364" y="0"/>
                      <a:pt x="1440" y="76"/>
                      <a:pt x="1440" y="170"/>
                    </a:cubicBezTo>
                    <a:lnTo>
                      <a:pt x="1440" y="1440"/>
                    </a:lnTo>
                  </a:path>
                </a:pathLst>
              </a:custGeom>
              <a:noFill/>
              <a:ln w="19050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  <a:miter lim="800000"/>
                <a:headEnd type="triangle"/>
                <a:tailEnd type="none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  <a:sym typeface="+mn-lt"/>
                </a:endParaRPr>
              </a:p>
            </p:txBody>
          </p:sp>
          <p:sp>
            <p:nvSpPr>
              <p:cNvPr id="12" name="圆角矩形 13">
                <a:extLst>
                  <a:ext uri="{FF2B5EF4-FFF2-40B4-BE49-F238E27FC236}">
                    <a16:creationId xmlns:a16="http://schemas.microsoft.com/office/drawing/2014/main" id="{0513AF26-3CC7-5CA8-114D-AC9B45E5AC10}"/>
                  </a:ext>
                </a:extLst>
              </p:cNvPr>
              <p:cNvSpPr/>
              <p:nvPr/>
            </p:nvSpPr>
            <p:spPr>
              <a:xfrm>
                <a:off x="6124" y="3247"/>
                <a:ext cx="1157" cy="1157"/>
              </a:xfrm>
              <a:prstGeom prst="ellipse">
                <a:avLst/>
              </a:prstGeom>
              <a:solidFill>
                <a:srgbClr val="0070C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  <a:sym typeface="+mn-lt"/>
                </a:endParaRPr>
              </a:p>
            </p:txBody>
          </p:sp>
          <p:sp>
            <p:nvSpPr>
              <p:cNvPr id="13" name="圆角矩形 14">
                <a:extLst>
                  <a:ext uri="{FF2B5EF4-FFF2-40B4-BE49-F238E27FC236}">
                    <a16:creationId xmlns:a16="http://schemas.microsoft.com/office/drawing/2014/main" id="{238EEF5E-D7B5-718A-B590-A52F758DB9D7}"/>
                  </a:ext>
                </a:extLst>
              </p:cNvPr>
              <p:cNvSpPr/>
              <p:nvPr/>
            </p:nvSpPr>
            <p:spPr>
              <a:xfrm>
                <a:off x="6124" y="5608"/>
                <a:ext cx="1157" cy="1157"/>
              </a:xfrm>
              <a:prstGeom prst="ellipse">
                <a:avLst/>
              </a:prstGeom>
              <a:solidFill>
                <a:srgbClr val="FA782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  <a:sym typeface="+mn-lt"/>
                </a:endParaRPr>
              </a:p>
            </p:txBody>
          </p:sp>
          <p:sp>
            <p:nvSpPr>
              <p:cNvPr id="14" name="圆角矩形 15">
                <a:extLst>
                  <a:ext uri="{FF2B5EF4-FFF2-40B4-BE49-F238E27FC236}">
                    <a16:creationId xmlns:a16="http://schemas.microsoft.com/office/drawing/2014/main" id="{D6C64F5D-69BF-8C8D-DCE8-98A083091577}"/>
                  </a:ext>
                </a:extLst>
              </p:cNvPr>
              <p:cNvSpPr/>
              <p:nvPr/>
            </p:nvSpPr>
            <p:spPr>
              <a:xfrm>
                <a:off x="6124" y="7970"/>
                <a:ext cx="1157" cy="1157"/>
              </a:xfrm>
              <a:prstGeom prst="ellipse">
                <a:avLst/>
              </a:prstGeom>
              <a:solidFill>
                <a:srgbClr val="0070C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  <a:sym typeface="+mn-lt"/>
                </a:endParaRPr>
              </a:p>
            </p:txBody>
          </p:sp>
          <p:sp>
            <p:nvSpPr>
              <p:cNvPr id="16" name="Freeform 387">
                <a:extLst>
                  <a:ext uri="{FF2B5EF4-FFF2-40B4-BE49-F238E27FC236}">
                    <a16:creationId xmlns:a16="http://schemas.microsoft.com/office/drawing/2014/main" id="{9F9167F2-AD5C-4F13-8A27-402E24BE25E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56" y="5881"/>
                <a:ext cx="470" cy="552"/>
              </a:xfrm>
              <a:custGeom>
                <a:avLst/>
                <a:gdLst/>
                <a:ahLst/>
                <a:cxnLst>
                  <a:cxn ang="0">
                    <a:pos x="88900" y="107950"/>
                  </a:cxn>
                  <a:cxn ang="0">
                    <a:pos x="44450" y="107950"/>
                  </a:cxn>
                  <a:cxn ang="0">
                    <a:pos x="31750" y="111125"/>
                  </a:cxn>
                  <a:cxn ang="0">
                    <a:pos x="12700" y="139700"/>
                  </a:cxn>
                  <a:cxn ang="0">
                    <a:pos x="12700" y="146050"/>
                  </a:cxn>
                  <a:cxn ang="0">
                    <a:pos x="120650" y="146050"/>
                  </a:cxn>
                  <a:cxn ang="0">
                    <a:pos x="120650" y="139700"/>
                  </a:cxn>
                  <a:cxn ang="0">
                    <a:pos x="104775" y="114300"/>
                  </a:cxn>
                  <a:cxn ang="0">
                    <a:pos x="101600" y="111125"/>
                  </a:cxn>
                  <a:cxn ang="0">
                    <a:pos x="95250" y="107950"/>
                  </a:cxn>
                  <a:cxn ang="0">
                    <a:pos x="88900" y="107950"/>
                  </a:cxn>
                  <a:cxn ang="0">
                    <a:pos x="92075" y="95250"/>
                  </a:cxn>
                  <a:cxn ang="0">
                    <a:pos x="92075" y="95250"/>
                  </a:cxn>
                  <a:cxn ang="0">
                    <a:pos x="98425" y="95250"/>
                  </a:cxn>
                  <a:cxn ang="0">
                    <a:pos x="104775" y="98425"/>
                  </a:cxn>
                  <a:cxn ang="0">
                    <a:pos x="133350" y="139700"/>
                  </a:cxn>
                  <a:cxn ang="0">
                    <a:pos x="133350" y="149225"/>
                  </a:cxn>
                  <a:cxn ang="0">
                    <a:pos x="127000" y="155575"/>
                  </a:cxn>
                  <a:cxn ang="0">
                    <a:pos x="127000" y="155575"/>
                  </a:cxn>
                  <a:cxn ang="0">
                    <a:pos x="6350" y="155575"/>
                  </a:cxn>
                  <a:cxn ang="0">
                    <a:pos x="0" y="149225"/>
                  </a:cxn>
                  <a:cxn ang="0">
                    <a:pos x="0" y="149225"/>
                  </a:cxn>
                  <a:cxn ang="0">
                    <a:pos x="0" y="139700"/>
                  </a:cxn>
                  <a:cxn ang="0">
                    <a:pos x="25400" y="98425"/>
                  </a:cxn>
                  <a:cxn ang="0">
                    <a:pos x="38100" y="95250"/>
                  </a:cxn>
                  <a:cxn ang="0">
                    <a:pos x="12700" y="50800"/>
                  </a:cxn>
                  <a:cxn ang="0">
                    <a:pos x="66675" y="0"/>
                  </a:cxn>
                  <a:cxn ang="0">
                    <a:pos x="117475" y="50800"/>
                  </a:cxn>
                  <a:cxn ang="0">
                    <a:pos x="92075" y="95250"/>
                  </a:cxn>
                  <a:cxn ang="0">
                    <a:pos x="66675" y="9525"/>
                  </a:cxn>
                  <a:cxn ang="0">
                    <a:pos x="66675" y="9525"/>
                  </a:cxn>
                  <a:cxn ang="0">
                    <a:pos x="28575" y="34925"/>
                  </a:cxn>
                  <a:cxn ang="0">
                    <a:pos x="25400" y="50800"/>
                  </a:cxn>
                  <a:cxn ang="0">
                    <a:pos x="50800" y="88900"/>
                  </a:cxn>
                  <a:cxn ang="0">
                    <a:pos x="82550" y="88900"/>
                  </a:cxn>
                  <a:cxn ang="0">
                    <a:pos x="104775" y="50800"/>
                  </a:cxn>
                  <a:cxn ang="0">
                    <a:pos x="66675" y="9525"/>
                  </a:cxn>
                </a:cxnLst>
                <a:rect l="0" t="0" r="0" b="0"/>
                <a:pathLst>
                  <a:path w="42" h="49">
                    <a:moveTo>
                      <a:pt x="28" y="34"/>
                    </a:moveTo>
                    <a:cubicBezTo>
                      <a:pt x="14" y="34"/>
                      <a:pt x="14" y="34"/>
                      <a:pt x="14" y="34"/>
                    </a:cubicBezTo>
                    <a:cubicBezTo>
                      <a:pt x="12" y="34"/>
                      <a:pt x="11" y="34"/>
                      <a:pt x="10" y="35"/>
                    </a:cubicBezTo>
                    <a:cubicBezTo>
                      <a:pt x="6" y="36"/>
                      <a:pt x="4" y="40"/>
                      <a:pt x="4" y="44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38" y="46"/>
                      <a:pt x="38" y="46"/>
                      <a:pt x="38" y="46"/>
                    </a:cubicBezTo>
                    <a:cubicBezTo>
                      <a:pt x="38" y="44"/>
                      <a:pt x="38" y="44"/>
                      <a:pt x="38" y="44"/>
                    </a:cubicBezTo>
                    <a:cubicBezTo>
                      <a:pt x="38" y="41"/>
                      <a:pt x="36" y="37"/>
                      <a:pt x="33" y="36"/>
                    </a:cubicBezTo>
                    <a:cubicBezTo>
                      <a:pt x="33" y="35"/>
                      <a:pt x="32" y="35"/>
                      <a:pt x="32" y="35"/>
                    </a:cubicBezTo>
                    <a:cubicBezTo>
                      <a:pt x="31" y="34"/>
                      <a:pt x="31" y="34"/>
                      <a:pt x="30" y="34"/>
                    </a:cubicBezTo>
                    <a:cubicBezTo>
                      <a:pt x="29" y="34"/>
                      <a:pt x="29" y="34"/>
                      <a:pt x="28" y="34"/>
                    </a:cubicBezTo>
                    <a:close/>
                    <a:moveTo>
                      <a:pt x="29" y="30"/>
                    </a:moveTo>
                    <a:cubicBezTo>
                      <a:pt x="29" y="30"/>
                      <a:pt x="29" y="30"/>
                      <a:pt x="29" y="30"/>
                    </a:cubicBezTo>
                    <a:cubicBezTo>
                      <a:pt x="30" y="30"/>
                      <a:pt x="30" y="30"/>
                      <a:pt x="31" y="30"/>
                    </a:cubicBezTo>
                    <a:cubicBezTo>
                      <a:pt x="32" y="31"/>
                      <a:pt x="32" y="31"/>
                      <a:pt x="33" y="31"/>
                    </a:cubicBezTo>
                    <a:cubicBezTo>
                      <a:pt x="38" y="33"/>
                      <a:pt x="42" y="38"/>
                      <a:pt x="42" y="44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2" y="48"/>
                      <a:pt x="41" y="49"/>
                      <a:pt x="40" y="49"/>
                    </a:cubicBezTo>
                    <a:cubicBezTo>
                      <a:pt x="40" y="49"/>
                      <a:pt x="40" y="49"/>
                      <a:pt x="40" y="49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1" y="49"/>
                      <a:pt x="0" y="48"/>
                      <a:pt x="0" y="47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38"/>
                      <a:pt x="3" y="33"/>
                      <a:pt x="8" y="31"/>
                    </a:cubicBezTo>
                    <a:cubicBezTo>
                      <a:pt x="10" y="31"/>
                      <a:pt x="11" y="30"/>
                      <a:pt x="12" y="30"/>
                    </a:cubicBezTo>
                    <a:cubicBezTo>
                      <a:pt x="7" y="27"/>
                      <a:pt x="4" y="22"/>
                      <a:pt x="4" y="16"/>
                    </a:cubicBezTo>
                    <a:cubicBezTo>
                      <a:pt x="4" y="7"/>
                      <a:pt x="12" y="0"/>
                      <a:pt x="21" y="0"/>
                    </a:cubicBezTo>
                    <a:cubicBezTo>
                      <a:pt x="30" y="0"/>
                      <a:pt x="37" y="7"/>
                      <a:pt x="37" y="16"/>
                    </a:cubicBezTo>
                    <a:cubicBezTo>
                      <a:pt x="37" y="22"/>
                      <a:pt x="34" y="27"/>
                      <a:pt x="29" y="30"/>
                    </a:cubicBezTo>
                    <a:close/>
                    <a:moveTo>
                      <a:pt x="21" y="3"/>
                    </a:moveTo>
                    <a:cubicBezTo>
                      <a:pt x="21" y="3"/>
                      <a:pt x="21" y="3"/>
                      <a:pt x="21" y="3"/>
                    </a:cubicBezTo>
                    <a:cubicBezTo>
                      <a:pt x="16" y="3"/>
                      <a:pt x="11" y="6"/>
                      <a:pt x="9" y="11"/>
                    </a:cubicBezTo>
                    <a:cubicBezTo>
                      <a:pt x="9" y="13"/>
                      <a:pt x="8" y="14"/>
                      <a:pt x="8" y="16"/>
                    </a:cubicBezTo>
                    <a:cubicBezTo>
                      <a:pt x="8" y="21"/>
                      <a:pt x="11" y="26"/>
                      <a:pt x="16" y="28"/>
                    </a:cubicBezTo>
                    <a:cubicBezTo>
                      <a:pt x="19" y="29"/>
                      <a:pt x="23" y="29"/>
                      <a:pt x="26" y="28"/>
                    </a:cubicBezTo>
                    <a:cubicBezTo>
                      <a:pt x="30" y="26"/>
                      <a:pt x="33" y="21"/>
                      <a:pt x="33" y="16"/>
                    </a:cubicBezTo>
                    <a:cubicBezTo>
                      <a:pt x="33" y="9"/>
                      <a:pt x="28" y="3"/>
                      <a:pt x="21" y="3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endParaRPr>
              </a:p>
            </p:txBody>
          </p:sp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71A7D938-CDF6-5219-AF86-4DAAB76E6FB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362" y="3517"/>
                <a:ext cx="631" cy="583"/>
              </a:xfrm>
              <a:custGeom>
                <a:avLst/>
                <a:gdLst>
                  <a:gd name="T0" fmla="*/ 1120 w 2069"/>
                  <a:gd name="T1" fmla="*/ 0 h 1899"/>
                  <a:gd name="T2" fmla="*/ 189 w 2069"/>
                  <a:gd name="T3" fmla="*/ 777 h 1899"/>
                  <a:gd name="T4" fmla="*/ 0 w 2069"/>
                  <a:gd name="T5" fmla="*/ 777 h 1899"/>
                  <a:gd name="T6" fmla="*/ 259 w 2069"/>
                  <a:gd name="T7" fmla="*/ 1122 h 1899"/>
                  <a:gd name="T8" fmla="*/ 517 w 2069"/>
                  <a:gd name="T9" fmla="*/ 777 h 1899"/>
                  <a:gd name="T10" fmla="*/ 362 w 2069"/>
                  <a:gd name="T11" fmla="*/ 777 h 1899"/>
                  <a:gd name="T12" fmla="*/ 1120 w 2069"/>
                  <a:gd name="T13" fmla="*/ 173 h 1899"/>
                  <a:gd name="T14" fmla="*/ 1896 w 2069"/>
                  <a:gd name="T15" fmla="*/ 950 h 1899"/>
                  <a:gd name="T16" fmla="*/ 1120 w 2069"/>
                  <a:gd name="T17" fmla="*/ 1727 h 1899"/>
                  <a:gd name="T18" fmla="*/ 477 w 2069"/>
                  <a:gd name="T19" fmla="*/ 1381 h 1899"/>
                  <a:gd name="T20" fmla="*/ 276 w 2069"/>
                  <a:gd name="T21" fmla="*/ 1381 h 1899"/>
                  <a:gd name="T22" fmla="*/ 1120 w 2069"/>
                  <a:gd name="T23" fmla="*/ 1899 h 1899"/>
                  <a:gd name="T24" fmla="*/ 2069 w 2069"/>
                  <a:gd name="T25" fmla="*/ 950 h 1899"/>
                  <a:gd name="T26" fmla="*/ 1120 w 2069"/>
                  <a:gd name="T27" fmla="*/ 0 h 1899"/>
                  <a:gd name="T28" fmla="*/ 1080 w 2069"/>
                  <a:gd name="T29" fmla="*/ 345 h 1899"/>
                  <a:gd name="T30" fmla="*/ 1080 w 2069"/>
                  <a:gd name="T31" fmla="*/ 978 h 1899"/>
                  <a:gd name="T32" fmla="*/ 1528 w 2069"/>
                  <a:gd name="T33" fmla="*/ 1243 h 1899"/>
                  <a:gd name="T34" fmla="*/ 1569 w 2069"/>
                  <a:gd name="T35" fmla="*/ 1168 h 1899"/>
                  <a:gd name="T36" fmla="*/ 1166 w 2069"/>
                  <a:gd name="T37" fmla="*/ 926 h 1899"/>
                  <a:gd name="T38" fmla="*/ 1166 w 2069"/>
                  <a:gd name="T39" fmla="*/ 345 h 1899"/>
                  <a:gd name="T40" fmla="*/ 1080 w 2069"/>
                  <a:gd name="T41" fmla="*/ 345 h 1899"/>
                  <a:gd name="T42" fmla="*/ 1080 w 2069"/>
                  <a:gd name="T43" fmla="*/ 345 h 1899"/>
                  <a:gd name="T44" fmla="*/ 1080 w 2069"/>
                  <a:gd name="T45" fmla="*/ 345 h 18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069" h="1899">
                    <a:moveTo>
                      <a:pt x="1120" y="0"/>
                    </a:moveTo>
                    <a:cubicBezTo>
                      <a:pt x="655" y="0"/>
                      <a:pt x="270" y="334"/>
                      <a:pt x="189" y="777"/>
                    </a:cubicBezTo>
                    <a:cubicBezTo>
                      <a:pt x="0" y="777"/>
                      <a:pt x="0" y="777"/>
                      <a:pt x="0" y="777"/>
                    </a:cubicBezTo>
                    <a:cubicBezTo>
                      <a:pt x="259" y="1122"/>
                      <a:pt x="259" y="1122"/>
                      <a:pt x="259" y="1122"/>
                    </a:cubicBezTo>
                    <a:cubicBezTo>
                      <a:pt x="517" y="777"/>
                      <a:pt x="517" y="777"/>
                      <a:pt x="517" y="777"/>
                    </a:cubicBezTo>
                    <a:cubicBezTo>
                      <a:pt x="362" y="777"/>
                      <a:pt x="362" y="777"/>
                      <a:pt x="362" y="777"/>
                    </a:cubicBezTo>
                    <a:cubicBezTo>
                      <a:pt x="442" y="432"/>
                      <a:pt x="747" y="173"/>
                      <a:pt x="1120" y="173"/>
                    </a:cubicBezTo>
                    <a:cubicBezTo>
                      <a:pt x="1552" y="173"/>
                      <a:pt x="1896" y="518"/>
                      <a:pt x="1896" y="950"/>
                    </a:cubicBezTo>
                    <a:cubicBezTo>
                      <a:pt x="1896" y="1381"/>
                      <a:pt x="1552" y="1727"/>
                      <a:pt x="1120" y="1727"/>
                    </a:cubicBezTo>
                    <a:cubicBezTo>
                      <a:pt x="850" y="1727"/>
                      <a:pt x="615" y="1588"/>
                      <a:pt x="477" y="1381"/>
                    </a:cubicBezTo>
                    <a:cubicBezTo>
                      <a:pt x="276" y="1381"/>
                      <a:pt x="276" y="1381"/>
                      <a:pt x="276" y="1381"/>
                    </a:cubicBezTo>
                    <a:cubicBezTo>
                      <a:pt x="431" y="1686"/>
                      <a:pt x="753" y="1899"/>
                      <a:pt x="1120" y="1899"/>
                    </a:cubicBezTo>
                    <a:cubicBezTo>
                      <a:pt x="1643" y="1899"/>
                      <a:pt x="2069" y="1473"/>
                      <a:pt x="2069" y="950"/>
                    </a:cubicBezTo>
                    <a:cubicBezTo>
                      <a:pt x="2069" y="426"/>
                      <a:pt x="1643" y="0"/>
                      <a:pt x="1120" y="0"/>
                    </a:cubicBezTo>
                    <a:close/>
                    <a:moveTo>
                      <a:pt x="1080" y="345"/>
                    </a:moveTo>
                    <a:cubicBezTo>
                      <a:pt x="1080" y="978"/>
                      <a:pt x="1080" y="978"/>
                      <a:pt x="1080" y="978"/>
                    </a:cubicBezTo>
                    <a:cubicBezTo>
                      <a:pt x="1528" y="1243"/>
                      <a:pt x="1528" y="1243"/>
                      <a:pt x="1528" y="1243"/>
                    </a:cubicBezTo>
                    <a:cubicBezTo>
                      <a:pt x="1569" y="1168"/>
                      <a:pt x="1569" y="1168"/>
                      <a:pt x="1569" y="1168"/>
                    </a:cubicBezTo>
                    <a:cubicBezTo>
                      <a:pt x="1166" y="926"/>
                      <a:pt x="1166" y="926"/>
                      <a:pt x="1166" y="926"/>
                    </a:cubicBezTo>
                    <a:cubicBezTo>
                      <a:pt x="1166" y="345"/>
                      <a:pt x="1166" y="345"/>
                      <a:pt x="1166" y="345"/>
                    </a:cubicBezTo>
                    <a:lnTo>
                      <a:pt x="1080" y="345"/>
                    </a:lnTo>
                    <a:close/>
                    <a:moveTo>
                      <a:pt x="1080" y="345"/>
                    </a:moveTo>
                    <a:cubicBezTo>
                      <a:pt x="1080" y="345"/>
                      <a:pt x="1080" y="345"/>
                      <a:pt x="1080" y="345"/>
                    </a:cubicBezTo>
                  </a:path>
                </a:pathLst>
              </a:custGeom>
              <a:solidFill>
                <a:sysClr val="window" lastClr="FFFFFF"/>
              </a:solidFill>
              <a:ln w="1270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  <a:sym typeface="+mn-lt"/>
                </a:endParaRPr>
              </a:p>
            </p:txBody>
          </p:sp>
          <p:sp>
            <p:nvSpPr>
              <p:cNvPr id="18" name="Freeform 160">
                <a:extLst>
                  <a:ext uri="{FF2B5EF4-FFF2-40B4-BE49-F238E27FC236}">
                    <a16:creationId xmlns:a16="http://schemas.microsoft.com/office/drawing/2014/main" id="{5C4205CD-B5A8-2FE6-73B6-F27CB84E37D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391" y="8202"/>
                <a:ext cx="567" cy="658"/>
              </a:xfrm>
              <a:custGeom>
                <a:avLst/>
                <a:gdLst/>
                <a:ahLst/>
                <a:cxnLst>
                  <a:cxn ang="0">
                    <a:pos x="121934" y="104775"/>
                  </a:cxn>
                  <a:cxn ang="0">
                    <a:pos x="141187" y="114300"/>
                  </a:cxn>
                  <a:cxn ang="0">
                    <a:pos x="141187" y="114300"/>
                  </a:cxn>
                  <a:cxn ang="0">
                    <a:pos x="150813" y="133350"/>
                  </a:cxn>
                  <a:cxn ang="0">
                    <a:pos x="121934" y="161925"/>
                  </a:cxn>
                  <a:cxn ang="0">
                    <a:pos x="93055" y="133350"/>
                  </a:cxn>
                  <a:cxn ang="0">
                    <a:pos x="96264" y="123825"/>
                  </a:cxn>
                  <a:cxn ang="0">
                    <a:pos x="67385" y="107950"/>
                  </a:cxn>
                  <a:cxn ang="0">
                    <a:pos x="64176" y="107950"/>
                  </a:cxn>
                  <a:cxn ang="0">
                    <a:pos x="64176" y="107950"/>
                  </a:cxn>
                  <a:cxn ang="0">
                    <a:pos x="38505" y="117475"/>
                  </a:cxn>
                  <a:cxn ang="0">
                    <a:pos x="0" y="82550"/>
                  </a:cxn>
                  <a:cxn ang="0">
                    <a:pos x="38505" y="44450"/>
                  </a:cxn>
                  <a:cxn ang="0">
                    <a:pos x="64176" y="53975"/>
                  </a:cxn>
                  <a:cxn ang="0">
                    <a:pos x="64176" y="53975"/>
                  </a:cxn>
                  <a:cxn ang="0">
                    <a:pos x="64176" y="53975"/>
                  </a:cxn>
                  <a:cxn ang="0">
                    <a:pos x="67385" y="57150"/>
                  </a:cxn>
                  <a:cxn ang="0">
                    <a:pos x="96264" y="38100"/>
                  </a:cxn>
                  <a:cxn ang="0">
                    <a:pos x="93055" y="28575"/>
                  </a:cxn>
                  <a:cxn ang="0">
                    <a:pos x="121934" y="0"/>
                  </a:cxn>
                  <a:cxn ang="0">
                    <a:pos x="150813" y="28575"/>
                  </a:cxn>
                  <a:cxn ang="0">
                    <a:pos x="121934" y="57150"/>
                  </a:cxn>
                  <a:cxn ang="0">
                    <a:pos x="102681" y="47625"/>
                  </a:cxn>
                  <a:cxn ang="0">
                    <a:pos x="102681" y="47625"/>
                  </a:cxn>
                  <a:cxn ang="0">
                    <a:pos x="73802" y="66675"/>
                  </a:cxn>
                  <a:cxn ang="0">
                    <a:pos x="77011" y="82550"/>
                  </a:cxn>
                  <a:cxn ang="0">
                    <a:pos x="73802" y="95250"/>
                  </a:cxn>
                  <a:cxn ang="0">
                    <a:pos x="102681" y="114300"/>
                  </a:cxn>
                  <a:cxn ang="0">
                    <a:pos x="102681" y="114300"/>
                  </a:cxn>
                  <a:cxn ang="0">
                    <a:pos x="102681" y="114300"/>
                  </a:cxn>
                  <a:cxn ang="0">
                    <a:pos x="102681" y="114300"/>
                  </a:cxn>
                  <a:cxn ang="0">
                    <a:pos x="121934" y="104775"/>
                  </a:cxn>
                  <a:cxn ang="0">
                    <a:pos x="134769" y="120650"/>
                  </a:cxn>
                  <a:cxn ang="0">
                    <a:pos x="134769" y="120650"/>
                  </a:cxn>
                  <a:cxn ang="0">
                    <a:pos x="121934" y="117475"/>
                  </a:cxn>
                  <a:cxn ang="0">
                    <a:pos x="112308" y="120650"/>
                  </a:cxn>
                  <a:cxn ang="0">
                    <a:pos x="112308" y="120650"/>
                  </a:cxn>
                  <a:cxn ang="0">
                    <a:pos x="105890" y="133350"/>
                  </a:cxn>
                  <a:cxn ang="0">
                    <a:pos x="121934" y="149225"/>
                  </a:cxn>
                  <a:cxn ang="0">
                    <a:pos x="137978" y="133350"/>
                  </a:cxn>
                  <a:cxn ang="0">
                    <a:pos x="134769" y="120650"/>
                  </a:cxn>
                  <a:cxn ang="0">
                    <a:pos x="134769" y="120650"/>
                  </a:cxn>
                  <a:cxn ang="0">
                    <a:pos x="54549" y="63500"/>
                  </a:cxn>
                  <a:cxn ang="0">
                    <a:pos x="54549" y="63500"/>
                  </a:cxn>
                  <a:cxn ang="0">
                    <a:pos x="38505" y="57150"/>
                  </a:cxn>
                  <a:cxn ang="0">
                    <a:pos x="12835" y="82550"/>
                  </a:cxn>
                  <a:cxn ang="0">
                    <a:pos x="38505" y="107950"/>
                  </a:cxn>
                  <a:cxn ang="0">
                    <a:pos x="54549" y="98425"/>
                  </a:cxn>
                  <a:cxn ang="0">
                    <a:pos x="54549" y="98425"/>
                  </a:cxn>
                  <a:cxn ang="0">
                    <a:pos x="64176" y="82550"/>
                  </a:cxn>
                  <a:cxn ang="0">
                    <a:pos x="54549" y="63500"/>
                  </a:cxn>
                  <a:cxn ang="0">
                    <a:pos x="54549" y="63500"/>
                  </a:cxn>
                  <a:cxn ang="0">
                    <a:pos x="121934" y="12700"/>
                  </a:cxn>
                  <a:cxn ang="0">
                    <a:pos x="121934" y="12700"/>
                  </a:cxn>
                  <a:cxn ang="0">
                    <a:pos x="105890" y="28575"/>
                  </a:cxn>
                  <a:cxn ang="0">
                    <a:pos x="109099" y="38100"/>
                  </a:cxn>
                  <a:cxn ang="0">
                    <a:pos x="109099" y="38100"/>
                  </a:cxn>
                  <a:cxn ang="0">
                    <a:pos x="112308" y="41275"/>
                  </a:cxn>
                  <a:cxn ang="0">
                    <a:pos x="112308" y="41275"/>
                  </a:cxn>
                  <a:cxn ang="0">
                    <a:pos x="121934" y="44450"/>
                  </a:cxn>
                  <a:cxn ang="0">
                    <a:pos x="137978" y="28575"/>
                  </a:cxn>
                  <a:cxn ang="0">
                    <a:pos x="121934" y="12700"/>
                  </a:cxn>
                </a:cxnLst>
                <a:rect l="0" t="0" r="0" b="0"/>
                <a:pathLst>
                  <a:path w="47" h="51">
                    <a:moveTo>
                      <a:pt x="38" y="33"/>
                    </a:moveTo>
                    <a:cubicBezTo>
                      <a:pt x="41" y="33"/>
                      <a:pt x="43" y="34"/>
                      <a:pt x="44" y="36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6" y="37"/>
                      <a:pt x="47" y="40"/>
                      <a:pt x="47" y="42"/>
                    </a:cubicBezTo>
                    <a:cubicBezTo>
                      <a:pt x="47" y="47"/>
                      <a:pt x="43" y="51"/>
                      <a:pt x="38" y="51"/>
                    </a:cubicBezTo>
                    <a:cubicBezTo>
                      <a:pt x="33" y="51"/>
                      <a:pt x="29" y="47"/>
                      <a:pt x="29" y="42"/>
                    </a:cubicBezTo>
                    <a:cubicBezTo>
                      <a:pt x="29" y="41"/>
                      <a:pt x="30" y="40"/>
                      <a:pt x="30" y="39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1" y="34"/>
                      <a:pt x="20" y="34"/>
                      <a:pt x="20" y="34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18" y="36"/>
                      <a:pt x="15" y="37"/>
                      <a:pt x="12" y="37"/>
                    </a:cubicBezTo>
                    <a:cubicBezTo>
                      <a:pt x="5" y="37"/>
                      <a:pt x="0" y="32"/>
                      <a:pt x="0" y="26"/>
                    </a:cubicBezTo>
                    <a:cubicBezTo>
                      <a:pt x="0" y="19"/>
                      <a:pt x="5" y="14"/>
                      <a:pt x="12" y="14"/>
                    </a:cubicBezTo>
                    <a:cubicBezTo>
                      <a:pt x="15" y="14"/>
                      <a:pt x="18" y="15"/>
                      <a:pt x="20" y="17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20" y="17"/>
                      <a:pt x="21" y="17"/>
                      <a:pt x="21" y="18"/>
                    </a:cubicBezTo>
                    <a:cubicBezTo>
                      <a:pt x="30" y="12"/>
                      <a:pt x="30" y="12"/>
                      <a:pt x="30" y="12"/>
                    </a:cubicBezTo>
                    <a:cubicBezTo>
                      <a:pt x="30" y="11"/>
                      <a:pt x="29" y="10"/>
                      <a:pt x="29" y="9"/>
                    </a:cubicBezTo>
                    <a:cubicBezTo>
                      <a:pt x="29" y="4"/>
                      <a:pt x="33" y="0"/>
                      <a:pt x="38" y="0"/>
                    </a:cubicBezTo>
                    <a:cubicBezTo>
                      <a:pt x="43" y="0"/>
                      <a:pt x="47" y="4"/>
                      <a:pt x="47" y="9"/>
                    </a:cubicBezTo>
                    <a:cubicBezTo>
                      <a:pt x="47" y="14"/>
                      <a:pt x="43" y="18"/>
                      <a:pt x="38" y="18"/>
                    </a:cubicBezTo>
                    <a:cubicBezTo>
                      <a:pt x="36" y="18"/>
                      <a:pt x="34" y="17"/>
                      <a:pt x="32" y="15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23" y="22"/>
                      <a:pt x="24" y="24"/>
                      <a:pt x="24" y="26"/>
                    </a:cubicBezTo>
                    <a:cubicBezTo>
                      <a:pt x="24" y="27"/>
                      <a:pt x="23" y="29"/>
                      <a:pt x="23" y="30"/>
                    </a:cubicBezTo>
                    <a:cubicBezTo>
                      <a:pt x="32" y="36"/>
                      <a:pt x="32" y="36"/>
                      <a:pt x="32" y="36"/>
                    </a:cubicBezTo>
                    <a:cubicBezTo>
                      <a:pt x="32" y="36"/>
                      <a:pt x="32" y="36"/>
                      <a:pt x="32" y="36"/>
                    </a:cubicBezTo>
                    <a:cubicBezTo>
                      <a:pt x="32" y="36"/>
                      <a:pt x="32" y="36"/>
                      <a:pt x="32" y="36"/>
                    </a:cubicBezTo>
                    <a:cubicBezTo>
                      <a:pt x="32" y="36"/>
                      <a:pt x="32" y="36"/>
                      <a:pt x="32" y="36"/>
                    </a:cubicBezTo>
                    <a:cubicBezTo>
                      <a:pt x="34" y="34"/>
                      <a:pt x="36" y="33"/>
                      <a:pt x="38" y="33"/>
                    </a:cubicBezTo>
                    <a:close/>
                    <a:moveTo>
                      <a:pt x="42" y="38"/>
                    </a:moveTo>
                    <a:cubicBezTo>
                      <a:pt x="42" y="38"/>
                      <a:pt x="42" y="38"/>
                      <a:pt x="42" y="38"/>
                    </a:cubicBezTo>
                    <a:cubicBezTo>
                      <a:pt x="41" y="38"/>
                      <a:pt x="40" y="37"/>
                      <a:pt x="38" y="37"/>
                    </a:cubicBezTo>
                    <a:cubicBezTo>
                      <a:pt x="37" y="37"/>
                      <a:pt x="36" y="38"/>
                      <a:pt x="35" y="38"/>
                    </a:cubicBezTo>
                    <a:cubicBezTo>
                      <a:pt x="35" y="38"/>
                      <a:pt x="35" y="38"/>
                      <a:pt x="35" y="38"/>
                    </a:cubicBezTo>
                    <a:cubicBezTo>
                      <a:pt x="34" y="39"/>
                      <a:pt x="33" y="41"/>
                      <a:pt x="33" y="42"/>
                    </a:cubicBezTo>
                    <a:cubicBezTo>
                      <a:pt x="33" y="45"/>
                      <a:pt x="36" y="47"/>
                      <a:pt x="38" y="47"/>
                    </a:cubicBezTo>
                    <a:cubicBezTo>
                      <a:pt x="41" y="47"/>
                      <a:pt x="43" y="45"/>
                      <a:pt x="43" y="42"/>
                    </a:cubicBezTo>
                    <a:cubicBezTo>
                      <a:pt x="43" y="41"/>
                      <a:pt x="43" y="39"/>
                      <a:pt x="42" y="38"/>
                    </a:cubicBezTo>
                    <a:cubicBezTo>
                      <a:pt x="42" y="38"/>
                      <a:pt x="42" y="38"/>
                      <a:pt x="42" y="38"/>
                    </a:cubicBezTo>
                    <a:close/>
                    <a:moveTo>
                      <a:pt x="17" y="20"/>
                    </a:moveTo>
                    <a:cubicBezTo>
                      <a:pt x="17" y="20"/>
                      <a:pt x="17" y="20"/>
                      <a:pt x="17" y="20"/>
                    </a:cubicBezTo>
                    <a:cubicBezTo>
                      <a:pt x="16" y="18"/>
                      <a:pt x="14" y="18"/>
                      <a:pt x="12" y="18"/>
                    </a:cubicBezTo>
                    <a:cubicBezTo>
                      <a:pt x="7" y="18"/>
                      <a:pt x="4" y="21"/>
                      <a:pt x="4" y="26"/>
                    </a:cubicBezTo>
                    <a:cubicBezTo>
                      <a:pt x="4" y="30"/>
                      <a:pt x="7" y="34"/>
                      <a:pt x="12" y="34"/>
                    </a:cubicBezTo>
                    <a:cubicBezTo>
                      <a:pt x="14" y="34"/>
                      <a:pt x="16" y="33"/>
                      <a:pt x="17" y="31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9" y="30"/>
                      <a:pt x="20" y="28"/>
                      <a:pt x="20" y="26"/>
                    </a:cubicBezTo>
                    <a:cubicBezTo>
                      <a:pt x="20" y="23"/>
                      <a:pt x="19" y="21"/>
                      <a:pt x="17" y="20"/>
                    </a:cubicBezTo>
                    <a:cubicBezTo>
                      <a:pt x="17" y="20"/>
                      <a:pt x="17" y="20"/>
                      <a:pt x="17" y="20"/>
                    </a:cubicBezTo>
                    <a:close/>
                    <a:moveTo>
                      <a:pt x="38" y="4"/>
                    </a:moveTo>
                    <a:cubicBezTo>
                      <a:pt x="38" y="4"/>
                      <a:pt x="38" y="4"/>
                      <a:pt x="38" y="4"/>
                    </a:cubicBezTo>
                    <a:cubicBezTo>
                      <a:pt x="36" y="4"/>
                      <a:pt x="33" y="7"/>
                      <a:pt x="33" y="9"/>
                    </a:cubicBezTo>
                    <a:cubicBezTo>
                      <a:pt x="33" y="10"/>
                      <a:pt x="34" y="11"/>
                      <a:pt x="34" y="12"/>
                    </a:cubicBezTo>
                    <a:cubicBezTo>
                      <a:pt x="34" y="12"/>
                      <a:pt x="34" y="12"/>
                      <a:pt x="34" y="12"/>
                    </a:cubicBezTo>
                    <a:cubicBezTo>
                      <a:pt x="34" y="12"/>
                      <a:pt x="34" y="12"/>
                      <a:pt x="35" y="13"/>
                    </a:cubicBezTo>
                    <a:cubicBezTo>
                      <a:pt x="35" y="13"/>
                      <a:pt x="35" y="13"/>
                      <a:pt x="35" y="13"/>
                    </a:cubicBezTo>
                    <a:cubicBezTo>
                      <a:pt x="36" y="14"/>
                      <a:pt x="37" y="14"/>
                      <a:pt x="38" y="14"/>
                    </a:cubicBezTo>
                    <a:cubicBezTo>
                      <a:pt x="41" y="14"/>
                      <a:pt x="43" y="12"/>
                      <a:pt x="43" y="9"/>
                    </a:cubicBezTo>
                    <a:cubicBezTo>
                      <a:pt x="43" y="7"/>
                      <a:pt x="41" y="4"/>
                      <a:pt x="38" y="4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endParaRPr>
              </a:p>
            </p:txBody>
          </p:sp>
        </p:grpSp>
        <p:pic>
          <p:nvPicPr>
            <p:cNvPr id="7" name="图形 6" descr="罗盘">
              <a:extLst>
                <a:ext uri="{FF2B5EF4-FFF2-40B4-BE49-F238E27FC236}">
                  <a16:creationId xmlns:a16="http://schemas.microsoft.com/office/drawing/2014/main" id="{C73A7A81-0692-D12C-BE9C-A153F8C203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4754" y="3266368"/>
              <a:ext cx="656778" cy="656780"/>
            </a:xfrm>
            <a:prstGeom prst="rect">
              <a:avLst/>
            </a:prstGeom>
          </p:spPr>
        </p:pic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57FD000F-D371-48A1-EC98-0CADA0F64A49}"/>
              </a:ext>
            </a:extLst>
          </p:cNvPr>
          <p:cNvGrpSpPr/>
          <p:nvPr/>
        </p:nvGrpSpPr>
        <p:grpSpPr>
          <a:xfrm>
            <a:off x="3759175" y="1233146"/>
            <a:ext cx="7931767" cy="1134386"/>
            <a:chOff x="1776467" y="3849367"/>
            <a:chExt cx="7576782" cy="1134386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04F5A0C-580F-D06E-D9FE-BABBBDD3A3AB}"/>
                </a:ext>
              </a:extLst>
            </p:cNvPr>
            <p:cNvSpPr txBox="1"/>
            <p:nvPr/>
          </p:nvSpPr>
          <p:spPr>
            <a:xfrm>
              <a:off x="1776467" y="3849367"/>
              <a:ext cx="18999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spc="13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  <a:sym typeface="+mn-lt"/>
                </a:rPr>
                <a:t>Strategic Goal</a:t>
              </a:r>
              <a:endParaRPr lang="zh-CN" altLang="en-US" sz="2000" b="1" spc="13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思源宋体 CN" panose="02020400000000000000" pitchFamily="18" charset="-122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F3E38BB0-9116-A2AE-3BB6-03FB49645BA3}"/>
                </a:ext>
              </a:extLst>
            </p:cNvPr>
            <p:cNvSpPr txBox="1"/>
            <p:nvPr/>
          </p:nvSpPr>
          <p:spPr>
            <a:xfrm>
              <a:off x="1776467" y="4196999"/>
              <a:ext cx="7576782" cy="7867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r>
                <a:rPr lang="en-US" altLang="zh-CN" sz="16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  <a:sym typeface="+mn-lt"/>
                </a:rPr>
                <a:t>Maximize the Net Present Value (NPV) for an 85-unit Class B development in the New Hope market.</a:t>
              </a: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48BC46BC-FF6D-02EE-07F2-D100AFF086B2}"/>
              </a:ext>
            </a:extLst>
          </p:cNvPr>
          <p:cNvGrpSpPr/>
          <p:nvPr/>
        </p:nvGrpSpPr>
        <p:grpSpPr>
          <a:xfrm>
            <a:off x="3759175" y="2768519"/>
            <a:ext cx="7931767" cy="1134386"/>
            <a:chOff x="1776467" y="3849367"/>
            <a:chExt cx="7576782" cy="1134386"/>
          </a:xfrm>
        </p:grpSpPr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8FACB2DC-47CF-BA69-40FF-EB63C7559FC3}"/>
                </a:ext>
              </a:extLst>
            </p:cNvPr>
            <p:cNvSpPr txBox="1"/>
            <p:nvPr/>
          </p:nvSpPr>
          <p:spPr>
            <a:xfrm>
              <a:off x="1795004" y="3849367"/>
              <a:ext cx="22595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altLang="zh-CN" sz="2000" b="1" spc="13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  <a:sym typeface="+mn-lt"/>
                </a:rPr>
                <a:t>Primary Decision</a:t>
              </a:r>
              <a:endParaRPr lang="zh-CN" altLang="en-US" sz="2000" b="1" spc="13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思源宋体 CN" panose="02020400000000000000" pitchFamily="18" charset="-122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4355B14F-E637-AB8B-FC70-E7D308789708}"/>
                </a:ext>
              </a:extLst>
            </p:cNvPr>
            <p:cNvSpPr txBox="1"/>
            <p:nvPr/>
          </p:nvSpPr>
          <p:spPr>
            <a:xfrm>
              <a:off x="1776467" y="4196999"/>
              <a:ext cx="7576782" cy="7867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r>
                <a:rPr lang="en-US" altLang="zh-CN" sz="16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  <a:sym typeface="+mn-lt"/>
                </a:rPr>
                <a:t>Determine the optimal allocation between Studio and 1-Bedroom units while satisfying space and market demand constraints.</a:t>
              </a: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7124F7B0-82DC-97C4-61DA-F6B8D7409C70}"/>
              </a:ext>
            </a:extLst>
          </p:cNvPr>
          <p:cNvGrpSpPr/>
          <p:nvPr/>
        </p:nvGrpSpPr>
        <p:grpSpPr>
          <a:xfrm>
            <a:off x="3759175" y="4303893"/>
            <a:ext cx="7931767" cy="2242381"/>
            <a:chOff x="1776467" y="3849367"/>
            <a:chExt cx="7576782" cy="2242381"/>
          </a:xfrm>
        </p:grpSpPr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AF70F353-53E7-A15F-73F2-604487292662}"/>
                </a:ext>
              </a:extLst>
            </p:cNvPr>
            <p:cNvSpPr txBox="1"/>
            <p:nvPr/>
          </p:nvSpPr>
          <p:spPr>
            <a:xfrm>
              <a:off x="1795004" y="3849367"/>
              <a:ext cx="216992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altLang="zh-CN" sz="2000" b="1" spc="13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  <a:sym typeface="+mn-lt"/>
                </a:rPr>
                <a:t>Model Workflow</a:t>
              </a:r>
              <a:endParaRPr lang="zh-CN" altLang="en-US" sz="2000" b="1" spc="13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思源宋体 CN" panose="02020400000000000000" pitchFamily="18" charset="-122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27397F63-3554-CEFF-7193-F246EDF195CC}"/>
                </a:ext>
              </a:extLst>
            </p:cNvPr>
            <p:cNvSpPr txBox="1"/>
            <p:nvPr/>
          </p:nvSpPr>
          <p:spPr>
            <a:xfrm>
              <a:off x="1776467" y="4196999"/>
              <a:ext cx="7576782" cy="1894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r>
                <a:rPr lang="en-US" altLang="zh-CN" sz="16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  <a:sym typeface="+mn-lt"/>
                </a:rPr>
                <a:t>Memo Parameter Inputs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r>
                <a:rPr lang="en-US" altLang="zh-CN" sz="16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  <a:sym typeface="+mn-lt"/>
                </a:rPr>
                <a:t>Demand &amp; Cap Simulation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r>
                <a:rPr lang="en-US" altLang="zh-CN" sz="16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  <a:sym typeface="+mn-lt"/>
                </a:rPr>
                <a:t>Pro Forma Cost Model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r>
                <a:rPr lang="en-US" altLang="zh-CN" sz="16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  <a:sym typeface="+mn-lt"/>
                </a:rPr>
                <a:t>10-Year Cash Flow Projections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r>
                <a:rPr lang="en-US" altLang="zh-CN" sz="16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  <a:sym typeface="+mn-lt"/>
                </a:rPr>
                <a:t>NPV-Maximizing Best Mix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84410826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8BCD9-A316-EE63-AA25-B1C708FC7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95589A74-A920-B9A7-01A0-1BBF0EE71079}"/>
              </a:ext>
            </a:extLst>
          </p:cNvPr>
          <p:cNvGrpSpPr/>
          <p:nvPr/>
        </p:nvGrpSpPr>
        <p:grpSpPr>
          <a:xfrm>
            <a:off x="184152" y="203959"/>
            <a:ext cx="8013550" cy="632426"/>
            <a:chOff x="262864" y="138417"/>
            <a:chExt cx="8013550" cy="632426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AF98DBC8-4DAB-DC4F-CA5F-1BC64CAA5541}"/>
                </a:ext>
              </a:extLst>
            </p:cNvPr>
            <p:cNvGrpSpPr/>
            <p:nvPr/>
          </p:nvGrpSpPr>
          <p:grpSpPr>
            <a:xfrm>
              <a:off x="262864" y="138417"/>
              <a:ext cx="4828032" cy="632426"/>
              <a:chOff x="482600" y="451413"/>
              <a:chExt cx="4828032" cy="437588"/>
            </a:xfrm>
          </p:grpSpPr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0AE53BA0-3D5A-53BD-C69E-57B01BD5FC8E}"/>
                  </a:ext>
                </a:extLst>
              </p:cNvPr>
              <p:cNvSpPr/>
              <p:nvPr/>
            </p:nvSpPr>
            <p:spPr>
              <a:xfrm>
                <a:off x="544576" y="451413"/>
                <a:ext cx="4766056" cy="437587"/>
              </a:xfrm>
              <a:prstGeom prst="rect">
                <a:avLst/>
              </a:prstGeom>
              <a:gradFill flip="none" rotWithShape="1">
                <a:gsLst>
                  <a:gs pos="0">
                    <a:srgbClr val="0070C0">
                      <a:alpha val="0"/>
                    </a:srgbClr>
                  </a:gs>
                  <a:gs pos="100000">
                    <a:srgbClr val="0070C0">
                      <a:alpha val="5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宋体 CN Light" panose="02020300000000000000" pitchFamily="18" charset="-122"/>
                  <a:cs typeface="Times New Roman" panose="02020603050405020304" pitchFamily="18" charset="0"/>
                  <a:sym typeface="+mn-lt"/>
                </a:endParaRPr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73355797-2C3A-3DEE-51B0-1F1504608163}"/>
                  </a:ext>
                </a:extLst>
              </p:cNvPr>
              <p:cNvSpPr/>
              <p:nvPr/>
            </p:nvSpPr>
            <p:spPr>
              <a:xfrm>
                <a:off x="482600" y="451413"/>
                <a:ext cx="61976" cy="437588"/>
              </a:xfrm>
              <a:prstGeom prst="rect">
                <a:avLst/>
              </a:prstGeom>
              <a:solidFill>
                <a:srgbClr val="0070C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宋体 CN Light" panose="02020300000000000000" pitchFamily="18" charset="-122"/>
                  <a:cs typeface="Times New Roman" panose="02020603050405020304" pitchFamily="18" charset="0"/>
                  <a:sym typeface="+mn-lt"/>
                </a:endParaRPr>
              </a:p>
            </p:txBody>
          </p:sp>
        </p:grp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5EE926B4-FECD-A648-9BF8-DA905A78A58B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386815" y="193019"/>
              <a:ext cx="7889599" cy="52322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lvl="0">
                <a:defRPr/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思源宋体 CN Heavy" panose="02020900000000000000" charset="-122"/>
                  <a:cs typeface="Times New Roman" panose="02020603050405020304" pitchFamily="18" charset="0"/>
                  <a:sym typeface="+mn-ea"/>
                </a:rPr>
                <a:t>Key Constraints &amp; Cost Structure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思源宋体 CN Heavy" panose="02020900000000000000" charset="-122"/>
                <a:cs typeface="Times New Roman" panose="02020603050405020304" pitchFamily="18" charset="0"/>
                <a:sym typeface="+mn-ea"/>
              </a:endParaRPr>
            </a:p>
          </p:txBody>
        </p:sp>
      </p:grp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70989174-D50F-04CF-FC8D-4D7AFB1838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1222296"/>
              </p:ext>
            </p:extLst>
          </p:nvPr>
        </p:nvGraphicFramePr>
        <p:xfrm>
          <a:off x="371901" y="1673286"/>
          <a:ext cx="5422846" cy="3738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1421">
                  <a:extLst>
                    <a:ext uri="{9D8B030D-6E8A-4147-A177-3AD203B41FA5}">
                      <a16:colId xmlns:a16="http://schemas.microsoft.com/office/drawing/2014/main" val="1732225178"/>
                    </a:ext>
                  </a:extLst>
                </a:gridCol>
                <a:gridCol w="3051425">
                  <a:extLst>
                    <a:ext uri="{9D8B030D-6E8A-4147-A177-3AD203B41FA5}">
                      <a16:colId xmlns:a16="http://schemas.microsoft.com/office/drawing/2014/main" val="2463830403"/>
                    </a:ext>
                  </a:extLst>
                </a:gridCol>
              </a:tblGrid>
              <a:tr h="1056801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A) Space &amp; Unit Constraints</a:t>
                      </a:r>
                      <a:endParaRPr 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70C0">
                        <a:alpha val="78039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4987536"/>
                  </a:ext>
                </a:extLst>
              </a:tr>
              <a:tr h="61227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Units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0994798"/>
                  </a:ext>
                </a:extLst>
              </a:tr>
              <a:tr h="72866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Floor Space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&lt;= 80,000 sq ft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5635100"/>
                  </a:ext>
                </a:extLst>
              </a:tr>
              <a:tr h="61227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Studio Size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800 sq ft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1372256"/>
                  </a:ext>
                </a:extLst>
              </a:tr>
              <a:tr h="72866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1-Bedroom Size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1,200 sq ft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622084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76C8F91-0A2C-3759-263A-630790265B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8250613"/>
              </p:ext>
            </p:extLst>
          </p:nvPr>
        </p:nvGraphicFramePr>
        <p:xfrm>
          <a:off x="6287145" y="1673286"/>
          <a:ext cx="5422846" cy="3738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1421">
                  <a:extLst>
                    <a:ext uri="{9D8B030D-6E8A-4147-A177-3AD203B41FA5}">
                      <a16:colId xmlns:a16="http://schemas.microsoft.com/office/drawing/2014/main" val="1732225178"/>
                    </a:ext>
                  </a:extLst>
                </a:gridCol>
                <a:gridCol w="3051425">
                  <a:extLst>
                    <a:ext uri="{9D8B030D-6E8A-4147-A177-3AD203B41FA5}">
                      <a16:colId xmlns:a16="http://schemas.microsoft.com/office/drawing/2014/main" val="2463830403"/>
                    </a:ext>
                  </a:extLst>
                </a:gridCol>
              </a:tblGrid>
              <a:tr h="1056801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B) Operating Cost Assumptions</a:t>
                      </a:r>
                      <a:endParaRPr 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A7821">
                        <a:alpha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4987536"/>
                  </a:ext>
                </a:extLst>
              </a:tr>
              <a:tr h="61227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Fixed Costs</a:t>
                      </a:r>
                    </a:p>
                  </a:txBody>
                  <a:tcPr anchor="ctr">
                    <a:solidFill>
                      <a:srgbClr val="FFEC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$320,000 / year</a:t>
                      </a:r>
                    </a:p>
                  </a:txBody>
                  <a:tcPr anchor="ctr">
                    <a:solidFill>
                      <a:srgbClr val="FFE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0994798"/>
                  </a:ext>
                </a:extLst>
              </a:tr>
              <a:tr h="72866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Studio Var. Cost </a:t>
                      </a:r>
                    </a:p>
                  </a:txBody>
                  <a:tcPr anchor="ctr">
                    <a:solidFill>
                      <a:srgbClr val="FFE2C0">
                        <a:alpha val="89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$720 / unit / month</a:t>
                      </a:r>
                    </a:p>
                  </a:txBody>
                  <a:tcPr anchor="ctr">
                    <a:solidFill>
                      <a:srgbClr val="FFE2C0">
                        <a:alpha val="8902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635100"/>
                  </a:ext>
                </a:extLst>
              </a:tr>
              <a:tr h="61227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1-BR Var. Cost</a:t>
                      </a:r>
                    </a:p>
                  </a:txBody>
                  <a:tcPr anchor="ctr">
                    <a:solidFill>
                      <a:srgbClr val="FFEC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$1,000 / unit / month</a:t>
                      </a:r>
                    </a:p>
                  </a:txBody>
                  <a:tcPr anchor="ctr">
                    <a:solidFill>
                      <a:srgbClr val="FFE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372256"/>
                  </a:ext>
                </a:extLst>
              </a:tr>
              <a:tr h="72866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Discount Rate</a:t>
                      </a:r>
                    </a:p>
                  </a:txBody>
                  <a:tcPr anchor="ctr">
                    <a:solidFill>
                      <a:srgbClr val="FFE2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10.0%</a:t>
                      </a:r>
                    </a:p>
                  </a:txBody>
                  <a:tcPr anchor="ctr">
                    <a:solidFill>
                      <a:srgbClr val="FFE2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22084"/>
                  </a:ext>
                </a:extLst>
              </a:tr>
            </a:tbl>
          </a:graphicData>
        </a:graphic>
      </p:graphicFrame>
      <p:sp>
        <p:nvSpPr>
          <p:cNvPr id="4" name="矩形: 圆角 12">
            <a:extLst>
              <a:ext uri="{FF2B5EF4-FFF2-40B4-BE49-F238E27FC236}">
                <a16:creationId xmlns:a16="http://schemas.microsoft.com/office/drawing/2014/main" id="{DAE8A95A-194A-5AD3-B60A-D7B70637894A}"/>
              </a:ext>
            </a:extLst>
          </p:cNvPr>
          <p:cNvSpPr/>
          <p:nvPr/>
        </p:nvSpPr>
        <p:spPr>
          <a:xfrm>
            <a:off x="371901" y="5561757"/>
            <a:ext cx="5422845" cy="532799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257810">
              <a:defRPr/>
            </a:pPr>
            <a:r>
              <a:rPr lang="en-US" altLang="zh-CN" b="1" kern="0" dirty="0">
                <a:solidFill>
                  <a:prstClr val="white"/>
                </a:solidFill>
                <a:latin typeface="Times New Roman" panose="02020603050405020304" pitchFamily="18" charset="0"/>
                <a:ea typeface="思源宋体 CN" panose="02020400000000000000" pitchFamily="18" charset="-122"/>
                <a:cs typeface="Times New Roman" panose="02020603050405020304" pitchFamily="18" charset="0"/>
              </a:rPr>
              <a:t>-&gt;  800S  +  1,200B  &lt; =  80,000</a:t>
            </a:r>
            <a:endParaRPr lang="zh-CN" altLang="en-US" b="1" kern="0" dirty="0">
              <a:solidFill>
                <a:prstClr val="white"/>
              </a:solidFill>
              <a:latin typeface="Times New Roman" panose="02020603050405020304" pitchFamily="18" charset="0"/>
              <a:ea typeface="思源宋体 CN" panose="02020400000000000000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3919155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0C8DE-DEF2-0E2C-5FC6-F75E6DB41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BCA8E42F-9278-C10B-10B6-2466955B37C7}"/>
              </a:ext>
            </a:extLst>
          </p:cNvPr>
          <p:cNvGrpSpPr/>
          <p:nvPr/>
        </p:nvGrpSpPr>
        <p:grpSpPr>
          <a:xfrm>
            <a:off x="184152" y="203959"/>
            <a:ext cx="6439932" cy="632426"/>
            <a:chOff x="262864" y="138417"/>
            <a:chExt cx="6439932" cy="632426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6DEAADE7-B14F-1A91-5206-4B252316B6BC}"/>
                </a:ext>
              </a:extLst>
            </p:cNvPr>
            <p:cNvGrpSpPr/>
            <p:nvPr/>
          </p:nvGrpSpPr>
          <p:grpSpPr>
            <a:xfrm>
              <a:off x="262864" y="138417"/>
              <a:ext cx="4828032" cy="632426"/>
              <a:chOff x="482600" y="451413"/>
              <a:chExt cx="4828032" cy="437588"/>
            </a:xfrm>
          </p:grpSpPr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78688B5E-FFCF-F7AC-5268-6B5A82067BBB}"/>
                  </a:ext>
                </a:extLst>
              </p:cNvPr>
              <p:cNvSpPr/>
              <p:nvPr/>
            </p:nvSpPr>
            <p:spPr>
              <a:xfrm>
                <a:off x="544576" y="451413"/>
                <a:ext cx="4766056" cy="437587"/>
              </a:xfrm>
              <a:prstGeom prst="rect">
                <a:avLst/>
              </a:prstGeom>
              <a:gradFill flip="none" rotWithShape="1">
                <a:gsLst>
                  <a:gs pos="0">
                    <a:srgbClr val="0070C0">
                      <a:alpha val="0"/>
                    </a:srgbClr>
                  </a:gs>
                  <a:gs pos="100000">
                    <a:srgbClr val="0070C0">
                      <a:alpha val="5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宋体 CN Light" panose="02020300000000000000" pitchFamily="18" charset="-122"/>
                  <a:cs typeface="Times New Roman" panose="02020603050405020304" pitchFamily="18" charset="0"/>
                  <a:sym typeface="+mn-lt"/>
                </a:endParaRPr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AECFE04C-375B-D81C-4739-8D5D40DAC023}"/>
                  </a:ext>
                </a:extLst>
              </p:cNvPr>
              <p:cNvSpPr/>
              <p:nvPr/>
            </p:nvSpPr>
            <p:spPr>
              <a:xfrm>
                <a:off x="482600" y="451413"/>
                <a:ext cx="61976" cy="437588"/>
              </a:xfrm>
              <a:prstGeom prst="rect">
                <a:avLst/>
              </a:prstGeom>
              <a:solidFill>
                <a:srgbClr val="0070C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宋体 CN Light" panose="02020300000000000000" pitchFamily="18" charset="-122"/>
                  <a:cs typeface="Times New Roman" panose="02020603050405020304" pitchFamily="18" charset="0"/>
                  <a:sym typeface="+mn-lt"/>
                </a:endParaRPr>
              </a:p>
            </p:txBody>
          </p:sp>
        </p:grp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8992970A-A7B5-D62D-D4BD-155D8D239274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386815" y="193019"/>
              <a:ext cx="6315981" cy="52322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defTabSz="1219200">
                <a:lnSpc>
                  <a:spcPct val="100000"/>
                </a:lnSpc>
                <a:spcBef>
                  <a:spcPct val="0"/>
                </a:spcBef>
                <a:buFont typeface="思源宋体 CN Heavy" panose="02020900000000000000" pitchFamily="18" charset="-122"/>
                <a:buNone/>
                <a:defRPr/>
              </a:pPr>
              <a:r>
                <a:rPr lang="en-US" altLang="zh-CN" sz="28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Times New Roman" panose="02020603050405020304" pitchFamily="18" charset="0"/>
                  <a:ea typeface="思源宋体 CN Heavy" panose="02020900000000000000" pitchFamily="18" charset="-122"/>
                  <a:cs typeface="Times New Roman" panose="02020603050405020304" pitchFamily="18" charset="0"/>
                </a:rPr>
                <a:t>Demand Model: Market Absorption Risk</a:t>
              </a:r>
              <a:endParaRPr lang="zh-CN" alt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72F25E54-395C-BE88-72CD-B671A6565154}"/>
              </a:ext>
            </a:extLst>
          </p:cNvPr>
          <p:cNvGrpSpPr/>
          <p:nvPr/>
        </p:nvGrpSpPr>
        <p:grpSpPr>
          <a:xfrm>
            <a:off x="7079465" y="1116404"/>
            <a:ext cx="4503320" cy="2312595"/>
            <a:chOff x="8031439" y="1479313"/>
            <a:chExt cx="3310973" cy="1971159"/>
          </a:xfrm>
        </p:grpSpPr>
        <p:sp>
          <p:nvSpPr>
            <p:cNvPr id="40" name="矩形: 单圆角 39">
              <a:extLst>
                <a:ext uri="{FF2B5EF4-FFF2-40B4-BE49-F238E27FC236}">
                  <a16:creationId xmlns:a16="http://schemas.microsoft.com/office/drawing/2014/main" id="{70BE2511-94B2-9D65-8979-8748BC540BB9}"/>
                </a:ext>
              </a:extLst>
            </p:cNvPr>
            <p:cNvSpPr/>
            <p:nvPr/>
          </p:nvSpPr>
          <p:spPr>
            <a:xfrm>
              <a:off x="8031439" y="1479313"/>
              <a:ext cx="3310973" cy="1971159"/>
            </a:xfrm>
            <a:prstGeom prst="round1Rect">
              <a:avLst>
                <a:gd name="adj" fmla="val 18075"/>
              </a:avLst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762000" algn="ctr" rotWithShape="0">
                <a:srgbClr val="00BCBC">
                  <a:alpha val="15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 dirty="0">
                <a:solidFill>
                  <a:srgbClr val="FFFFFF"/>
                </a:solidFill>
                <a:latin typeface="Times New Roman" panose="02020603050405020304" pitchFamily="18" charset="0"/>
                <a:ea typeface="思源宋体 CN" panose="02020400000000000000" pitchFamily="18" charset="-122"/>
                <a:cs typeface="Times New Roman" panose="02020603050405020304" pitchFamily="18" charset="0"/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48473782-3DCD-C613-6B26-C6ACDEB4FB3D}"/>
                </a:ext>
              </a:extLst>
            </p:cNvPr>
            <p:cNvSpPr/>
            <p:nvPr/>
          </p:nvSpPr>
          <p:spPr>
            <a:xfrm>
              <a:off x="8194377" y="1755331"/>
              <a:ext cx="2985095" cy="14191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  <a:defRPr/>
              </a:pPr>
              <a:r>
                <a:rPr lang="en-US" altLang="zh-CN" sz="2000" b="1" dirty="0">
                  <a:solidFill>
                    <a:prstClr val="white"/>
                  </a:solidFill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</a:rPr>
                <a:t>Risk-Aware Absorption</a:t>
              </a:r>
              <a:endParaRPr lang="en-US" altLang="zh-CN" sz="1000" b="1" dirty="0">
                <a:solidFill>
                  <a:prstClr val="white"/>
                </a:solidFill>
                <a:latin typeface="Times New Roman" panose="02020603050405020304" pitchFamily="18" charset="0"/>
                <a:ea typeface="思源宋体 CN" panose="02020400000000000000" pitchFamily="18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50000"/>
                </a:lnSpc>
                <a:defRPr/>
              </a:pPr>
              <a:r>
                <a:rPr lang="en-US" altLang="zh-CN" sz="1600" kern="0" dirty="0">
                  <a:solidFill>
                    <a:prstClr val="white"/>
                  </a:solidFill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  <a:sym typeface="+mn-lt"/>
                </a:rPr>
                <a:t>To avoid unrealistic lease-up, the model enforces market capacity limits: higher rents reduce maximum leasable units.</a:t>
              </a:r>
              <a:endParaRPr lang="zh-CN" altLang="en-US" sz="1600" kern="0" dirty="0">
                <a:solidFill>
                  <a:prstClr val="white"/>
                </a:solidFill>
                <a:latin typeface="Times New Roman" panose="02020603050405020304" pitchFamily="18" charset="0"/>
                <a:ea typeface="思源宋体 CN" panose="02020400000000000000" pitchFamily="18" charset="-122"/>
                <a:cs typeface="Times New Roman" panose="02020603050405020304" pitchFamily="18" charset="0"/>
                <a:sym typeface="+mn-lt"/>
              </a:endParaRP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9AF48F82-B496-C6E5-73F4-91362BA5EFE2}"/>
              </a:ext>
            </a:extLst>
          </p:cNvPr>
          <p:cNvGrpSpPr/>
          <p:nvPr/>
        </p:nvGrpSpPr>
        <p:grpSpPr>
          <a:xfrm>
            <a:off x="7079465" y="3588860"/>
            <a:ext cx="4503320" cy="2723565"/>
            <a:chOff x="8031439" y="1479313"/>
            <a:chExt cx="3310973" cy="2378444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DA38BA9F-2DD2-4C56-869E-34BE18E01F23}"/>
                </a:ext>
              </a:extLst>
            </p:cNvPr>
            <p:cNvSpPr/>
            <p:nvPr/>
          </p:nvSpPr>
          <p:spPr>
            <a:xfrm>
              <a:off x="8031439" y="1479313"/>
              <a:ext cx="3310973" cy="2378444"/>
            </a:xfrm>
            <a:prstGeom prst="rect">
              <a:avLst/>
            </a:prstGeom>
            <a:solidFill>
              <a:srgbClr val="FA782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762000" algn="ctr" rotWithShape="0">
                <a:srgbClr val="00BCBC">
                  <a:alpha val="1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思源宋体 CN" panose="02020400000000000000" pitchFamily="18" charset="-122"/>
                <a:cs typeface="Times New Roman" panose="02020603050405020304" pitchFamily="18" charset="0"/>
              </a:endParaRPr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E3B6C5D2-F71A-74C5-C2AC-6A5379D0DA48}"/>
                </a:ext>
              </a:extLst>
            </p:cNvPr>
            <p:cNvSpPr/>
            <p:nvPr/>
          </p:nvSpPr>
          <p:spPr>
            <a:xfrm>
              <a:off x="8194377" y="1739925"/>
              <a:ext cx="2985095" cy="18572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lnSpc>
                  <a:spcPct val="150000"/>
                </a:lnSpc>
                <a:defRPr/>
              </a:pPr>
              <a:r>
                <a:rPr lang="en-US" altLang="zh-CN" sz="2000" b="1" kern="0" dirty="0">
                  <a:solidFill>
                    <a:prstClr val="white"/>
                  </a:solidFill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</a:rPr>
                <a:t>Why it matters</a:t>
              </a:r>
            </a:p>
            <a:p>
              <a:pPr lvl="0" algn="ctr">
                <a:lnSpc>
                  <a:spcPct val="150000"/>
                </a:lnSpc>
                <a:defRPr/>
              </a:pPr>
              <a:r>
                <a:rPr lang="en-US" altLang="zh-CN" sz="1600" kern="0" dirty="0">
                  <a:solidFill>
                    <a:prstClr val="white"/>
                  </a:solidFill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  <a:sym typeface="+mn-lt"/>
                </a:rPr>
                <a:t>This prevents choosing a mix that only</a:t>
              </a:r>
            </a:p>
            <a:p>
              <a:pPr lvl="0" algn="ctr">
                <a:lnSpc>
                  <a:spcPct val="150000"/>
                </a:lnSpc>
                <a:defRPr/>
              </a:pPr>
              <a:r>
                <a:rPr lang="en-US" altLang="zh-CN" sz="1600" kern="0" dirty="0">
                  <a:solidFill>
                    <a:prstClr val="white"/>
                  </a:solidFill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  <a:sym typeface="+mn-lt"/>
                </a:rPr>
                <a:t>works theoretically but fails in reality because the market cannot support that specific unit density at premium rents.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思源宋体 CN" panose="02020400000000000000" pitchFamily="18" charset="-122"/>
                <a:cs typeface="Times New Roman" panose="02020603050405020304" pitchFamily="18" charset="0"/>
                <a:sym typeface="+mn-lt"/>
              </a:endParaRPr>
            </a:p>
          </p:txBody>
        </p:sp>
      </p:grp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2ECF23C-4D1A-5DC5-6C8C-231D8B748A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322347"/>
              </p:ext>
            </p:extLst>
          </p:nvPr>
        </p:nvGraphicFramePr>
        <p:xfrm>
          <a:off x="308103" y="1116404"/>
          <a:ext cx="6273450" cy="51960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8613">
                  <a:extLst>
                    <a:ext uri="{9D8B030D-6E8A-4147-A177-3AD203B41FA5}">
                      <a16:colId xmlns:a16="http://schemas.microsoft.com/office/drawing/2014/main" val="898779430"/>
                    </a:ext>
                  </a:extLst>
                </a:gridCol>
                <a:gridCol w="2023144">
                  <a:extLst>
                    <a:ext uri="{9D8B030D-6E8A-4147-A177-3AD203B41FA5}">
                      <a16:colId xmlns:a16="http://schemas.microsoft.com/office/drawing/2014/main" val="4127785251"/>
                    </a:ext>
                  </a:extLst>
                </a:gridCol>
                <a:gridCol w="2381693">
                  <a:extLst>
                    <a:ext uri="{9D8B030D-6E8A-4147-A177-3AD203B41FA5}">
                      <a16:colId xmlns:a16="http://schemas.microsoft.com/office/drawing/2014/main" val="520997747"/>
                    </a:ext>
                  </a:extLst>
                </a:gridCol>
              </a:tblGrid>
              <a:tr h="105680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Rent Level</a:t>
                      </a:r>
                      <a:endParaRPr 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70C0">
                        <a:alpha val="780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Market Cap</a:t>
                      </a:r>
                    </a:p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(Studios)</a:t>
                      </a:r>
                    </a:p>
                  </a:txBody>
                  <a:tcPr anchor="ctr">
                    <a:solidFill>
                      <a:srgbClr val="0070C0">
                        <a:alpha val="780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Market Cap</a:t>
                      </a:r>
                    </a:p>
                    <a:p>
                      <a:pPr algn="ct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(1-Bedrooms)</a:t>
                      </a:r>
                    </a:p>
                  </a:txBody>
                  <a:tcPr anchor="ctr">
                    <a:solidFill>
                      <a:srgbClr val="0070C0">
                        <a:alpha val="7803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7491755"/>
                  </a:ext>
                </a:extLst>
              </a:tr>
              <a:tr h="61227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Less than $1,500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1606517"/>
                  </a:ext>
                </a:extLst>
              </a:tr>
              <a:tr h="72866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$1,500 - $1,800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9353069"/>
                  </a:ext>
                </a:extLst>
              </a:tr>
              <a:tr h="61227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$1,800 - $2,100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3837825"/>
                  </a:ext>
                </a:extLst>
              </a:tr>
              <a:tr h="72866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$2,200 - $2,500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272836"/>
                  </a:ext>
                </a:extLst>
              </a:tr>
              <a:tr h="72866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$2,500 - $2,800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6769898"/>
                  </a:ext>
                </a:extLst>
              </a:tr>
              <a:tr h="72866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$2,800 - $3,100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01327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3644486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45253-9807-1BFA-70A8-0321D5D7D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37A776CD-AA8A-B976-7099-E84A5913626E}"/>
              </a:ext>
            </a:extLst>
          </p:cNvPr>
          <p:cNvGrpSpPr/>
          <p:nvPr/>
        </p:nvGrpSpPr>
        <p:grpSpPr>
          <a:xfrm>
            <a:off x="184152" y="203959"/>
            <a:ext cx="7568802" cy="632426"/>
            <a:chOff x="262864" y="138417"/>
            <a:chExt cx="7568802" cy="632426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676E7C08-3DC8-86C7-174E-8D8F083E0DE3}"/>
                </a:ext>
              </a:extLst>
            </p:cNvPr>
            <p:cNvGrpSpPr/>
            <p:nvPr/>
          </p:nvGrpSpPr>
          <p:grpSpPr>
            <a:xfrm>
              <a:off x="262864" y="138417"/>
              <a:ext cx="4828032" cy="632426"/>
              <a:chOff x="482600" y="451413"/>
              <a:chExt cx="4828032" cy="437588"/>
            </a:xfrm>
          </p:grpSpPr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9AFE1B12-2EF0-7C9F-BD4F-B5171353ADA2}"/>
                  </a:ext>
                </a:extLst>
              </p:cNvPr>
              <p:cNvSpPr/>
              <p:nvPr/>
            </p:nvSpPr>
            <p:spPr>
              <a:xfrm>
                <a:off x="544576" y="451413"/>
                <a:ext cx="4766056" cy="437587"/>
              </a:xfrm>
              <a:prstGeom prst="rect">
                <a:avLst/>
              </a:prstGeom>
              <a:gradFill flip="none" rotWithShape="1">
                <a:gsLst>
                  <a:gs pos="0">
                    <a:srgbClr val="0070C0">
                      <a:alpha val="0"/>
                    </a:srgbClr>
                  </a:gs>
                  <a:gs pos="100000">
                    <a:srgbClr val="0070C0">
                      <a:alpha val="5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宋体 CN Light" panose="02020300000000000000" pitchFamily="18" charset="-122"/>
                  <a:cs typeface="Times New Roman" panose="02020603050405020304" pitchFamily="18" charset="0"/>
                  <a:sym typeface="+mn-lt"/>
                </a:endParaRPr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D9909F32-7B80-5960-E17B-DB22BCACF0A6}"/>
                  </a:ext>
                </a:extLst>
              </p:cNvPr>
              <p:cNvSpPr/>
              <p:nvPr/>
            </p:nvSpPr>
            <p:spPr>
              <a:xfrm>
                <a:off x="482600" y="451413"/>
                <a:ext cx="61976" cy="437588"/>
              </a:xfrm>
              <a:prstGeom prst="rect">
                <a:avLst/>
              </a:prstGeom>
              <a:solidFill>
                <a:srgbClr val="0070C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宋体 CN Light" panose="02020300000000000000" pitchFamily="18" charset="-122"/>
                  <a:cs typeface="Times New Roman" panose="02020603050405020304" pitchFamily="18" charset="0"/>
                  <a:sym typeface="+mn-lt"/>
                </a:endParaRPr>
              </a:p>
            </p:txBody>
          </p:sp>
        </p:grp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2955B211-2F1F-5BE9-A47A-12B61C8D4189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386815" y="193019"/>
              <a:ext cx="7444851" cy="52322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lvl="0">
                <a:defRPr/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思源宋体 CN Heavy" panose="02020900000000000000" charset="-122"/>
                  <a:cs typeface="Times New Roman" panose="02020603050405020304" pitchFamily="18" charset="0"/>
                  <a:sym typeface="+mn-ea"/>
                </a:rPr>
                <a:t>Optimal Unit Mix: The Winning Solution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思源宋体 CN Heavy" panose="02020900000000000000" charset="-122"/>
                <a:cs typeface="Times New Roman" panose="02020603050405020304" pitchFamily="18" charset="0"/>
                <a:sym typeface="+mn-ea"/>
              </a:endParaRPr>
            </a:p>
          </p:txBody>
        </p:sp>
      </p:grp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0FA1AB9-75FD-B7C8-7468-02222A5DA69E}"/>
              </a:ext>
            </a:extLst>
          </p:cNvPr>
          <p:cNvSpPr/>
          <p:nvPr/>
        </p:nvSpPr>
        <p:spPr>
          <a:xfrm>
            <a:off x="4550735" y="1169581"/>
            <a:ext cx="7219507" cy="5071731"/>
          </a:xfrm>
          <a:prstGeom prst="roundRect">
            <a:avLst/>
          </a:prstGeom>
          <a:solidFill>
            <a:srgbClr val="FFF8F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37ADC9-0732-FCD7-9AE9-7AF452123148}"/>
              </a:ext>
            </a:extLst>
          </p:cNvPr>
          <p:cNvSpPr txBox="1"/>
          <p:nvPr/>
        </p:nvSpPr>
        <p:spPr>
          <a:xfrm>
            <a:off x="421758" y="1169581"/>
            <a:ext cx="42672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55 / 30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CD699A-5D5D-738E-3FE3-B624C916591E}"/>
              </a:ext>
            </a:extLst>
          </p:cNvPr>
          <p:cNvSpPr txBox="1"/>
          <p:nvPr/>
        </p:nvSpPr>
        <p:spPr>
          <a:xfrm>
            <a:off x="421758" y="2493020"/>
            <a:ext cx="34803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Studio / 1-Bedroom Allocation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2E021F-590A-FBEA-8CB4-B1ACDF9B4210}"/>
              </a:ext>
            </a:extLst>
          </p:cNvPr>
          <p:cNvSpPr txBox="1"/>
          <p:nvPr/>
        </p:nvSpPr>
        <p:spPr>
          <a:xfrm>
            <a:off x="421758" y="3373261"/>
            <a:ext cx="37185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$14.12M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A8D61A-9442-7DA1-80A8-DD74052F7DE2}"/>
              </a:ext>
            </a:extLst>
          </p:cNvPr>
          <p:cNvSpPr txBox="1"/>
          <p:nvPr/>
        </p:nvSpPr>
        <p:spPr>
          <a:xfrm>
            <a:off x="474923" y="4315059"/>
            <a:ext cx="31614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Estimated Project NPV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64C18F-2BC3-8E0F-2D59-1400725F9CD8}"/>
              </a:ext>
            </a:extLst>
          </p:cNvPr>
          <p:cNvSpPr txBox="1"/>
          <p:nvPr/>
        </p:nvSpPr>
        <p:spPr>
          <a:xfrm>
            <a:off x="5012184" y="1519495"/>
            <a:ext cx="6399139" cy="43719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980"/>
              </a:lnSpc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 Review</a:t>
            </a:r>
          </a:p>
          <a:p>
            <a:pPr>
              <a:lnSpc>
                <a:spcPts val="900"/>
              </a:lnSpc>
            </a:pPr>
            <a:endParaRPr lang="en-US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98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Floor Space Utilization: 100% (Exactly 80,000 sq ft). The space constraint is "binding.”</a:t>
            </a:r>
          </a:p>
          <a:p>
            <a:pPr>
              <a:lnSpc>
                <a:spcPts val="980"/>
              </a:lnSpc>
            </a:pPr>
            <a:endParaRPr lang="en-US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98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Density: Maximizing Studio count captures higher rent-per-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sqft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efficiency.</a:t>
            </a:r>
          </a:p>
          <a:p>
            <a:pPr>
              <a:lnSpc>
                <a:spcPts val="900"/>
              </a:lnSpc>
            </a:pPr>
            <a:endParaRPr lang="en-US" sz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98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Absorption Buffer: The 30-unit 1-BR allocation remains well within the 48-unit market cap for its rent tier ($2,565).</a:t>
            </a:r>
          </a:p>
          <a:p>
            <a:pPr>
              <a:lnSpc>
                <a:spcPts val="298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900"/>
              </a:lnSpc>
            </a:pPr>
            <a:endParaRPr lang="en-US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98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Takeaway: The optimizer fully utilizes floor space to maximize value under combined demand and cost constraints.</a:t>
            </a:r>
          </a:p>
        </p:txBody>
      </p:sp>
    </p:spTree>
    <p:extLst>
      <p:ext uri="{BB962C8B-B14F-4D97-AF65-F5344CB8AC3E}">
        <p14:creationId xmlns:p14="http://schemas.microsoft.com/office/powerpoint/2010/main" val="2355229358"/>
      </p:ext>
    </p:extLst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5A8B9-D510-79E2-772D-51D07B31B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6FCAD323-CC32-4256-4470-8CD67001C036}"/>
              </a:ext>
            </a:extLst>
          </p:cNvPr>
          <p:cNvGrpSpPr/>
          <p:nvPr/>
        </p:nvGrpSpPr>
        <p:grpSpPr>
          <a:xfrm>
            <a:off x="184152" y="203959"/>
            <a:ext cx="7503188" cy="632426"/>
            <a:chOff x="262864" y="138417"/>
            <a:chExt cx="7503188" cy="632426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1AD7A231-64EA-CF82-6091-F9A05D189915}"/>
                </a:ext>
              </a:extLst>
            </p:cNvPr>
            <p:cNvGrpSpPr/>
            <p:nvPr/>
          </p:nvGrpSpPr>
          <p:grpSpPr>
            <a:xfrm>
              <a:off x="262864" y="138417"/>
              <a:ext cx="4828032" cy="632426"/>
              <a:chOff x="482600" y="451413"/>
              <a:chExt cx="4828032" cy="437588"/>
            </a:xfrm>
          </p:grpSpPr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B967FE3A-6684-3CB6-23F4-0BDB5F70B8E1}"/>
                  </a:ext>
                </a:extLst>
              </p:cNvPr>
              <p:cNvSpPr/>
              <p:nvPr/>
            </p:nvSpPr>
            <p:spPr>
              <a:xfrm>
                <a:off x="544576" y="451413"/>
                <a:ext cx="4766056" cy="437587"/>
              </a:xfrm>
              <a:prstGeom prst="rect">
                <a:avLst/>
              </a:prstGeom>
              <a:gradFill flip="none" rotWithShape="1">
                <a:gsLst>
                  <a:gs pos="0">
                    <a:srgbClr val="0070C0">
                      <a:alpha val="0"/>
                    </a:srgbClr>
                  </a:gs>
                  <a:gs pos="100000">
                    <a:srgbClr val="0070C0">
                      <a:alpha val="5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宋体 CN Light" panose="02020300000000000000" pitchFamily="18" charset="-122"/>
                  <a:cs typeface="Times New Roman" panose="02020603050405020304" pitchFamily="18" charset="0"/>
                  <a:sym typeface="+mn-lt"/>
                </a:endParaRPr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8E7995AC-75E6-DAD4-95B3-3E265136E73F}"/>
                  </a:ext>
                </a:extLst>
              </p:cNvPr>
              <p:cNvSpPr/>
              <p:nvPr/>
            </p:nvSpPr>
            <p:spPr>
              <a:xfrm>
                <a:off x="482600" y="451413"/>
                <a:ext cx="61976" cy="437588"/>
              </a:xfrm>
              <a:prstGeom prst="rect">
                <a:avLst/>
              </a:prstGeom>
              <a:solidFill>
                <a:srgbClr val="0070C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宋体 CN Light" panose="02020300000000000000" pitchFamily="18" charset="-122"/>
                  <a:cs typeface="Times New Roman" panose="02020603050405020304" pitchFamily="18" charset="0"/>
                  <a:sym typeface="+mn-lt"/>
                </a:endParaRPr>
              </a:p>
            </p:txBody>
          </p:sp>
        </p:grp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8C76F2D1-09B7-E163-0C1D-4FA919017D47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386815" y="193019"/>
              <a:ext cx="7379237" cy="52322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lvl="0">
                <a:defRPr/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思源宋体 CN Heavy" panose="02020900000000000000" charset="-122"/>
                  <a:cs typeface="Times New Roman" panose="02020603050405020304" pitchFamily="18" charset="0"/>
                  <a:sym typeface="+mn-ea"/>
                </a:rPr>
                <a:t>Validation: NPV Peak &amp; Growth Resilience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思源宋体 CN Heavy" panose="02020900000000000000" charset="-122"/>
                <a:cs typeface="Times New Roman" panose="02020603050405020304" pitchFamily="18" charset="0"/>
                <a:sym typeface="+mn-ea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C7F65D4F-AA55-E672-32F2-668186B71DDE}"/>
              </a:ext>
            </a:extLst>
          </p:cNvPr>
          <p:cNvGrpSpPr/>
          <p:nvPr/>
        </p:nvGrpSpPr>
        <p:grpSpPr>
          <a:xfrm>
            <a:off x="394376" y="1084522"/>
            <a:ext cx="5379103" cy="5433236"/>
            <a:chOff x="808800" y="2830434"/>
            <a:chExt cx="5379103" cy="543323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BEF446C-6837-E881-E66D-7EDA5751E463}"/>
                </a:ext>
              </a:extLst>
            </p:cNvPr>
            <p:cNvSpPr/>
            <p:nvPr/>
          </p:nvSpPr>
          <p:spPr>
            <a:xfrm>
              <a:off x="808800" y="2830434"/>
              <a:ext cx="5379103" cy="5433236"/>
            </a:xfrm>
            <a:prstGeom prst="rect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思源宋体 CN" panose="02020400000000000000" pitchFamily="18" charset="-122"/>
                <a:cs typeface="Times New Roman" panose="02020603050405020304" pitchFamily="18" charset="0"/>
                <a:sym typeface="思源黑体 CN Bold" panose="020B0800000000000000" pitchFamily="34" charset="-122"/>
              </a:endParaRPr>
            </a:p>
          </p:txBody>
        </p: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05B0DEE1-A665-395E-3135-9413C96BECB1}"/>
                </a:ext>
              </a:extLst>
            </p:cNvPr>
            <p:cNvGrpSpPr/>
            <p:nvPr/>
          </p:nvGrpSpPr>
          <p:grpSpPr>
            <a:xfrm>
              <a:off x="944175" y="3009959"/>
              <a:ext cx="5105505" cy="1863407"/>
              <a:chOff x="944175" y="3055000"/>
              <a:chExt cx="5105505" cy="1863407"/>
            </a:xfrm>
          </p:grpSpPr>
          <p:sp>
            <p:nvSpPr>
              <p:cNvPr id="18" name="矩形: 圆角 17">
                <a:extLst>
                  <a:ext uri="{FF2B5EF4-FFF2-40B4-BE49-F238E27FC236}">
                    <a16:creationId xmlns:a16="http://schemas.microsoft.com/office/drawing/2014/main" id="{744EE4D3-D34C-BAA5-87AD-C4045BD12AD1}"/>
                  </a:ext>
                </a:extLst>
              </p:cNvPr>
              <p:cNvSpPr/>
              <p:nvPr/>
            </p:nvSpPr>
            <p:spPr>
              <a:xfrm>
                <a:off x="944175" y="3055000"/>
                <a:ext cx="2202816" cy="390880"/>
              </a:xfrm>
              <a:prstGeom prst="roundRect">
                <a:avLst>
                  <a:gd name="adj" fmla="val 50000"/>
                </a:avLst>
              </a:pr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lvl="0">
                  <a:defRPr/>
                </a:pPr>
                <a:r>
                  <a:rPr lang="en-US" altLang="zh-CN" sz="2000" b="1" kern="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Times New Roman" panose="02020603050405020304" pitchFamily="18" charset="0"/>
                    <a:ea typeface="思源宋体 CN" panose="02020400000000000000" pitchFamily="18" charset="-122"/>
                    <a:cs typeface="Times New Roman" panose="02020603050405020304" pitchFamily="18" charset="0"/>
                    <a:sym typeface="+mn-lt"/>
                  </a:rPr>
                  <a:t>NPV by Unit Mix</a:t>
                </a:r>
                <a:endPara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  <a:sym typeface="+mn-lt"/>
                </a:endParaRPr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C36F900D-FB90-6182-F5DE-AD80867D8E77}"/>
                  </a:ext>
                </a:extLst>
              </p:cNvPr>
              <p:cNvSpPr/>
              <p:nvPr/>
            </p:nvSpPr>
            <p:spPr>
              <a:xfrm>
                <a:off x="1026850" y="3485322"/>
                <a:ext cx="5022830" cy="143308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lvl="0" hangingPunct="0">
                  <a:lnSpc>
                    <a:spcPct val="150000"/>
                  </a:lnSpc>
                  <a:defRPr/>
                </a:pPr>
                <a:r>
                  <a:rPr lang="en-US" altLang="zh-CN" sz="1600" kern="0" dirty="0">
                    <a:solidFill>
                      <a:prstClr val="white"/>
                    </a:solidFill>
                    <a:latin typeface="Times New Roman" panose="02020603050405020304" pitchFamily="18" charset="0"/>
                    <a:ea typeface="思源宋体 CN" panose="02020400000000000000" pitchFamily="18" charset="-122"/>
                    <a:cs typeface="Times New Roman" panose="02020603050405020304" pitchFamily="18" charset="0"/>
                    <a:sym typeface="+mn-lt"/>
                  </a:rPr>
                  <a:t>Our simulation shows a clear Peak at 55 Studios. Total project value declines as the mix shifts further toward Studios or 1-BRs due to either floor space wastage or market cap friction.</a:t>
                </a:r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  <a:sym typeface="+mn-lt"/>
                </a:endParaRPr>
              </a:p>
            </p:txBody>
          </p:sp>
        </p:grp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F30924E-10D0-90D9-4EBC-4B0CB6E21F49}"/>
              </a:ext>
            </a:extLst>
          </p:cNvPr>
          <p:cNvGrpSpPr/>
          <p:nvPr/>
        </p:nvGrpSpPr>
        <p:grpSpPr>
          <a:xfrm>
            <a:off x="6096000" y="1084522"/>
            <a:ext cx="5379102" cy="5433236"/>
            <a:chOff x="3273452" y="2830434"/>
            <a:chExt cx="5379102" cy="5433236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300312D9-F54E-E0D1-DBA0-65485085060E}"/>
                </a:ext>
              </a:extLst>
            </p:cNvPr>
            <p:cNvSpPr/>
            <p:nvPr/>
          </p:nvSpPr>
          <p:spPr>
            <a:xfrm>
              <a:off x="3273452" y="2830434"/>
              <a:ext cx="5379102" cy="5433236"/>
            </a:xfrm>
            <a:prstGeom prst="rect">
              <a:avLst/>
            </a:prstGeom>
            <a:solidFill>
              <a:srgbClr val="FA782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思源宋体 CN" panose="02020400000000000000" pitchFamily="18" charset="-122"/>
                <a:cs typeface="Times New Roman" panose="02020603050405020304" pitchFamily="18" charset="0"/>
                <a:sym typeface="思源黑体 CN Bold" panose="020B0800000000000000" pitchFamily="34" charset="-122"/>
              </a:endParaRP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FB110C26-91CB-AC50-4DBC-2D991A608238}"/>
                </a:ext>
              </a:extLst>
            </p:cNvPr>
            <p:cNvGrpSpPr/>
            <p:nvPr/>
          </p:nvGrpSpPr>
          <p:grpSpPr>
            <a:xfrm>
              <a:off x="3409536" y="3009959"/>
              <a:ext cx="5168591" cy="1678740"/>
              <a:chOff x="944885" y="3055000"/>
              <a:chExt cx="5168591" cy="1678740"/>
            </a:xfrm>
          </p:grpSpPr>
          <p:sp>
            <p:nvSpPr>
              <p:cNvPr id="13" name="矩形: 圆角 12">
                <a:extLst>
                  <a:ext uri="{FF2B5EF4-FFF2-40B4-BE49-F238E27FC236}">
                    <a16:creationId xmlns:a16="http://schemas.microsoft.com/office/drawing/2014/main" id="{2F135537-CD54-F75A-28E2-208869E6CB52}"/>
                  </a:ext>
                </a:extLst>
              </p:cNvPr>
              <p:cNvSpPr/>
              <p:nvPr/>
            </p:nvSpPr>
            <p:spPr>
              <a:xfrm>
                <a:off x="944885" y="3055000"/>
                <a:ext cx="2934377" cy="390880"/>
              </a:xfrm>
              <a:prstGeom prst="roundRect">
                <a:avLst>
                  <a:gd name="adj" fmla="val 50000"/>
                </a:avLst>
              </a:pr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lvl="0">
                  <a:defRPr/>
                </a:pPr>
                <a:r>
                  <a:rPr lang="en-US" altLang="zh-CN" sz="2000" b="1" kern="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Times New Roman" panose="02020603050405020304" pitchFamily="18" charset="0"/>
                    <a:ea typeface="思源宋体 CN" panose="02020400000000000000" pitchFamily="18" charset="-122"/>
                    <a:cs typeface="Times New Roman" panose="02020603050405020304" pitchFamily="18" charset="0"/>
                    <a:sym typeface="+mn-lt"/>
                  </a:rPr>
                  <a:t>Rent Growth Sensitivity</a:t>
                </a:r>
                <a:endPara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  <a:sym typeface="+mn-lt"/>
                </a:endParaRPr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133178F2-6425-3679-E134-E030858004AB}"/>
                  </a:ext>
                </a:extLst>
              </p:cNvPr>
              <p:cNvSpPr/>
              <p:nvPr/>
            </p:nvSpPr>
            <p:spPr>
              <a:xfrm>
                <a:off x="1006543" y="3669987"/>
                <a:ext cx="5106933" cy="10637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lvl="0" hangingPunct="0">
                  <a:lnSpc>
                    <a:spcPct val="150000"/>
                  </a:lnSpc>
                  <a:defRPr/>
                </a:pPr>
                <a:r>
                  <a:rPr lang="en-US" altLang="zh-CN" sz="1600" kern="0" dirty="0">
                    <a:solidFill>
                      <a:prstClr val="white"/>
                    </a:solidFill>
                    <a:latin typeface="Times New Roman" panose="02020603050405020304" pitchFamily="18" charset="0"/>
                    <a:ea typeface="思源宋体 CN" panose="02020400000000000000" pitchFamily="18" charset="-122"/>
                    <a:cs typeface="Times New Roman" panose="02020603050405020304" pitchFamily="18" charset="0"/>
                    <a:sym typeface="+mn-lt"/>
                  </a:rPr>
                  <a:t>Across growth scenarios (2%-10%), the optimal mix stays 55/30. This confirms the structural robustness of the recommendation against market volatility.</a:t>
                </a:r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  <a:sym typeface="+mn-lt"/>
                </a:endParaRPr>
              </a:p>
            </p:txBody>
          </p:sp>
        </p:grp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61F20F84-E0D1-3901-D544-322C9912D3D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306" r="48612"/>
          <a:stretch>
            <a:fillRect/>
          </a:stretch>
        </p:blipFill>
        <p:spPr>
          <a:xfrm>
            <a:off x="502238" y="3301989"/>
            <a:ext cx="5133018" cy="305664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2C90BEF-204D-4A3B-7D28-0B5AE49629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2084" y="3301989"/>
            <a:ext cx="5106933" cy="3056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331803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AD3F7-81C8-1AB6-C6A5-E9E5E5532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184FDF5A-87D6-FDBE-EBA3-818E2506E6E8}"/>
              </a:ext>
            </a:extLst>
          </p:cNvPr>
          <p:cNvGrpSpPr/>
          <p:nvPr/>
        </p:nvGrpSpPr>
        <p:grpSpPr>
          <a:xfrm>
            <a:off x="184152" y="203959"/>
            <a:ext cx="8013550" cy="632426"/>
            <a:chOff x="262864" y="138417"/>
            <a:chExt cx="8013550" cy="632426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3C8C86BC-87BC-82BA-E482-2BA18C040C2E}"/>
                </a:ext>
              </a:extLst>
            </p:cNvPr>
            <p:cNvGrpSpPr/>
            <p:nvPr/>
          </p:nvGrpSpPr>
          <p:grpSpPr>
            <a:xfrm>
              <a:off x="262864" y="138417"/>
              <a:ext cx="4828032" cy="632426"/>
              <a:chOff x="482600" y="451413"/>
              <a:chExt cx="4828032" cy="437588"/>
            </a:xfrm>
          </p:grpSpPr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897A5498-5151-5935-7CE8-FCB6343BAE62}"/>
                  </a:ext>
                </a:extLst>
              </p:cNvPr>
              <p:cNvSpPr/>
              <p:nvPr/>
            </p:nvSpPr>
            <p:spPr>
              <a:xfrm>
                <a:off x="544576" y="451413"/>
                <a:ext cx="4766056" cy="437587"/>
              </a:xfrm>
              <a:prstGeom prst="rect">
                <a:avLst/>
              </a:prstGeom>
              <a:gradFill flip="none" rotWithShape="1">
                <a:gsLst>
                  <a:gs pos="0">
                    <a:srgbClr val="0070C0">
                      <a:alpha val="0"/>
                    </a:srgbClr>
                  </a:gs>
                  <a:gs pos="100000">
                    <a:srgbClr val="0070C0">
                      <a:alpha val="5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宋体 CN Light" panose="02020300000000000000" pitchFamily="18" charset="-122"/>
                  <a:cs typeface="Times New Roman" panose="02020603050405020304" pitchFamily="18" charset="0"/>
                  <a:sym typeface="+mn-lt"/>
                </a:endParaRPr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7BC61A09-DECB-6540-5CC9-0E4F16BC189A}"/>
                  </a:ext>
                </a:extLst>
              </p:cNvPr>
              <p:cNvSpPr/>
              <p:nvPr/>
            </p:nvSpPr>
            <p:spPr>
              <a:xfrm>
                <a:off x="482600" y="451413"/>
                <a:ext cx="61976" cy="437588"/>
              </a:xfrm>
              <a:prstGeom prst="rect">
                <a:avLst/>
              </a:prstGeom>
              <a:solidFill>
                <a:srgbClr val="0070C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宋体 CN Light" panose="02020300000000000000" pitchFamily="18" charset="-122"/>
                  <a:cs typeface="Times New Roman" panose="02020603050405020304" pitchFamily="18" charset="0"/>
                  <a:sym typeface="+mn-lt"/>
                </a:endParaRPr>
              </a:p>
            </p:txBody>
          </p:sp>
        </p:grp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EECBF7F1-9A20-F3C1-4B1C-C4B4BC8A4EF0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386815" y="193019"/>
              <a:ext cx="7889599" cy="52322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lvl="0">
                <a:defRPr/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思源宋体 CN Heavy" panose="02020900000000000000" charset="-122"/>
                  <a:cs typeface="Times New Roman" panose="02020603050405020304" pitchFamily="18" charset="0"/>
                  <a:sym typeface="+mn-ea"/>
                </a:rPr>
                <a:t>Downside Stress Test: Strategic Resilience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思源宋体 CN Heavy" panose="02020900000000000000" charset="-122"/>
                <a:cs typeface="Times New Roman" panose="02020603050405020304" pitchFamily="18" charset="0"/>
                <a:sym typeface="+mn-ea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E6E42ED0-655F-6E8B-2AC6-656A7BA21AEF}"/>
              </a:ext>
            </a:extLst>
          </p:cNvPr>
          <p:cNvGrpSpPr/>
          <p:nvPr/>
        </p:nvGrpSpPr>
        <p:grpSpPr>
          <a:xfrm>
            <a:off x="5744582" y="1345640"/>
            <a:ext cx="6379016" cy="1023101"/>
            <a:chOff x="7136015" y="3164835"/>
            <a:chExt cx="6379016" cy="1023101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AA492487-DEEB-4B5B-0379-784FF354FDAE}"/>
                </a:ext>
              </a:extLst>
            </p:cNvPr>
            <p:cNvGrpSpPr/>
            <p:nvPr/>
          </p:nvGrpSpPr>
          <p:grpSpPr>
            <a:xfrm>
              <a:off x="7136015" y="3285873"/>
              <a:ext cx="542925" cy="542925"/>
              <a:chOff x="7136015" y="3276600"/>
              <a:chExt cx="542925" cy="542925"/>
            </a:xfrm>
          </p:grpSpPr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AD711F91-B7A3-5E16-6E60-FA6651A5F05F}"/>
                  </a:ext>
                </a:extLst>
              </p:cNvPr>
              <p:cNvSpPr/>
              <p:nvPr/>
            </p:nvSpPr>
            <p:spPr>
              <a:xfrm>
                <a:off x="7136015" y="3276600"/>
                <a:ext cx="542925" cy="542925"/>
              </a:xfrm>
              <a:prstGeom prst="ellipse">
                <a:avLst/>
              </a:prstGeom>
              <a:solidFill>
                <a:srgbClr val="FA782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20" name="图形 19">
                <a:extLst>
                  <a:ext uri="{FF2B5EF4-FFF2-40B4-BE49-F238E27FC236}">
                    <a16:creationId xmlns:a16="http://schemas.microsoft.com/office/drawing/2014/main" id="{5B18AAB1-4CD0-4075-7518-383BFF97A5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7222635" y="3363220"/>
                <a:ext cx="369685" cy="369685"/>
              </a:xfrm>
              <a:prstGeom prst="rect">
                <a:avLst/>
              </a:prstGeom>
            </p:spPr>
          </p:pic>
        </p:grp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E7BE53C5-2974-43A8-BE84-63242A562C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65559" y="3164835"/>
              <a:ext cx="5749472" cy="102310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9pPr>
            </a:lstStyle>
            <a:p>
              <a:pPr>
                <a:lnSpc>
                  <a:spcPct val="150000"/>
                </a:lnSpc>
                <a:defRPr/>
              </a:pPr>
              <a:r>
                <a:rPr lang="en-US" altLang="zh-CN" sz="14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  <a:sym typeface="思源宋体 CN Heavy" panose="02020900000000000000" pitchFamily="18" charset="-122"/>
                </a:rPr>
                <a:t>Even under "Severe" conditions (Rent growth halved to 3%, operating costs +15%, and higher structural vacancy), the 55/30 mix maintains a strong positive NPV of over $11.4M. The project is structurally sound.</a:t>
              </a:r>
              <a:endParaRPr lang="zh-CN" alt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思源宋体 CN" panose="02020400000000000000" pitchFamily="18" charset="-122"/>
                <a:cs typeface="Times New Roman" panose="02020603050405020304" pitchFamily="18" charset="0"/>
                <a:sym typeface="思源宋体 CN Heavy" panose="02020900000000000000" pitchFamily="18" charset="-122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A9760964-91A7-8715-92C6-4D93C13830FD}"/>
              </a:ext>
            </a:extLst>
          </p:cNvPr>
          <p:cNvGrpSpPr/>
          <p:nvPr/>
        </p:nvGrpSpPr>
        <p:grpSpPr>
          <a:xfrm>
            <a:off x="5744582" y="2622231"/>
            <a:ext cx="6212065" cy="1992597"/>
            <a:chOff x="7136015" y="4702346"/>
            <a:chExt cx="6212065" cy="1992597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20E376F8-85B7-252C-81C7-DD45C5C62845}"/>
                </a:ext>
              </a:extLst>
            </p:cNvPr>
            <p:cNvGrpSpPr/>
            <p:nvPr/>
          </p:nvGrpSpPr>
          <p:grpSpPr>
            <a:xfrm>
              <a:off x="7136015" y="4809100"/>
              <a:ext cx="542925" cy="542925"/>
              <a:chOff x="7136015" y="4412562"/>
              <a:chExt cx="542925" cy="542925"/>
            </a:xfrm>
          </p:grpSpPr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6D18A0B0-EDE5-974E-DD5E-E9CD77885C7D}"/>
                  </a:ext>
                </a:extLst>
              </p:cNvPr>
              <p:cNvSpPr/>
              <p:nvPr/>
            </p:nvSpPr>
            <p:spPr>
              <a:xfrm>
                <a:off x="7136015" y="4412562"/>
                <a:ext cx="542925" cy="542925"/>
              </a:xfrm>
              <a:prstGeom prst="ellipse">
                <a:avLst/>
              </a:prstGeom>
              <a:solidFill>
                <a:srgbClr val="0070C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26" name="图形 9" descr="钻石_diamond">
                <a:extLst>
                  <a:ext uri="{FF2B5EF4-FFF2-40B4-BE49-F238E27FC236}">
                    <a16:creationId xmlns:a16="http://schemas.microsoft.com/office/drawing/2014/main" id="{183905C1-7DF1-62CA-6DB9-0F52294189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7222634" y="4499181"/>
                <a:ext cx="369686" cy="369686"/>
              </a:xfrm>
              <a:prstGeom prst="rect">
                <a:avLst/>
              </a:prstGeom>
            </p:spPr>
          </p:pic>
        </p:grp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F6505012-0BBD-5EF8-29EA-93F505575B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65559" y="4702346"/>
              <a:ext cx="5582521" cy="19925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9pPr>
            </a:lstStyle>
            <a:p>
              <a:pPr>
                <a:lnSpc>
                  <a:spcPct val="150000"/>
                </a:lnSpc>
                <a:defRPr/>
              </a:pPr>
              <a:r>
                <a:rPr lang="en-US" altLang="zh-CN" sz="14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  <a:sym typeface="思源宋体 CN Heavy" panose="02020900000000000000" pitchFamily="18" charset="-122"/>
                </a:rPr>
                <a:t>The NPV slightly recovers in the 4% growth scenario compared to the 5% scenario. Why? Slower rent growth keeps the units in a more affordable rent tier for longer, avoiding Skyline's strict Market Cap limits. This proves that high occupancy can offset lower rent premiums.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4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  <a:sym typeface="思源宋体 CN Heavy" panose="02020900000000000000" pitchFamily="18" charset="-122"/>
                </a:rPr>
                <a:t>Key risk insight: demand caps (absorption) can dominate rent premiums; maximizing ‘priced-to-lease’ occupancy protects value.</a:t>
              </a:r>
              <a:endParaRPr lang="zh-CN" alt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思源宋体 CN" panose="02020400000000000000" pitchFamily="18" charset="-122"/>
                <a:cs typeface="Times New Roman" panose="02020603050405020304" pitchFamily="18" charset="0"/>
                <a:sym typeface="思源宋体 CN Heavy" panose="02020900000000000000" pitchFamily="18" charset="-122"/>
              </a:endParaRPr>
            </a:p>
          </p:txBody>
        </p:sp>
      </p:grp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61FD3344-ECB8-6DF4-CB8B-A51BB074B6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328787"/>
              </p:ext>
            </p:extLst>
          </p:nvPr>
        </p:nvGraphicFramePr>
        <p:xfrm>
          <a:off x="265177" y="1445887"/>
          <a:ext cx="5182399" cy="4758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6165">
                  <a:extLst>
                    <a:ext uri="{9D8B030D-6E8A-4147-A177-3AD203B41FA5}">
                      <a16:colId xmlns:a16="http://schemas.microsoft.com/office/drawing/2014/main" val="1732225178"/>
                    </a:ext>
                  </a:extLst>
                </a:gridCol>
                <a:gridCol w="1397622">
                  <a:extLst>
                    <a:ext uri="{9D8B030D-6E8A-4147-A177-3AD203B41FA5}">
                      <a16:colId xmlns:a16="http://schemas.microsoft.com/office/drawing/2014/main" val="2463830403"/>
                    </a:ext>
                  </a:extLst>
                </a:gridCol>
                <a:gridCol w="1349306">
                  <a:extLst>
                    <a:ext uri="{9D8B030D-6E8A-4147-A177-3AD203B41FA5}">
                      <a16:colId xmlns:a16="http://schemas.microsoft.com/office/drawing/2014/main" val="4278657344"/>
                    </a:ext>
                  </a:extLst>
                </a:gridCol>
                <a:gridCol w="1349306">
                  <a:extLst>
                    <a:ext uri="{9D8B030D-6E8A-4147-A177-3AD203B41FA5}">
                      <a16:colId xmlns:a16="http://schemas.microsoft.com/office/drawing/2014/main" val="1857565729"/>
                    </a:ext>
                  </a:extLst>
                </a:gridCol>
              </a:tblGrid>
              <a:tr h="137882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Scenario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Rent Growth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Cost Increase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NPV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4987536"/>
                  </a:ext>
                </a:extLst>
              </a:tr>
              <a:tr h="79884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$14,115,842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0994798"/>
                  </a:ext>
                </a:extLst>
              </a:tr>
              <a:tr h="8601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Mild Downside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$11,723,171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5635100"/>
                  </a:ext>
                </a:extLst>
              </a:tr>
              <a:tr h="8601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Downside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$12,039,539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1372256"/>
                  </a:ext>
                </a:extLst>
              </a:tr>
              <a:tr h="8601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Severe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$11,408,646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1059848"/>
                  </a:ext>
                </a:extLst>
              </a:tr>
            </a:tbl>
          </a:graphicData>
        </a:graphic>
      </p:graphicFrame>
      <p:grpSp>
        <p:nvGrpSpPr>
          <p:cNvPr id="4" name="组合 15">
            <a:extLst>
              <a:ext uri="{FF2B5EF4-FFF2-40B4-BE49-F238E27FC236}">
                <a16:creationId xmlns:a16="http://schemas.microsoft.com/office/drawing/2014/main" id="{22215012-B3ED-9CE4-E85B-651C2299614D}"/>
              </a:ext>
            </a:extLst>
          </p:cNvPr>
          <p:cNvGrpSpPr/>
          <p:nvPr/>
        </p:nvGrpSpPr>
        <p:grpSpPr>
          <a:xfrm>
            <a:off x="5744582" y="4857765"/>
            <a:ext cx="6125447" cy="1346266"/>
            <a:chOff x="7136015" y="3164835"/>
            <a:chExt cx="6125447" cy="1346266"/>
          </a:xfrm>
        </p:grpSpPr>
        <p:grpSp>
          <p:nvGrpSpPr>
            <p:cNvPr id="7" name="组合 16">
              <a:extLst>
                <a:ext uri="{FF2B5EF4-FFF2-40B4-BE49-F238E27FC236}">
                  <a16:creationId xmlns:a16="http://schemas.microsoft.com/office/drawing/2014/main" id="{6B6A3A57-411F-A685-14A6-5E4E515A75FA}"/>
                </a:ext>
              </a:extLst>
            </p:cNvPr>
            <p:cNvGrpSpPr/>
            <p:nvPr/>
          </p:nvGrpSpPr>
          <p:grpSpPr>
            <a:xfrm>
              <a:off x="7136015" y="3285873"/>
              <a:ext cx="542925" cy="542925"/>
              <a:chOff x="7136015" y="3276600"/>
              <a:chExt cx="542925" cy="542925"/>
            </a:xfrm>
          </p:grpSpPr>
          <p:sp>
            <p:nvSpPr>
              <p:cNvPr id="9" name="椭圆 18">
                <a:extLst>
                  <a:ext uri="{FF2B5EF4-FFF2-40B4-BE49-F238E27FC236}">
                    <a16:creationId xmlns:a16="http://schemas.microsoft.com/office/drawing/2014/main" id="{C392A0A2-8228-6219-0A41-0F1528D003ED}"/>
                  </a:ext>
                </a:extLst>
              </p:cNvPr>
              <p:cNvSpPr/>
              <p:nvPr/>
            </p:nvSpPr>
            <p:spPr>
              <a:xfrm>
                <a:off x="7136015" y="3276600"/>
                <a:ext cx="542925" cy="542925"/>
              </a:xfrm>
              <a:prstGeom prst="ellipse">
                <a:avLst/>
              </a:prstGeom>
              <a:solidFill>
                <a:srgbClr val="FA782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10" name="图形 19">
                <a:extLst>
                  <a:ext uri="{FF2B5EF4-FFF2-40B4-BE49-F238E27FC236}">
                    <a16:creationId xmlns:a16="http://schemas.microsoft.com/office/drawing/2014/main" id="{70ECAB8C-B28C-668F-CF11-BC0F9380E0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7222635" y="3363220"/>
                <a:ext cx="369685" cy="369685"/>
              </a:xfrm>
              <a:prstGeom prst="rect">
                <a:avLst/>
              </a:prstGeom>
            </p:spPr>
          </p:pic>
        </p:grpSp>
        <p:sp>
          <p:nvSpPr>
            <p:cNvPr id="8" name="矩形 17">
              <a:extLst>
                <a:ext uri="{FF2B5EF4-FFF2-40B4-BE49-F238E27FC236}">
                  <a16:creationId xmlns:a16="http://schemas.microsoft.com/office/drawing/2014/main" id="{F3022B43-15A1-C6AE-174E-6557C3227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65559" y="3164835"/>
              <a:ext cx="5495903" cy="13462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9pPr>
            </a:lstStyle>
            <a:p>
              <a:pPr>
                <a:lnSpc>
                  <a:spcPct val="150000"/>
                </a:lnSpc>
                <a:defRPr/>
              </a:pPr>
              <a:r>
                <a:rPr lang="en-US" altLang="zh-CN" sz="14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  <a:sym typeface="思源宋体 CN Heavy" panose="02020900000000000000" pitchFamily="18" charset="-122"/>
                </a:rPr>
                <a:t>Proceed confidently with the 55/30 mix. However, to mitigate the impact of rising variable costs (Cost +15% risk), we recommend securing fixed-rate vendor contracts for maintenance and holding a conservative lease-up cash reserve in Years 1-2.</a:t>
              </a:r>
              <a:endParaRPr lang="zh-CN" alt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思源宋体 CN" panose="02020400000000000000" pitchFamily="18" charset="-122"/>
                <a:cs typeface="Times New Roman" panose="02020603050405020304" pitchFamily="18" charset="0"/>
                <a:sym typeface="思源宋体 CN Heavy" panose="02020900000000000000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7954527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EE833-04D9-F92A-1EF0-3243B3A90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02219F3A-2083-2EEE-2451-662B825D3AD1}"/>
              </a:ext>
            </a:extLst>
          </p:cNvPr>
          <p:cNvGrpSpPr/>
          <p:nvPr/>
        </p:nvGrpSpPr>
        <p:grpSpPr>
          <a:xfrm>
            <a:off x="184152" y="203959"/>
            <a:ext cx="8013550" cy="632426"/>
            <a:chOff x="262864" y="138417"/>
            <a:chExt cx="8013550" cy="632426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C0FD9F98-0573-0A50-7C33-24218184979B}"/>
                </a:ext>
              </a:extLst>
            </p:cNvPr>
            <p:cNvGrpSpPr/>
            <p:nvPr/>
          </p:nvGrpSpPr>
          <p:grpSpPr>
            <a:xfrm>
              <a:off x="262864" y="138417"/>
              <a:ext cx="4828032" cy="632426"/>
              <a:chOff x="482600" y="451413"/>
              <a:chExt cx="4828032" cy="437588"/>
            </a:xfrm>
          </p:grpSpPr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8CD03832-190A-441A-5F65-D6EEFA05B064}"/>
                  </a:ext>
                </a:extLst>
              </p:cNvPr>
              <p:cNvSpPr/>
              <p:nvPr/>
            </p:nvSpPr>
            <p:spPr>
              <a:xfrm>
                <a:off x="544576" y="451413"/>
                <a:ext cx="4766056" cy="437587"/>
              </a:xfrm>
              <a:prstGeom prst="rect">
                <a:avLst/>
              </a:prstGeom>
              <a:gradFill flip="none" rotWithShape="1">
                <a:gsLst>
                  <a:gs pos="0">
                    <a:srgbClr val="0070C0">
                      <a:alpha val="0"/>
                    </a:srgbClr>
                  </a:gs>
                  <a:gs pos="100000">
                    <a:srgbClr val="0070C0">
                      <a:alpha val="5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宋体 CN Light" panose="02020300000000000000" pitchFamily="18" charset="-122"/>
                  <a:cs typeface="Times New Roman" panose="02020603050405020304" pitchFamily="18" charset="0"/>
                  <a:sym typeface="+mn-lt"/>
                </a:endParaRPr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D4AC15EB-3B05-170F-7EBF-4211438B1262}"/>
                  </a:ext>
                </a:extLst>
              </p:cNvPr>
              <p:cNvSpPr/>
              <p:nvPr/>
            </p:nvSpPr>
            <p:spPr>
              <a:xfrm>
                <a:off x="482600" y="451413"/>
                <a:ext cx="61976" cy="437588"/>
              </a:xfrm>
              <a:prstGeom prst="rect">
                <a:avLst/>
              </a:prstGeom>
              <a:solidFill>
                <a:srgbClr val="0070C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宋体 CN Light" panose="02020300000000000000" pitchFamily="18" charset="-122"/>
                  <a:cs typeface="Times New Roman" panose="02020603050405020304" pitchFamily="18" charset="0"/>
                  <a:sym typeface="+mn-lt"/>
                </a:endParaRPr>
              </a:p>
            </p:txBody>
          </p:sp>
        </p:grp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F95B5ADC-6A96-2AD6-5C6D-46C664642DBD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386815" y="193019"/>
              <a:ext cx="7889599" cy="52322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lvl="0">
                <a:defRPr/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思源宋体 CN Heavy" panose="02020900000000000000" charset="-122"/>
                  <a:cs typeface="Times New Roman" panose="02020603050405020304" pitchFamily="18" charset="0"/>
                  <a:sym typeface="+mn-ea"/>
                </a:rPr>
                <a:t>Exit Cap Rate Risk (Valuation Sensitivity)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思源宋体 CN Heavy" panose="02020900000000000000" charset="-122"/>
                <a:cs typeface="Times New Roman" panose="02020603050405020304" pitchFamily="18" charset="0"/>
                <a:sym typeface="+mn-ea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FDA136F7-7AAB-50C7-33CF-485A9F522B8D}"/>
              </a:ext>
            </a:extLst>
          </p:cNvPr>
          <p:cNvGrpSpPr/>
          <p:nvPr/>
        </p:nvGrpSpPr>
        <p:grpSpPr>
          <a:xfrm>
            <a:off x="7059023" y="2030907"/>
            <a:ext cx="4728905" cy="1525418"/>
            <a:chOff x="7136015" y="3164835"/>
            <a:chExt cx="4728905" cy="1525418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DDD072EA-D820-A7E2-B124-7DCB4719DF60}"/>
                </a:ext>
              </a:extLst>
            </p:cNvPr>
            <p:cNvGrpSpPr/>
            <p:nvPr/>
          </p:nvGrpSpPr>
          <p:grpSpPr>
            <a:xfrm>
              <a:off x="7136015" y="3285873"/>
              <a:ext cx="542925" cy="542925"/>
              <a:chOff x="7136015" y="3276600"/>
              <a:chExt cx="542925" cy="542925"/>
            </a:xfrm>
          </p:grpSpPr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279B3F74-65A4-EF2D-51A3-9ED2115399CC}"/>
                  </a:ext>
                </a:extLst>
              </p:cNvPr>
              <p:cNvSpPr/>
              <p:nvPr/>
            </p:nvSpPr>
            <p:spPr>
              <a:xfrm>
                <a:off x="7136015" y="3276600"/>
                <a:ext cx="542925" cy="542925"/>
              </a:xfrm>
              <a:prstGeom prst="ellipse">
                <a:avLst/>
              </a:prstGeom>
              <a:solidFill>
                <a:srgbClr val="FA782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20" name="图形 19">
                <a:extLst>
                  <a:ext uri="{FF2B5EF4-FFF2-40B4-BE49-F238E27FC236}">
                    <a16:creationId xmlns:a16="http://schemas.microsoft.com/office/drawing/2014/main" id="{5F4F1667-A779-E8FB-854B-14DF8829D9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7222635" y="3363220"/>
                <a:ext cx="369685" cy="369685"/>
              </a:xfrm>
              <a:prstGeom prst="rect">
                <a:avLst/>
              </a:prstGeom>
            </p:spPr>
          </p:pic>
        </p:grp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C2B76E7F-DF28-E467-27B7-2873B76E16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65559" y="3164835"/>
              <a:ext cx="4099361" cy="152541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9pPr>
            </a:lstStyle>
            <a:p>
              <a:pPr>
                <a:lnSpc>
                  <a:spcPct val="150000"/>
                </a:lnSpc>
                <a:defRPr/>
              </a:pPr>
              <a:r>
                <a:rPr lang="en-US" altLang="zh-CN" sz="16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  <a:sym typeface="思源宋体 CN Heavy" panose="02020900000000000000" pitchFamily="18" charset="-122"/>
                </a:rPr>
                <a:t>Strategic Resilience: Even under a severe +100 bps expansion in the exit cap rate (reflecting a softer future buyer market), the 55/30 optimal mix maintains a robust $13.01M NPV.</a:t>
              </a:r>
              <a:endParaRPr lang="zh-CN" altLang="en-US" sz="16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思源宋体 CN" panose="02020400000000000000" pitchFamily="18" charset="-122"/>
                <a:cs typeface="Times New Roman" panose="02020603050405020304" pitchFamily="18" charset="0"/>
                <a:sym typeface="思源宋体 CN Heavy" panose="02020900000000000000" pitchFamily="18" charset="-122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FB3E782C-126B-DC27-2FEC-7C1E011082A7}"/>
              </a:ext>
            </a:extLst>
          </p:cNvPr>
          <p:cNvGrpSpPr/>
          <p:nvPr/>
        </p:nvGrpSpPr>
        <p:grpSpPr>
          <a:xfrm>
            <a:off x="7059023" y="4052649"/>
            <a:ext cx="4728905" cy="1156086"/>
            <a:chOff x="7136015" y="4702346"/>
            <a:chExt cx="4728905" cy="1156086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B25871A9-11FB-B873-52BC-339F67CC3AA7}"/>
                </a:ext>
              </a:extLst>
            </p:cNvPr>
            <p:cNvGrpSpPr/>
            <p:nvPr/>
          </p:nvGrpSpPr>
          <p:grpSpPr>
            <a:xfrm>
              <a:off x="7136015" y="4809100"/>
              <a:ext cx="542925" cy="542925"/>
              <a:chOff x="7136015" y="4412562"/>
              <a:chExt cx="542925" cy="542925"/>
            </a:xfrm>
          </p:grpSpPr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2E8DF28E-F11E-240D-F235-39DA317A4BBE}"/>
                  </a:ext>
                </a:extLst>
              </p:cNvPr>
              <p:cNvSpPr/>
              <p:nvPr/>
            </p:nvSpPr>
            <p:spPr>
              <a:xfrm>
                <a:off x="7136015" y="4412562"/>
                <a:ext cx="542925" cy="542925"/>
              </a:xfrm>
              <a:prstGeom prst="ellipse">
                <a:avLst/>
              </a:prstGeom>
              <a:solidFill>
                <a:srgbClr val="0070C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26" name="图形 9" descr="钻石_diamond">
                <a:extLst>
                  <a:ext uri="{FF2B5EF4-FFF2-40B4-BE49-F238E27FC236}">
                    <a16:creationId xmlns:a16="http://schemas.microsoft.com/office/drawing/2014/main" id="{EFA22CC1-B017-610A-44CD-12BC78EF17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7222634" y="4499181"/>
                <a:ext cx="369686" cy="369686"/>
              </a:xfrm>
              <a:prstGeom prst="rect">
                <a:avLst/>
              </a:prstGeom>
            </p:spPr>
          </p:pic>
        </p:grp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2465D2D6-107D-5FCD-1396-6CEE0DA1A5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65560" y="4702346"/>
              <a:ext cx="4099360" cy="11560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9pPr>
            </a:lstStyle>
            <a:p>
              <a:pPr>
                <a:lnSpc>
                  <a:spcPct val="150000"/>
                </a:lnSpc>
                <a:defRPr/>
              </a:pPr>
              <a:r>
                <a:rPr lang="en-US" altLang="zh-CN" sz="16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  <a:sym typeface="思源宋体 CN Heavy" panose="02020900000000000000" pitchFamily="18" charset="-122"/>
                </a:rPr>
                <a:t>Conclusion: Our returns are anchored by strong operational cash flows, not just optimistic exit valuations. The project is highly defensible.</a:t>
              </a:r>
              <a:endParaRPr lang="zh-CN" altLang="en-US" sz="16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思源宋体 CN" panose="02020400000000000000" pitchFamily="18" charset="-122"/>
                <a:cs typeface="Times New Roman" panose="02020603050405020304" pitchFamily="18" charset="0"/>
                <a:sym typeface="思源宋体 CN Heavy" panose="02020900000000000000" pitchFamily="18" charset="-122"/>
              </a:endParaRPr>
            </a:p>
          </p:txBody>
        </p:sp>
      </p:grp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146649BD-608A-B296-719D-BEDD6DCDD1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792729"/>
              </p:ext>
            </p:extLst>
          </p:nvPr>
        </p:nvGraphicFramePr>
        <p:xfrm>
          <a:off x="265176" y="1445886"/>
          <a:ext cx="6436565" cy="4341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9022">
                  <a:extLst>
                    <a:ext uri="{9D8B030D-6E8A-4147-A177-3AD203B41FA5}">
                      <a16:colId xmlns:a16="http://schemas.microsoft.com/office/drawing/2014/main" val="1732225178"/>
                    </a:ext>
                  </a:extLst>
                </a:gridCol>
                <a:gridCol w="1735853">
                  <a:extLst>
                    <a:ext uri="{9D8B030D-6E8A-4147-A177-3AD203B41FA5}">
                      <a16:colId xmlns:a16="http://schemas.microsoft.com/office/drawing/2014/main" val="2463830403"/>
                    </a:ext>
                  </a:extLst>
                </a:gridCol>
                <a:gridCol w="1675845">
                  <a:extLst>
                    <a:ext uri="{9D8B030D-6E8A-4147-A177-3AD203B41FA5}">
                      <a16:colId xmlns:a16="http://schemas.microsoft.com/office/drawing/2014/main" val="1857565729"/>
                    </a:ext>
                  </a:extLst>
                </a:gridCol>
                <a:gridCol w="1675845">
                  <a:extLst>
                    <a:ext uri="{9D8B030D-6E8A-4147-A177-3AD203B41FA5}">
                      <a16:colId xmlns:a16="http://schemas.microsoft.com/office/drawing/2014/main" val="2600524278"/>
                    </a:ext>
                  </a:extLst>
                </a:gridCol>
              </a:tblGrid>
              <a:tr h="153569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Scenario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Exit Cap Rate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Estimated NPV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Impact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4987536"/>
                  </a:ext>
                </a:extLst>
              </a:tr>
              <a:tr h="88972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$14,115,842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0994798"/>
                  </a:ext>
                </a:extLst>
              </a:tr>
              <a:tr h="95802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Stress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(+50 bps)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$13,519,174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$596,668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5635100"/>
                  </a:ext>
                </a:extLst>
              </a:tr>
              <a:tr h="95802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Severe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(+100 bps)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$13,007,745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$1,108097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1372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6652674"/>
      </p:ext>
    </p:extLst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D443A-1C13-E2B1-C731-44309C2DB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38" descr="建筑与房屋的城市空拍图&#10;&#10;AI 生成的内容可能不正确。">
            <a:extLst>
              <a:ext uri="{FF2B5EF4-FFF2-40B4-BE49-F238E27FC236}">
                <a16:creationId xmlns:a16="http://schemas.microsoft.com/office/drawing/2014/main" id="{BC90E998-EBBD-29C3-40A6-888A99FD16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683CF3AA-B8F0-1993-0DA6-7C9640B4D470}"/>
              </a:ext>
            </a:extLst>
          </p:cNvPr>
          <p:cNvSpPr txBox="1"/>
          <p:nvPr/>
        </p:nvSpPr>
        <p:spPr>
          <a:xfrm>
            <a:off x="820848" y="2649810"/>
            <a:ext cx="654002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4800"/>
              </a:lnSpc>
              <a:defRPr/>
            </a:pPr>
            <a:r>
              <a:rPr lang="en-US" altLang="zh-CN" sz="4000" dirty="0">
                <a:solidFill>
                  <a:srgbClr val="0070C0"/>
                </a:solidFill>
                <a:latin typeface="Times New Roman" panose="02020603050405020304" pitchFamily="18" charset="0"/>
                <a:ea typeface="优设标题黑" panose="00000500000000000000" pitchFamily="2" charset="-122"/>
                <a:cs typeface="Times New Roman" panose="02020603050405020304" pitchFamily="18" charset="0"/>
              </a:rPr>
              <a:t>Skyline Capital Partners</a:t>
            </a:r>
          </a:p>
          <a:p>
            <a:pPr lvl="0">
              <a:lnSpc>
                <a:spcPts val="4800"/>
              </a:lnSpc>
              <a:defRPr/>
            </a:pPr>
            <a:r>
              <a:rPr lang="en-US" altLang="zh-CN" sz="4000" dirty="0">
                <a:solidFill>
                  <a:srgbClr val="0070C0"/>
                </a:solidFill>
                <a:latin typeface="Times New Roman" panose="02020603050405020304" pitchFamily="18" charset="0"/>
                <a:ea typeface="优设标题黑" panose="00000500000000000000" pitchFamily="2" charset="-122"/>
                <a:cs typeface="Times New Roman" panose="02020603050405020304" pitchFamily="18" charset="0"/>
              </a:rPr>
              <a:t>Strategic Investment Analysis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 panose="02020603050405020304" pitchFamily="18" charset="0"/>
              <a:ea typeface="优设标题黑" panose="00000500000000000000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B807FD2C-D7C5-1957-C0BE-D5960DD5CB36}"/>
              </a:ext>
            </a:extLst>
          </p:cNvPr>
          <p:cNvGrpSpPr/>
          <p:nvPr/>
        </p:nvGrpSpPr>
        <p:grpSpPr>
          <a:xfrm>
            <a:off x="820848" y="1264218"/>
            <a:ext cx="6387762" cy="1689486"/>
            <a:chOff x="820849" y="1264218"/>
            <a:chExt cx="6387761" cy="1689486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839BE9A0-D0A5-65C1-1D04-334FF6D09562}"/>
                </a:ext>
              </a:extLst>
            </p:cNvPr>
            <p:cNvGrpSpPr/>
            <p:nvPr/>
          </p:nvGrpSpPr>
          <p:grpSpPr>
            <a:xfrm>
              <a:off x="820849" y="1264218"/>
              <a:ext cx="2143405" cy="1689486"/>
              <a:chOff x="820849" y="1051205"/>
              <a:chExt cx="2143405" cy="1689486"/>
            </a:xfrm>
          </p:grpSpPr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AC13D98E-D2AA-7BF7-87E6-33E34579177E}"/>
                  </a:ext>
                </a:extLst>
              </p:cNvPr>
              <p:cNvSpPr txBox="1"/>
              <p:nvPr/>
            </p:nvSpPr>
            <p:spPr>
              <a:xfrm>
                <a:off x="820849" y="1579735"/>
                <a:ext cx="202154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OPPOSans H" panose="00020600040101010101" pitchFamily="18" charset="-122"/>
                    <a:cs typeface="Times New Roman" panose="02020603050405020304" pitchFamily="18" charset="0"/>
                  </a:rPr>
                  <a:t>202</a:t>
                </a:r>
                <a:r>
                  <a:rPr lang="en-US" altLang="zh-CN" sz="4800" b="1" kern="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OPPOSans H" panose="00020600040101010101" pitchFamily="18" charset="-122"/>
                    <a:cs typeface="Times New Roman" panose="02020603050405020304" pitchFamily="18" charset="0"/>
                  </a:rPr>
                  <a:t>6</a:t>
                </a:r>
                <a:endParaRPr kumimoji="0" lang="zh-CN" altLang="en-US" sz="4800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OPPOSans H" panose="00020600040101010101" pitchFamily="18" charset="-12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4" name="组合 23">
                <a:extLst>
                  <a:ext uri="{FF2B5EF4-FFF2-40B4-BE49-F238E27FC236}">
                    <a16:creationId xmlns:a16="http://schemas.microsoft.com/office/drawing/2014/main" id="{17F2D62B-1356-0C2F-A08A-0F56A9BB9B64}"/>
                  </a:ext>
                </a:extLst>
              </p:cNvPr>
              <p:cNvGrpSpPr/>
              <p:nvPr/>
            </p:nvGrpSpPr>
            <p:grpSpPr>
              <a:xfrm>
                <a:off x="1717810" y="1051205"/>
                <a:ext cx="1246444" cy="1689486"/>
                <a:chOff x="2645128" y="1012632"/>
                <a:chExt cx="1542619" cy="2090932"/>
              </a:xfrm>
            </p:grpSpPr>
            <p:sp>
              <p:nvSpPr>
                <p:cNvPr id="26" name="缺角矩形 25">
                  <a:extLst>
                    <a:ext uri="{FF2B5EF4-FFF2-40B4-BE49-F238E27FC236}">
                      <a16:creationId xmlns:a16="http://schemas.microsoft.com/office/drawing/2014/main" id="{9810B468-0ADE-D1D3-A7E1-17B91EE238C8}"/>
                    </a:ext>
                  </a:extLst>
                </p:cNvPr>
                <p:cNvSpPr/>
                <p:nvPr/>
              </p:nvSpPr>
              <p:spPr>
                <a:xfrm>
                  <a:off x="3607588" y="1219480"/>
                  <a:ext cx="573405" cy="573404"/>
                </a:xfrm>
                <a:prstGeom prst="plaque">
                  <a:avLst>
                    <a:gd name="adj" fmla="val 50000"/>
                  </a:avLst>
                </a:prstGeom>
                <a:solidFill>
                  <a:schemeClr val="accent1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思源宋体 CN" panose="02020400000000000000" pitchFamily="18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椭圆 26">
                  <a:extLst>
                    <a:ext uri="{FF2B5EF4-FFF2-40B4-BE49-F238E27FC236}">
                      <a16:creationId xmlns:a16="http://schemas.microsoft.com/office/drawing/2014/main" id="{9CE41AFD-625A-5EEE-D5DD-1AD666BEC148}"/>
                    </a:ext>
                  </a:extLst>
                </p:cNvPr>
                <p:cNvSpPr/>
                <p:nvPr/>
              </p:nvSpPr>
              <p:spPr>
                <a:xfrm>
                  <a:off x="2645128" y="1012632"/>
                  <a:ext cx="1542619" cy="2090932"/>
                </a:xfrm>
                <a:prstGeom prst="ellipse">
                  <a:avLst/>
                </a:prstGeom>
                <a:noFill/>
                <a:ln w="12700" cap="flat" cmpd="sng" algn="ctr">
                  <a:gradFill>
                    <a:gsLst>
                      <a:gs pos="39000">
                        <a:schemeClr val="accent1"/>
                      </a:gs>
                      <a:gs pos="75000">
                        <a:sysClr val="window" lastClr="FFFFFF">
                          <a:alpha val="0"/>
                        </a:sysClr>
                      </a:gs>
                    </a:gsLst>
                    <a:lin ang="16200000" scaled="0"/>
                  </a:gradFill>
                  <a:prstDash val="solid"/>
                  <a:miter lim="800000"/>
                </a:ln>
                <a:effectLst/>
                <a:scene3d>
                  <a:camera prst="perspectiveRelaxed" fov="4800000">
                    <a:rot lat="17400000" lon="300000" rev="1500000"/>
                  </a:camera>
                  <a:lightRig rig="threePt" dir="t"/>
                </a:scene3d>
                <a:sp3d prstMaterial="softEdge"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思源宋体 CN" panose="02020400000000000000" pitchFamily="18" charset="-122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154EA340-F70B-154B-9DC1-D788F301F9FF}"/>
                </a:ext>
              </a:extLst>
            </p:cNvPr>
            <p:cNvSpPr txBox="1"/>
            <p:nvPr/>
          </p:nvSpPr>
          <p:spPr>
            <a:xfrm>
              <a:off x="3069345" y="2118350"/>
              <a:ext cx="413926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spc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Skyline Capital Partners</a:t>
              </a:r>
            </a:p>
          </p:txBody>
        </p:sp>
      </p:grpSp>
      <p:sp>
        <p:nvSpPr>
          <p:cNvPr id="32" name="TextBox 36">
            <a:extLst>
              <a:ext uri="{FF2B5EF4-FFF2-40B4-BE49-F238E27FC236}">
                <a16:creationId xmlns:a16="http://schemas.microsoft.com/office/drawing/2014/main" id="{28A1B2FD-87EC-B594-FC46-6CA92E6F393D}"/>
              </a:ext>
            </a:extLst>
          </p:cNvPr>
          <p:cNvSpPr txBox="1"/>
          <p:nvPr/>
        </p:nvSpPr>
        <p:spPr>
          <a:xfrm>
            <a:off x="820848" y="4038728"/>
            <a:ext cx="6200495" cy="395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dirty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ea typeface="思源宋体 CN" panose="02020400000000000000" pitchFamily="18" charset="-122"/>
                <a:cs typeface="Times New Roman" panose="02020603050405020304" pitchFamily="18" charset="0"/>
              </a:rPr>
              <a:t>Market Selection &amp; Unit Mix Optimization for Class B Assets</a:t>
            </a: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BCD2025F-C591-7DED-C7E0-D78E58E717A2}"/>
              </a:ext>
            </a:extLst>
          </p:cNvPr>
          <p:cNvGrpSpPr/>
          <p:nvPr/>
        </p:nvGrpSpPr>
        <p:grpSpPr>
          <a:xfrm>
            <a:off x="1039492" y="4645893"/>
            <a:ext cx="4591940" cy="621439"/>
            <a:chOff x="1102204" y="4928513"/>
            <a:chExt cx="4591940" cy="621439"/>
          </a:xfrm>
        </p:grpSpPr>
        <p:sp>
          <p:nvSpPr>
            <p:cNvPr id="35" name="椭圆 39">
              <a:extLst>
                <a:ext uri="{FF2B5EF4-FFF2-40B4-BE49-F238E27FC236}">
                  <a16:creationId xmlns:a16="http://schemas.microsoft.com/office/drawing/2014/main" id="{987FFDCA-0D35-270C-8AF0-B7D29E956539}"/>
                </a:ext>
              </a:extLst>
            </p:cNvPr>
            <p:cNvSpPr/>
            <p:nvPr/>
          </p:nvSpPr>
          <p:spPr>
            <a:xfrm>
              <a:off x="1102204" y="5041671"/>
              <a:ext cx="241995" cy="271444"/>
            </a:xfrm>
            <a:custGeom>
              <a:avLst/>
              <a:gdLst>
                <a:gd name="connsiteX0" fmla="*/ 199932 w 300038"/>
                <a:gd name="connsiteY0" fmla="*/ 273051 h 336551"/>
                <a:gd name="connsiteX1" fmla="*/ 192088 w 300038"/>
                <a:gd name="connsiteY1" fmla="*/ 280989 h 336551"/>
                <a:gd name="connsiteX2" fmla="*/ 192088 w 300038"/>
                <a:gd name="connsiteY2" fmla="*/ 306124 h 336551"/>
                <a:gd name="connsiteX3" fmla="*/ 199932 w 300038"/>
                <a:gd name="connsiteY3" fmla="*/ 312739 h 336551"/>
                <a:gd name="connsiteX4" fmla="*/ 250919 w 300038"/>
                <a:gd name="connsiteY4" fmla="*/ 312739 h 336551"/>
                <a:gd name="connsiteX5" fmla="*/ 258763 w 300038"/>
                <a:gd name="connsiteY5" fmla="*/ 306124 h 336551"/>
                <a:gd name="connsiteX6" fmla="*/ 258763 w 300038"/>
                <a:gd name="connsiteY6" fmla="*/ 280989 h 336551"/>
                <a:gd name="connsiteX7" fmla="*/ 250919 w 300038"/>
                <a:gd name="connsiteY7" fmla="*/ 273051 h 336551"/>
                <a:gd name="connsiteX8" fmla="*/ 199932 w 300038"/>
                <a:gd name="connsiteY8" fmla="*/ 273051 h 336551"/>
                <a:gd name="connsiteX9" fmla="*/ 101328 w 300038"/>
                <a:gd name="connsiteY9" fmla="*/ 196851 h 336551"/>
                <a:gd name="connsiteX10" fmla="*/ 107908 w 300038"/>
                <a:gd name="connsiteY10" fmla="*/ 196851 h 336551"/>
                <a:gd name="connsiteX11" fmla="*/ 111856 w 300038"/>
                <a:gd name="connsiteY11" fmla="*/ 202123 h 336551"/>
                <a:gd name="connsiteX12" fmla="*/ 128964 w 300038"/>
                <a:gd name="connsiteY12" fmla="*/ 248250 h 336551"/>
                <a:gd name="connsiteX13" fmla="*/ 131595 w 300038"/>
                <a:gd name="connsiteY13" fmla="*/ 239025 h 336551"/>
                <a:gd name="connsiteX14" fmla="*/ 126332 w 300038"/>
                <a:gd name="connsiteY14" fmla="*/ 225845 h 336551"/>
                <a:gd name="connsiteX15" fmla="*/ 127648 w 300038"/>
                <a:gd name="connsiteY15" fmla="*/ 217938 h 336551"/>
                <a:gd name="connsiteX16" fmla="*/ 132911 w 300038"/>
                <a:gd name="connsiteY16" fmla="*/ 215302 h 336551"/>
                <a:gd name="connsiteX17" fmla="*/ 167126 w 300038"/>
                <a:gd name="connsiteY17" fmla="*/ 215302 h 336551"/>
                <a:gd name="connsiteX18" fmla="*/ 172390 w 300038"/>
                <a:gd name="connsiteY18" fmla="*/ 217938 h 336551"/>
                <a:gd name="connsiteX19" fmla="*/ 173706 w 300038"/>
                <a:gd name="connsiteY19" fmla="*/ 225845 h 336551"/>
                <a:gd name="connsiteX20" fmla="*/ 168442 w 300038"/>
                <a:gd name="connsiteY20" fmla="*/ 239025 h 336551"/>
                <a:gd name="connsiteX21" fmla="*/ 171074 w 300038"/>
                <a:gd name="connsiteY21" fmla="*/ 248250 h 336551"/>
                <a:gd name="connsiteX22" fmla="*/ 188182 w 300038"/>
                <a:gd name="connsiteY22" fmla="*/ 202123 h 336551"/>
                <a:gd name="connsiteX23" fmla="*/ 192130 w 300038"/>
                <a:gd name="connsiteY23" fmla="*/ 196851 h 336551"/>
                <a:gd name="connsiteX24" fmla="*/ 198710 w 300038"/>
                <a:gd name="connsiteY24" fmla="*/ 196851 h 336551"/>
                <a:gd name="connsiteX25" fmla="*/ 265823 w 300038"/>
                <a:gd name="connsiteY25" fmla="*/ 224527 h 336551"/>
                <a:gd name="connsiteX26" fmla="*/ 300038 w 300038"/>
                <a:gd name="connsiteY26" fmla="*/ 274609 h 336551"/>
                <a:gd name="connsiteX27" fmla="*/ 300038 w 300038"/>
                <a:gd name="connsiteY27" fmla="*/ 328643 h 336551"/>
                <a:gd name="connsiteX28" fmla="*/ 292142 w 300038"/>
                <a:gd name="connsiteY28" fmla="*/ 336551 h 336551"/>
                <a:gd name="connsiteX29" fmla="*/ 7896 w 300038"/>
                <a:gd name="connsiteY29" fmla="*/ 336551 h 336551"/>
                <a:gd name="connsiteX30" fmla="*/ 0 w 300038"/>
                <a:gd name="connsiteY30" fmla="*/ 328643 h 336551"/>
                <a:gd name="connsiteX31" fmla="*/ 0 w 300038"/>
                <a:gd name="connsiteY31" fmla="*/ 274609 h 336551"/>
                <a:gd name="connsiteX32" fmla="*/ 34215 w 300038"/>
                <a:gd name="connsiteY32" fmla="*/ 224527 h 336551"/>
                <a:gd name="connsiteX33" fmla="*/ 101328 w 300038"/>
                <a:gd name="connsiteY33" fmla="*/ 196851 h 336551"/>
                <a:gd name="connsiteX34" fmla="*/ 155328 w 300038"/>
                <a:gd name="connsiteY34" fmla="*/ 0 h 336551"/>
                <a:gd name="connsiteX35" fmla="*/ 201775 w 300038"/>
                <a:gd name="connsiteY35" fmla="*/ 15854 h 336551"/>
                <a:gd name="connsiteX36" fmla="*/ 223008 w 300038"/>
                <a:gd name="connsiteY36" fmla="*/ 79268 h 336551"/>
                <a:gd name="connsiteX37" fmla="*/ 224335 w 300038"/>
                <a:gd name="connsiteY37" fmla="*/ 93801 h 336551"/>
                <a:gd name="connsiteX38" fmla="*/ 229643 w 300038"/>
                <a:gd name="connsiteY38" fmla="*/ 100407 h 336551"/>
                <a:gd name="connsiteX39" fmla="*/ 232297 w 300038"/>
                <a:gd name="connsiteY39" fmla="*/ 125508 h 336551"/>
                <a:gd name="connsiteX40" fmla="*/ 208410 w 300038"/>
                <a:gd name="connsiteY40" fmla="*/ 151931 h 336551"/>
                <a:gd name="connsiteX41" fmla="*/ 185850 w 300038"/>
                <a:gd name="connsiteY41" fmla="*/ 183639 h 336551"/>
                <a:gd name="connsiteX42" fmla="*/ 172579 w 300038"/>
                <a:gd name="connsiteY42" fmla="*/ 192887 h 336551"/>
                <a:gd name="connsiteX43" fmla="*/ 150019 w 300038"/>
                <a:gd name="connsiteY43" fmla="*/ 196850 h 336551"/>
                <a:gd name="connsiteX44" fmla="*/ 127459 w 300038"/>
                <a:gd name="connsiteY44" fmla="*/ 192887 h 336551"/>
                <a:gd name="connsiteX45" fmla="*/ 114189 w 300038"/>
                <a:gd name="connsiteY45" fmla="*/ 183639 h 336551"/>
                <a:gd name="connsiteX46" fmla="*/ 91629 w 300038"/>
                <a:gd name="connsiteY46" fmla="*/ 151931 h 336551"/>
                <a:gd name="connsiteX47" fmla="*/ 67742 w 300038"/>
                <a:gd name="connsiteY47" fmla="*/ 125508 h 336551"/>
                <a:gd name="connsiteX48" fmla="*/ 70396 w 300038"/>
                <a:gd name="connsiteY48" fmla="*/ 100407 h 336551"/>
                <a:gd name="connsiteX49" fmla="*/ 75704 w 300038"/>
                <a:gd name="connsiteY49" fmla="*/ 93801 h 336551"/>
                <a:gd name="connsiteX50" fmla="*/ 77031 w 300038"/>
                <a:gd name="connsiteY50" fmla="*/ 85874 h 336551"/>
                <a:gd name="connsiteX51" fmla="*/ 74377 w 300038"/>
                <a:gd name="connsiteY51" fmla="*/ 50203 h 336551"/>
                <a:gd name="connsiteX52" fmla="*/ 103572 w 300038"/>
                <a:gd name="connsiteY52" fmla="*/ 27744 h 336551"/>
                <a:gd name="connsiteX53" fmla="*/ 119497 w 300038"/>
                <a:gd name="connsiteY53" fmla="*/ 10569 h 336551"/>
                <a:gd name="connsiteX54" fmla="*/ 155328 w 300038"/>
                <a:gd name="connsiteY54" fmla="*/ 0 h 336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300038" h="336551">
                  <a:moveTo>
                    <a:pt x="199932" y="273051"/>
                  </a:moveTo>
                  <a:cubicBezTo>
                    <a:pt x="194703" y="273051"/>
                    <a:pt x="192088" y="277020"/>
                    <a:pt x="192088" y="280989"/>
                  </a:cubicBezTo>
                  <a:cubicBezTo>
                    <a:pt x="192088" y="306124"/>
                    <a:pt x="192088" y="306124"/>
                    <a:pt x="192088" y="306124"/>
                  </a:cubicBezTo>
                  <a:cubicBezTo>
                    <a:pt x="192088" y="310093"/>
                    <a:pt x="194703" y="312739"/>
                    <a:pt x="199932" y="312739"/>
                  </a:cubicBezTo>
                  <a:cubicBezTo>
                    <a:pt x="250919" y="312739"/>
                    <a:pt x="250919" y="312739"/>
                    <a:pt x="250919" y="312739"/>
                  </a:cubicBezTo>
                  <a:cubicBezTo>
                    <a:pt x="254841" y="312739"/>
                    <a:pt x="258763" y="310093"/>
                    <a:pt x="258763" y="306124"/>
                  </a:cubicBezTo>
                  <a:lnTo>
                    <a:pt x="258763" y="280989"/>
                  </a:lnTo>
                  <a:cubicBezTo>
                    <a:pt x="258763" y="277020"/>
                    <a:pt x="254841" y="273051"/>
                    <a:pt x="250919" y="273051"/>
                  </a:cubicBezTo>
                  <a:cubicBezTo>
                    <a:pt x="199932" y="273051"/>
                    <a:pt x="199932" y="273051"/>
                    <a:pt x="199932" y="273051"/>
                  </a:cubicBezTo>
                  <a:close/>
                  <a:moveTo>
                    <a:pt x="101328" y="196851"/>
                  </a:moveTo>
                  <a:cubicBezTo>
                    <a:pt x="103960" y="196851"/>
                    <a:pt x="105276" y="196851"/>
                    <a:pt x="107908" y="196851"/>
                  </a:cubicBezTo>
                  <a:cubicBezTo>
                    <a:pt x="109224" y="198169"/>
                    <a:pt x="110540" y="199487"/>
                    <a:pt x="111856" y="202123"/>
                  </a:cubicBezTo>
                  <a:cubicBezTo>
                    <a:pt x="128964" y="248250"/>
                    <a:pt x="128964" y="248250"/>
                    <a:pt x="128964" y="248250"/>
                  </a:cubicBezTo>
                  <a:cubicBezTo>
                    <a:pt x="131595" y="239025"/>
                    <a:pt x="131595" y="239025"/>
                    <a:pt x="131595" y="239025"/>
                  </a:cubicBezTo>
                  <a:cubicBezTo>
                    <a:pt x="126332" y="225845"/>
                    <a:pt x="126332" y="225845"/>
                    <a:pt x="126332" y="225845"/>
                  </a:cubicBezTo>
                  <a:cubicBezTo>
                    <a:pt x="125016" y="223209"/>
                    <a:pt x="126332" y="220574"/>
                    <a:pt x="127648" y="217938"/>
                  </a:cubicBezTo>
                  <a:cubicBezTo>
                    <a:pt x="128964" y="216620"/>
                    <a:pt x="131595" y="215302"/>
                    <a:pt x="132911" y="215302"/>
                  </a:cubicBezTo>
                  <a:cubicBezTo>
                    <a:pt x="167126" y="215302"/>
                    <a:pt x="167126" y="215302"/>
                    <a:pt x="167126" y="215302"/>
                  </a:cubicBezTo>
                  <a:cubicBezTo>
                    <a:pt x="168442" y="215302"/>
                    <a:pt x="171074" y="216620"/>
                    <a:pt x="172390" y="217938"/>
                  </a:cubicBezTo>
                  <a:cubicBezTo>
                    <a:pt x="173706" y="220574"/>
                    <a:pt x="175022" y="223209"/>
                    <a:pt x="173706" y="225845"/>
                  </a:cubicBezTo>
                  <a:cubicBezTo>
                    <a:pt x="168442" y="239025"/>
                    <a:pt x="168442" y="239025"/>
                    <a:pt x="168442" y="239025"/>
                  </a:cubicBezTo>
                  <a:cubicBezTo>
                    <a:pt x="171074" y="248250"/>
                    <a:pt x="171074" y="248250"/>
                    <a:pt x="171074" y="248250"/>
                  </a:cubicBezTo>
                  <a:cubicBezTo>
                    <a:pt x="188182" y="202123"/>
                    <a:pt x="188182" y="202123"/>
                    <a:pt x="188182" y="202123"/>
                  </a:cubicBezTo>
                  <a:cubicBezTo>
                    <a:pt x="189498" y="199487"/>
                    <a:pt x="190814" y="198169"/>
                    <a:pt x="192130" y="196851"/>
                  </a:cubicBezTo>
                  <a:cubicBezTo>
                    <a:pt x="194762" y="196851"/>
                    <a:pt x="196078" y="196851"/>
                    <a:pt x="198710" y="196851"/>
                  </a:cubicBezTo>
                  <a:cubicBezTo>
                    <a:pt x="265823" y="224527"/>
                    <a:pt x="265823" y="224527"/>
                    <a:pt x="265823" y="224527"/>
                  </a:cubicBezTo>
                  <a:cubicBezTo>
                    <a:pt x="286879" y="232435"/>
                    <a:pt x="300038" y="252204"/>
                    <a:pt x="300038" y="274609"/>
                  </a:cubicBezTo>
                  <a:cubicBezTo>
                    <a:pt x="300038" y="328643"/>
                    <a:pt x="300038" y="328643"/>
                    <a:pt x="300038" y="328643"/>
                  </a:cubicBezTo>
                  <a:cubicBezTo>
                    <a:pt x="300038" y="332597"/>
                    <a:pt x="296090" y="336551"/>
                    <a:pt x="292142" y="336551"/>
                  </a:cubicBezTo>
                  <a:cubicBezTo>
                    <a:pt x="7896" y="336551"/>
                    <a:pt x="7896" y="336551"/>
                    <a:pt x="7896" y="336551"/>
                  </a:cubicBezTo>
                  <a:cubicBezTo>
                    <a:pt x="3948" y="336551"/>
                    <a:pt x="0" y="332597"/>
                    <a:pt x="0" y="328643"/>
                  </a:cubicBezTo>
                  <a:cubicBezTo>
                    <a:pt x="0" y="274609"/>
                    <a:pt x="0" y="274609"/>
                    <a:pt x="0" y="274609"/>
                  </a:cubicBezTo>
                  <a:cubicBezTo>
                    <a:pt x="0" y="252204"/>
                    <a:pt x="13159" y="232435"/>
                    <a:pt x="34215" y="224527"/>
                  </a:cubicBezTo>
                  <a:cubicBezTo>
                    <a:pt x="101328" y="196851"/>
                    <a:pt x="101328" y="196851"/>
                    <a:pt x="101328" y="196851"/>
                  </a:cubicBezTo>
                  <a:close/>
                  <a:moveTo>
                    <a:pt x="155328" y="0"/>
                  </a:moveTo>
                  <a:cubicBezTo>
                    <a:pt x="171252" y="0"/>
                    <a:pt x="187177" y="5285"/>
                    <a:pt x="201775" y="15854"/>
                  </a:cubicBezTo>
                  <a:cubicBezTo>
                    <a:pt x="225662" y="34350"/>
                    <a:pt x="223008" y="72663"/>
                    <a:pt x="223008" y="79268"/>
                  </a:cubicBezTo>
                  <a:cubicBezTo>
                    <a:pt x="223008" y="84553"/>
                    <a:pt x="224335" y="89838"/>
                    <a:pt x="224335" y="93801"/>
                  </a:cubicBezTo>
                  <a:cubicBezTo>
                    <a:pt x="225662" y="95122"/>
                    <a:pt x="228316" y="96443"/>
                    <a:pt x="229643" y="100407"/>
                  </a:cubicBezTo>
                  <a:cubicBezTo>
                    <a:pt x="234951" y="107012"/>
                    <a:pt x="234951" y="114939"/>
                    <a:pt x="232297" y="125508"/>
                  </a:cubicBezTo>
                  <a:cubicBezTo>
                    <a:pt x="226989" y="146647"/>
                    <a:pt x="215045" y="150610"/>
                    <a:pt x="208410" y="151931"/>
                  </a:cubicBezTo>
                  <a:cubicBezTo>
                    <a:pt x="204429" y="159858"/>
                    <a:pt x="195139" y="175712"/>
                    <a:pt x="185850" y="183639"/>
                  </a:cubicBezTo>
                  <a:cubicBezTo>
                    <a:pt x="183196" y="187602"/>
                    <a:pt x="177888" y="190244"/>
                    <a:pt x="172579" y="192887"/>
                  </a:cubicBezTo>
                  <a:cubicBezTo>
                    <a:pt x="164617" y="195529"/>
                    <a:pt x="157982" y="196850"/>
                    <a:pt x="150019" y="196850"/>
                  </a:cubicBezTo>
                  <a:cubicBezTo>
                    <a:pt x="142057" y="196850"/>
                    <a:pt x="135422" y="195529"/>
                    <a:pt x="127459" y="192887"/>
                  </a:cubicBezTo>
                  <a:cubicBezTo>
                    <a:pt x="122151" y="190244"/>
                    <a:pt x="116843" y="187602"/>
                    <a:pt x="114189" y="183639"/>
                  </a:cubicBezTo>
                  <a:cubicBezTo>
                    <a:pt x="104900" y="175712"/>
                    <a:pt x="95610" y="159858"/>
                    <a:pt x="91629" y="151931"/>
                  </a:cubicBezTo>
                  <a:cubicBezTo>
                    <a:pt x="84994" y="150610"/>
                    <a:pt x="73050" y="146647"/>
                    <a:pt x="67742" y="125508"/>
                  </a:cubicBezTo>
                  <a:cubicBezTo>
                    <a:pt x="65088" y="114939"/>
                    <a:pt x="65088" y="107012"/>
                    <a:pt x="70396" y="100407"/>
                  </a:cubicBezTo>
                  <a:cubicBezTo>
                    <a:pt x="71723" y="96443"/>
                    <a:pt x="74377" y="95122"/>
                    <a:pt x="75704" y="93801"/>
                  </a:cubicBezTo>
                  <a:cubicBezTo>
                    <a:pt x="75704" y="91159"/>
                    <a:pt x="75704" y="88516"/>
                    <a:pt x="77031" y="85874"/>
                  </a:cubicBezTo>
                  <a:cubicBezTo>
                    <a:pt x="73050" y="80590"/>
                    <a:pt x="67742" y="68699"/>
                    <a:pt x="74377" y="50203"/>
                  </a:cubicBezTo>
                  <a:cubicBezTo>
                    <a:pt x="81013" y="30386"/>
                    <a:pt x="95610" y="27744"/>
                    <a:pt x="103572" y="27744"/>
                  </a:cubicBezTo>
                  <a:cubicBezTo>
                    <a:pt x="106227" y="22459"/>
                    <a:pt x="111535" y="17175"/>
                    <a:pt x="119497" y="10569"/>
                  </a:cubicBezTo>
                  <a:cubicBezTo>
                    <a:pt x="128786" y="3963"/>
                    <a:pt x="142057" y="0"/>
                    <a:pt x="155328" y="0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思源宋体 CN" panose="02020400000000000000" pitchFamily="18" charset="-122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BF20EFD2-9697-4510-5C9B-F1347E6A0293}"/>
                </a:ext>
              </a:extLst>
            </p:cNvPr>
            <p:cNvSpPr/>
            <p:nvPr/>
          </p:nvSpPr>
          <p:spPr>
            <a:xfrm>
              <a:off x="1223202" y="4928513"/>
              <a:ext cx="2781870" cy="497761"/>
            </a:xfrm>
            <a:prstGeom prst="roundRect">
              <a:avLst>
                <a:gd name="adj" fmla="val 50000"/>
              </a:avLst>
            </a:prstGeom>
            <a:gradFill>
              <a:gsLst>
                <a:gs pos="19000">
                  <a:srgbClr val="0070C0">
                    <a:alpha val="0"/>
                  </a:srgbClr>
                </a:gs>
                <a:gs pos="100000">
                  <a:srgbClr val="0070C0">
                    <a:alpha val="10000"/>
                  </a:srgbClr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思源宋体 CN" panose="02020400000000000000" pitchFamily="18" charset="-122"/>
                <a:cs typeface="Times New Roman" panose="02020603050405020304" pitchFamily="18" charset="0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51894EEF-43A7-4C66-BB29-F579F88E71D5}"/>
                </a:ext>
              </a:extLst>
            </p:cNvPr>
            <p:cNvSpPr txBox="1"/>
            <p:nvPr/>
          </p:nvSpPr>
          <p:spPr>
            <a:xfrm>
              <a:off x="1102204" y="4970306"/>
              <a:ext cx="4591940" cy="579646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>
                <a:lnSpc>
                  <a:spcPts val="1920"/>
                </a:lnSpc>
                <a:defRPr/>
              </a:pPr>
              <a:r>
                <a:rPr lang="en-US" altLang="zh-CN" sz="1600" b="1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  <a:sym typeface="+mn-lt"/>
                </a:rPr>
                <a:t>Karina Hsu | Investment Analyst </a:t>
              </a:r>
            </a:p>
            <a:p>
              <a:pPr lvl="0">
                <a:lnSpc>
                  <a:spcPts val="1920"/>
                </a:lnSpc>
                <a:defRPr/>
              </a:pPr>
              <a:r>
                <a:rPr lang="en-US" altLang="zh-CN" sz="1600" b="1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  <a:sym typeface="+mn-lt"/>
                </a:rPr>
                <a:t>March 5</a:t>
              </a:r>
              <a:r>
                <a:rPr lang="en-US" altLang="zh-CN" sz="1600" b="1" kern="0" baseline="30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  <a:sym typeface="+mn-lt"/>
                </a:rPr>
                <a:t>th</a:t>
              </a:r>
              <a:r>
                <a:rPr lang="en-US" altLang="zh-CN" sz="1600" b="1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思源宋体 CN" panose="02020400000000000000" pitchFamily="18" charset="-122"/>
                  <a:cs typeface="Times New Roman" panose="02020603050405020304" pitchFamily="18" charset="0"/>
                  <a:sym typeface="+mn-lt"/>
                </a:rPr>
                <a:t>, 2026</a:t>
              </a:r>
              <a:endPara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思源宋体 CN" panose="02020400000000000000" pitchFamily="18" charset="-122"/>
                <a:cs typeface="Times New Roman" panose="02020603050405020304" pitchFamily="18" charset="0"/>
                <a:sym typeface="+mn-lt"/>
              </a:endParaRPr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45A9826-6874-C062-35C0-B9A23AED0DDD}"/>
              </a:ext>
            </a:extLst>
          </p:cNvPr>
          <p:cNvCxnSpPr>
            <a:cxnSpLocks/>
          </p:cNvCxnSpPr>
          <p:nvPr/>
        </p:nvCxnSpPr>
        <p:spPr>
          <a:xfrm>
            <a:off x="916541" y="4645893"/>
            <a:ext cx="0" cy="663233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矩形: 圆角 12">
            <a:extLst>
              <a:ext uri="{FF2B5EF4-FFF2-40B4-BE49-F238E27FC236}">
                <a16:creationId xmlns:a16="http://schemas.microsoft.com/office/drawing/2014/main" id="{061560A2-B4E6-695F-477E-BF4D0CB999FE}"/>
              </a:ext>
            </a:extLst>
          </p:cNvPr>
          <p:cNvSpPr/>
          <p:nvPr/>
        </p:nvSpPr>
        <p:spPr>
          <a:xfrm>
            <a:off x="4063358" y="5069489"/>
            <a:ext cx="3115341" cy="395686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257810">
              <a:defRPr/>
            </a:pPr>
            <a:r>
              <a:rPr lang="en-US" altLang="zh-CN" sz="1400" b="1" kern="0" dirty="0">
                <a:solidFill>
                  <a:schemeClr val="bg1"/>
                </a:solidFill>
                <a:latin typeface="Times New Roman" panose="02020603050405020304" pitchFamily="18" charset="0"/>
                <a:ea typeface="思源宋体 CN" panose="02020400000000000000" pitchFamily="18" charset="-122"/>
                <a:cs typeface="Times New Roman" panose="02020603050405020304" pitchFamily="18" charset="0"/>
              </a:rPr>
              <a:t>Gmail: karina.hsu2000@gmail.com</a:t>
            </a:r>
            <a:endParaRPr lang="zh-CN" altLang="en-US" sz="1400" b="1" kern="0" dirty="0">
              <a:solidFill>
                <a:schemeClr val="bg1"/>
              </a:solidFill>
              <a:latin typeface="Times New Roman" panose="02020603050405020304" pitchFamily="18" charset="0"/>
              <a:ea typeface="思源宋体 CN" panose="02020400000000000000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76423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DIAGRAM_VIRTUALLY_FRAME" val="{&quot;height&quot;:335.65,&quot;left&quot;:68.875,&quot;top&quot;:150.975,&quot;width&quot;:766.82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DIAGRAM_VIRTUALLY_FRAME" val="{&quot;height&quot;:335.65,&quot;left&quot;:68.875,&quot;top&quot;:150.975,&quot;width&quot;:766.82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DIAGRAM_VIRTUALLY_FRAME" val="{&quot;height&quot;:335.65,&quot;left&quot;:68.875,&quot;top&quot;:150.975,&quot;width&quot;:766.82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DIAGRAM_VIRTUALLY_FRAME" val="{&quot;height&quot;:335.65,&quot;left&quot;:68.875,&quot;top&quot;:150.975,&quot;width&quot;:766.82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DIAGRAM_VIRTUALLY_FRAME" val="{&quot;height&quot;:335.65,&quot;left&quot;:68.875,&quot;top&quot;:150.975,&quot;width&quot;:766.82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DIAGRAM_VIRTUALLY_FRAME" val="{&quot;height&quot;:335.65,&quot;left&quot;:68.875,&quot;top&quot;:150.975,&quot;width&quot;:766.82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DIAGRAM_VIRTUALLY_FRAME" val="{&quot;height&quot;:335.65,&quot;left&quot;:68.875,&quot;top&quot;:150.975,&quot;width&quot;:766.82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DIAGRAM_VIRTUALLY_FRAME" val="{&quot;height&quot;:335.65,&quot;left&quot;:68.875,&quot;top&quot;:150.975,&quot;width&quot;:766.82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DIAGRAM_VIRTUALLY_FRAME" val="{&quot;height&quot;:335.65,&quot;left&quot;:68.875,&quot;top&quot;:150.975,&quot;width&quot;:766.82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DIAGRAM_VIRTUALLY_FRAME" val="{&quot;height&quot;:335.65,&quot;left&quot;:68.875,&quot;top&quot;:150.975,&quot;width&quot;:766.82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DIAGRAM_VIRTUALLY_FRAME" val="{&quot;height&quot;:335.65,&quot;left&quot;:68.875,&quot;top&quot;:150.975,&quot;width&quot;:766.825}"/>
</p:tagLst>
</file>

<file path=ppt/theme/theme1.xml><?xml version="1.0" encoding="utf-8"?>
<a:theme xmlns:a="http://schemas.openxmlformats.org/drawingml/2006/main" name="第一PPT，www.1ppt.com">
  <a:themeElements>
    <a:clrScheme name="自定义颜色 0001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0070C0"/>
      </a:accent1>
      <a:accent2>
        <a:srgbClr val="FF482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第一PPT，www.1ppt.com 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556</TotalTime>
  <Words>1536</Words>
  <Application>Microsoft Macintosh PowerPoint</Application>
  <PresentationFormat>Widescreen</PresentationFormat>
  <Paragraphs>248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微软雅黑</vt:lpstr>
      <vt:lpstr>思源宋体 CN</vt:lpstr>
      <vt:lpstr>思源宋体 CN Heavy</vt:lpstr>
      <vt:lpstr>Arial</vt:lpstr>
      <vt:lpstr>Times New Roman</vt:lpstr>
      <vt:lpstr>第一PPT，www.1ppt.com</vt:lpstr>
      <vt:lpstr>第一PPT，www.1ppt.com </vt:lpstr>
      <vt:lpstr>自定义设计方案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第一PPT</Manager>
  <Company>第一PPT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企业宣传介绍</dc:title>
  <dc:creator>第一PPT，www.1ppt.com</dc:creator>
  <cp:keywords>www.1ppt.com</cp:keywords>
  <dc:description>第一PPT</dc:description>
  <cp:lastModifiedBy>Shao Yu Hsu</cp:lastModifiedBy>
  <cp:revision>48</cp:revision>
  <dcterms:created xsi:type="dcterms:W3CDTF">2025-06-10T12:20:15Z</dcterms:created>
  <dcterms:modified xsi:type="dcterms:W3CDTF">2026-03-05T02:29:14Z</dcterms:modified>
</cp:coreProperties>
</file>