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2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3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13"/>
  </p:notesMasterIdLst>
  <p:handoutMasterIdLst>
    <p:handoutMasterId r:id="rId14"/>
  </p:handoutMasterIdLst>
  <p:sldIdLst>
    <p:sldId id="409" r:id="rId3"/>
    <p:sldId id="476" r:id="rId4"/>
    <p:sldId id="477" r:id="rId5"/>
    <p:sldId id="471" r:id="rId6"/>
    <p:sldId id="478" r:id="rId7"/>
    <p:sldId id="474" r:id="rId8"/>
    <p:sldId id="481" r:id="rId9"/>
    <p:sldId id="479" r:id="rId10"/>
    <p:sldId id="480" r:id="rId11"/>
    <p:sldId id="430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4D49"/>
    <a:srgbClr val="343B53"/>
    <a:srgbClr val="DFC8AA"/>
    <a:srgbClr val="B19E86"/>
    <a:srgbClr val="FFE5AD"/>
    <a:srgbClr val="FFFFFF"/>
    <a:srgbClr val="FD8E01"/>
    <a:srgbClr val="FFDA82"/>
    <a:srgbClr val="FEC63F"/>
    <a:srgbClr val="E9A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86809" autoAdjust="0"/>
  </p:normalViewPr>
  <p:slideViewPr>
    <p:cSldViewPr snapToGrid="0" showGuides="1">
      <p:cViewPr varScale="1">
        <p:scale>
          <a:sx n="105" d="100"/>
          <a:sy n="105" d="100"/>
        </p:scale>
        <p:origin x="528" y="200"/>
      </p:cViewPr>
      <p:guideLst>
        <p:guide orient="horz" pos="2292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rPr>
              <a:t>2026/3/4</a:t>
            </a:fld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rPr>
              <a:t>‹#›</a:t>
            </a:fld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07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605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9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35360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35360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35360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35360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35360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135360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2026/3/4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056180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2026/3/4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7498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152874"/>
      </p:ext>
    </p:extLst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50" r:id="rId8"/>
  </p:sldLayoutIdLst>
  <p:transition>
    <p:pull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02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ransition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5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9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tags" Target="../tags/tag62.xml"/><Relationship Id="rId3" Type="http://schemas.openxmlformats.org/officeDocument/2006/relationships/tags" Target="../tags/tag39.xml"/><Relationship Id="rId21" Type="http://schemas.openxmlformats.org/officeDocument/2006/relationships/tags" Target="../tags/tag5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tags" Target="../tags/tag61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slideLayout" Target="../slideLayouts/slideLayout8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" Type="http://schemas.openxmlformats.org/officeDocument/2006/relationships/tags" Target="../tags/tag66.xml"/><Relationship Id="rId21" Type="http://schemas.openxmlformats.org/officeDocument/2006/relationships/image" Target="../media/image3.svg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image" Target="../media/image7.svg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image" Target="../media/image2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image" Target="../media/image6.svg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image" Target="../media/image5.svg"/><Relationship Id="rId10" Type="http://schemas.openxmlformats.org/officeDocument/2006/relationships/tags" Target="../tags/tag73.xml"/><Relationship Id="rId19" Type="http://schemas.openxmlformats.org/officeDocument/2006/relationships/slideLayout" Target="../slideLayouts/slideLayout8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3" Type="http://schemas.openxmlformats.org/officeDocument/2006/relationships/tags" Target="../tags/tag84.xml"/><Relationship Id="rId21" Type="http://schemas.openxmlformats.org/officeDocument/2006/relationships/tags" Target="../tags/tag102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slideLayout" Target="../slideLayouts/slideLayout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0" Type="http://schemas.openxmlformats.org/officeDocument/2006/relationships/tags" Target="../tags/tag101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image" Target="../media/image10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image" Target="../media/image9.svg"/><Relationship Id="rId5" Type="http://schemas.openxmlformats.org/officeDocument/2006/relationships/tags" Target="../tags/tag110.xml"/><Relationship Id="rId10" Type="http://schemas.openxmlformats.org/officeDocument/2006/relationships/image" Target="../media/image8.png"/><Relationship Id="rId4" Type="http://schemas.openxmlformats.org/officeDocument/2006/relationships/tags" Target="../tags/tag109.xml"/><Relationship Id="rId9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11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9.svg"/><Relationship Id="rId5" Type="http://schemas.openxmlformats.org/officeDocument/2006/relationships/tags" Target="../tags/tag117.xml"/><Relationship Id="rId10" Type="http://schemas.openxmlformats.org/officeDocument/2006/relationships/image" Target="../media/image8.png"/><Relationship Id="rId4" Type="http://schemas.openxmlformats.org/officeDocument/2006/relationships/tags" Target="../tags/tag116.xml"/><Relationship Id="rId9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image" Target="../media/image8.png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slideLayout" Target="../slideLayouts/slideLayout8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0" Type="http://schemas.openxmlformats.org/officeDocument/2006/relationships/tags" Target="../tags/tag129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26" Type="http://schemas.openxmlformats.org/officeDocument/2006/relationships/tags" Target="../tags/tag156.xml"/><Relationship Id="rId3" Type="http://schemas.openxmlformats.org/officeDocument/2006/relationships/tags" Target="../tags/tag133.xml"/><Relationship Id="rId21" Type="http://schemas.openxmlformats.org/officeDocument/2006/relationships/tags" Target="../tags/tag151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5" Type="http://schemas.openxmlformats.org/officeDocument/2006/relationships/tags" Target="../tags/tag155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20" Type="http://schemas.openxmlformats.org/officeDocument/2006/relationships/tags" Target="../tags/tag150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24" Type="http://schemas.openxmlformats.org/officeDocument/2006/relationships/tags" Target="../tags/tag154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23" Type="http://schemas.openxmlformats.org/officeDocument/2006/relationships/tags" Target="../tags/tag153.xml"/><Relationship Id="rId28" Type="http://schemas.openxmlformats.org/officeDocument/2006/relationships/slideLayout" Target="../slideLayouts/slideLayout8.xml"/><Relationship Id="rId10" Type="http://schemas.openxmlformats.org/officeDocument/2006/relationships/tags" Target="../tags/tag140.xml"/><Relationship Id="rId19" Type="http://schemas.openxmlformats.org/officeDocument/2006/relationships/tags" Target="../tags/tag149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Relationship Id="rId22" Type="http://schemas.openxmlformats.org/officeDocument/2006/relationships/tags" Target="../tags/tag152.xml"/><Relationship Id="rId27" Type="http://schemas.openxmlformats.org/officeDocument/2006/relationships/tags" Target="../tags/tag15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slideLayout" Target="../slideLayouts/slideLayout8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图形"/>
          <p:cNvGrpSpPr/>
          <p:nvPr/>
        </p:nvGrpSpPr>
        <p:grpSpPr>
          <a:xfrm>
            <a:off x="-2446020" y="-78105"/>
            <a:ext cx="15270480" cy="7259320"/>
            <a:chOff x="-3852" y="-123"/>
            <a:chExt cx="24048" cy="11432"/>
          </a:xfrm>
        </p:grpSpPr>
        <p:sp>
          <p:nvSpPr>
            <p:cNvPr id="13" name="图形"/>
            <p:cNvSpPr/>
            <p:nvPr/>
          </p:nvSpPr>
          <p:spPr>
            <a:xfrm>
              <a:off x="5888" y="1512"/>
              <a:ext cx="505" cy="505"/>
            </a:xfrm>
            <a:prstGeom prst="ellipse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" name="图形"/>
            <p:cNvSpPr/>
            <p:nvPr/>
          </p:nvSpPr>
          <p:spPr>
            <a:xfrm rot="2700000">
              <a:off x="-1348" y="1669"/>
              <a:ext cx="6067" cy="1107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381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pic>
          <p:nvPicPr>
            <p:cNvPr id="3" name="图形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64" r="10864"/>
            <a:stretch/>
          </p:blipFill>
          <p:spPr>
            <a:xfrm>
              <a:off x="867" y="2930"/>
              <a:ext cx="5106" cy="5106"/>
            </a:xfrm>
            <a:prstGeom prst="ellipse">
              <a:avLst/>
            </a:prstGeom>
          </p:spPr>
        </p:pic>
        <p:sp>
          <p:nvSpPr>
            <p:cNvPr id="12" name="图形"/>
            <p:cNvSpPr/>
            <p:nvPr>
              <p:custDataLst>
                <p:tags r:id="rId4"/>
              </p:custDataLst>
            </p:nvPr>
          </p:nvSpPr>
          <p:spPr>
            <a:xfrm rot="2700000">
              <a:off x="2464" y="-2294"/>
              <a:ext cx="822" cy="5164"/>
            </a:xfrm>
            <a:prstGeom prst="roundRect">
              <a:avLst>
                <a:gd name="adj" fmla="val 50000"/>
              </a:avLst>
            </a:prstGeom>
            <a:solidFill>
              <a:srgbClr val="B19E86">
                <a:alpha val="49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5" name="图形"/>
            <p:cNvSpPr/>
            <p:nvPr/>
          </p:nvSpPr>
          <p:spPr>
            <a:xfrm>
              <a:off x="7746" y="9639"/>
              <a:ext cx="12450" cy="852"/>
            </a:xfrm>
            <a:prstGeom prst="roundRect">
              <a:avLst>
                <a:gd name="adj" fmla="val 50000"/>
              </a:avLst>
            </a:prstGeom>
            <a:solidFill>
              <a:srgbClr val="B19E8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6" name="图形"/>
            <p:cNvSpPr/>
            <p:nvPr>
              <p:custDataLst>
                <p:tags r:id="rId5"/>
              </p:custDataLst>
            </p:nvPr>
          </p:nvSpPr>
          <p:spPr>
            <a:xfrm>
              <a:off x="15197" y="9690"/>
              <a:ext cx="505" cy="505"/>
            </a:xfrm>
            <a:prstGeom prst="ellipse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7" name="图形"/>
            <p:cNvSpPr/>
            <p:nvPr>
              <p:custDataLst>
                <p:tags r:id="rId6"/>
              </p:custDataLst>
            </p:nvPr>
          </p:nvSpPr>
          <p:spPr>
            <a:xfrm rot="2700000">
              <a:off x="4708" y="8316"/>
              <a:ext cx="822" cy="516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381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grpSp>
        <p:nvGrpSpPr>
          <p:cNvPr id="9" name="图形"/>
          <p:cNvGrpSpPr/>
          <p:nvPr/>
        </p:nvGrpSpPr>
        <p:grpSpPr>
          <a:xfrm>
            <a:off x="4919006" y="4871402"/>
            <a:ext cx="5744845" cy="462915"/>
            <a:chOff x="8080" y="7420"/>
            <a:chExt cx="9047" cy="729"/>
          </a:xfrm>
        </p:grpSpPr>
        <p:sp>
          <p:nvSpPr>
            <p:cNvPr id="7" name="图形"/>
            <p:cNvSpPr/>
            <p:nvPr/>
          </p:nvSpPr>
          <p:spPr>
            <a:xfrm>
              <a:off x="8080" y="7440"/>
              <a:ext cx="3826" cy="709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254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Presenter: Karina</a:t>
              </a:r>
              <a:endParaRPr lang="zh-CN" altLang="en-US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8" name="图形"/>
            <p:cNvSpPr/>
            <p:nvPr>
              <p:custDataLst>
                <p:tags r:id="rId3"/>
              </p:custDataLst>
            </p:nvPr>
          </p:nvSpPr>
          <p:spPr>
            <a:xfrm>
              <a:off x="12302" y="7420"/>
              <a:ext cx="4825" cy="709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254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Team</a:t>
              </a:r>
              <a:r>
                <a:rPr lang="zh-CN" altLang="en-US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：</a:t>
              </a:r>
              <a:r>
                <a:rPr lang="en-US" altLang="zh-CN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Strategic Task Force</a:t>
              </a:r>
            </a:p>
          </p:txBody>
        </p:sp>
      </p:grpSp>
      <p:sp>
        <p:nvSpPr>
          <p:cNvPr id="10" name="图形"/>
          <p:cNvSpPr txBox="1"/>
          <p:nvPr/>
        </p:nvSpPr>
        <p:spPr>
          <a:xfrm>
            <a:off x="3738879" y="1699517"/>
            <a:ext cx="5878195" cy="798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4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Volunteer Matching</a:t>
            </a:r>
          </a:p>
        </p:txBody>
      </p:sp>
      <p:grpSp>
        <p:nvGrpSpPr>
          <p:cNvPr id="19" name="图形"/>
          <p:cNvGrpSpPr/>
          <p:nvPr/>
        </p:nvGrpSpPr>
        <p:grpSpPr>
          <a:xfrm>
            <a:off x="7976870" y="345441"/>
            <a:ext cx="4215130" cy="392430"/>
            <a:chOff x="12562" y="544"/>
            <a:chExt cx="6638" cy="618"/>
          </a:xfrm>
        </p:grpSpPr>
        <p:sp>
          <p:nvSpPr>
            <p:cNvPr id="6" name="图形"/>
            <p:cNvSpPr/>
            <p:nvPr>
              <p:custDataLst>
                <p:tags r:id="rId2"/>
              </p:custDataLst>
            </p:nvPr>
          </p:nvSpPr>
          <p:spPr>
            <a:xfrm rot="16200000" flipH="1">
              <a:off x="18317" y="279"/>
              <a:ext cx="618" cy="114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8" name="图形"/>
            <p:cNvSpPr txBox="1"/>
            <p:nvPr/>
          </p:nvSpPr>
          <p:spPr>
            <a:xfrm>
              <a:off x="12562" y="605"/>
              <a:ext cx="5490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Northbridge Community Alliance</a:t>
              </a:r>
            </a:p>
          </p:txBody>
        </p:sp>
      </p:grpSp>
      <p:sp>
        <p:nvSpPr>
          <p:cNvPr id="11" name="图形">
            <a:extLst>
              <a:ext uri="{FF2B5EF4-FFF2-40B4-BE49-F238E27FC236}">
                <a16:creationId xmlns:a16="http://schemas.microsoft.com/office/drawing/2014/main" id="{41D5EB5A-EFDD-7ECE-CDDB-991E8E8E9BC0}"/>
              </a:ext>
            </a:extLst>
          </p:cNvPr>
          <p:cNvSpPr txBox="1"/>
          <p:nvPr/>
        </p:nvSpPr>
        <p:spPr>
          <a:xfrm>
            <a:off x="3738879" y="2554074"/>
            <a:ext cx="5878195" cy="798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4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&amp;</a:t>
            </a: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169B27FA-8FE8-2BB4-E3A0-95E6F95AA7EF}"/>
              </a:ext>
            </a:extLst>
          </p:cNvPr>
          <p:cNvSpPr txBox="1"/>
          <p:nvPr/>
        </p:nvSpPr>
        <p:spPr>
          <a:xfrm>
            <a:off x="4919006" y="3385607"/>
            <a:ext cx="7676439" cy="798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4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Communication Assistant</a:t>
            </a:r>
          </a:p>
        </p:txBody>
      </p:sp>
    </p:spTree>
    <p:custDataLst>
      <p:tags r:id="rId1"/>
    </p:custDataLst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52C7-C0B9-6232-E5AF-045F641D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">
            <a:extLst>
              <a:ext uri="{FF2B5EF4-FFF2-40B4-BE49-F238E27FC236}">
                <a16:creationId xmlns:a16="http://schemas.microsoft.com/office/drawing/2014/main" id="{33FFBC5E-958D-55E7-97AF-09B94A86B3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216968" y="4508316"/>
            <a:ext cx="636905" cy="636905"/>
          </a:xfrm>
          <a:prstGeom prst="ellipse">
            <a:avLst/>
          </a:prstGeom>
          <a:solidFill>
            <a:srgbClr val="343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3F41AA5-275D-7A99-5F86-4950ED1D97AE}"/>
              </a:ext>
            </a:extLst>
          </p:cNvPr>
          <p:cNvGrpSpPr/>
          <p:nvPr/>
        </p:nvGrpSpPr>
        <p:grpSpPr>
          <a:xfrm>
            <a:off x="7121718" y="4686116"/>
            <a:ext cx="534670" cy="281305"/>
            <a:chOff x="7770813" y="763588"/>
            <a:chExt cx="2546070" cy="1341438"/>
          </a:xfrm>
          <a:solidFill>
            <a:schemeClr val="bg1"/>
          </a:solidFill>
          <a:effectLst/>
        </p:grpSpPr>
        <p:sp>
          <p:nvSpPr>
            <p:cNvPr id="14" name="图形">
              <a:extLst>
                <a:ext uri="{FF2B5EF4-FFF2-40B4-BE49-F238E27FC236}">
                  <a16:creationId xmlns:a16="http://schemas.microsoft.com/office/drawing/2014/main" id="{D854C851-6D70-9D50-E274-52E09FCC9ED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7770813" y="1501776"/>
              <a:ext cx="214313" cy="120650"/>
            </a:xfrm>
            <a:custGeom>
              <a:avLst/>
              <a:gdLst>
                <a:gd name="T0" fmla="*/ 21 w 75"/>
                <a:gd name="T1" fmla="*/ 42 h 42"/>
                <a:gd name="T2" fmla="*/ 54 w 75"/>
                <a:gd name="T3" fmla="*/ 42 h 42"/>
                <a:gd name="T4" fmla="*/ 75 w 75"/>
                <a:gd name="T5" fmla="*/ 21 h 42"/>
                <a:gd name="T6" fmla="*/ 54 w 75"/>
                <a:gd name="T7" fmla="*/ 0 h 42"/>
                <a:gd name="T8" fmla="*/ 21 w 75"/>
                <a:gd name="T9" fmla="*/ 0 h 42"/>
                <a:gd name="T10" fmla="*/ 0 w 75"/>
                <a:gd name="T11" fmla="*/ 21 h 42"/>
                <a:gd name="T12" fmla="*/ 21 w 75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42">
                  <a:moveTo>
                    <a:pt x="21" y="42"/>
                  </a:moveTo>
                  <a:cubicBezTo>
                    <a:pt x="54" y="42"/>
                    <a:pt x="54" y="42"/>
                    <a:pt x="54" y="42"/>
                  </a:cubicBezTo>
                  <a:cubicBezTo>
                    <a:pt x="65" y="42"/>
                    <a:pt x="75" y="33"/>
                    <a:pt x="75" y="21"/>
                  </a:cubicBezTo>
                  <a:cubicBezTo>
                    <a:pt x="75" y="10"/>
                    <a:pt x="65" y="0"/>
                    <a:pt x="5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5" name="图形">
              <a:extLst>
                <a:ext uri="{FF2B5EF4-FFF2-40B4-BE49-F238E27FC236}">
                  <a16:creationId xmlns:a16="http://schemas.microsoft.com/office/drawing/2014/main" id="{504A5C9B-C644-8FED-6838-4DAB6C0E457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7770813" y="992188"/>
              <a:ext cx="214313" cy="120650"/>
            </a:xfrm>
            <a:custGeom>
              <a:avLst/>
              <a:gdLst>
                <a:gd name="T0" fmla="*/ 21 w 75"/>
                <a:gd name="T1" fmla="*/ 42 h 42"/>
                <a:gd name="T2" fmla="*/ 54 w 75"/>
                <a:gd name="T3" fmla="*/ 42 h 42"/>
                <a:gd name="T4" fmla="*/ 75 w 75"/>
                <a:gd name="T5" fmla="*/ 21 h 42"/>
                <a:gd name="T6" fmla="*/ 54 w 75"/>
                <a:gd name="T7" fmla="*/ 0 h 42"/>
                <a:gd name="T8" fmla="*/ 21 w 75"/>
                <a:gd name="T9" fmla="*/ 0 h 42"/>
                <a:gd name="T10" fmla="*/ 0 w 75"/>
                <a:gd name="T11" fmla="*/ 21 h 42"/>
                <a:gd name="T12" fmla="*/ 21 w 75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42">
                  <a:moveTo>
                    <a:pt x="21" y="42"/>
                  </a:moveTo>
                  <a:cubicBezTo>
                    <a:pt x="54" y="42"/>
                    <a:pt x="54" y="42"/>
                    <a:pt x="54" y="42"/>
                  </a:cubicBezTo>
                  <a:cubicBezTo>
                    <a:pt x="65" y="42"/>
                    <a:pt x="75" y="32"/>
                    <a:pt x="75" y="21"/>
                  </a:cubicBezTo>
                  <a:cubicBezTo>
                    <a:pt x="75" y="10"/>
                    <a:pt x="65" y="0"/>
                    <a:pt x="5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2ACD6B21-2585-2831-34DD-8E56D453EA5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7770813" y="1247776"/>
              <a:ext cx="214313" cy="119063"/>
            </a:xfrm>
            <a:custGeom>
              <a:avLst/>
              <a:gdLst>
                <a:gd name="T0" fmla="*/ 21 w 75"/>
                <a:gd name="T1" fmla="*/ 42 h 42"/>
                <a:gd name="T2" fmla="*/ 54 w 75"/>
                <a:gd name="T3" fmla="*/ 42 h 42"/>
                <a:gd name="T4" fmla="*/ 75 w 75"/>
                <a:gd name="T5" fmla="*/ 21 h 42"/>
                <a:gd name="T6" fmla="*/ 54 w 75"/>
                <a:gd name="T7" fmla="*/ 0 h 42"/>
                <a:gd name="T8" fmla="*/ 21 w 75"/>
                <a:gd name="T9" fmla="*/ 0 h 42"/>
                <a:gd name="T10" fmla="*/ 0 w 75"/>
                <a:gd name="T11" fmla="*/ 21 h 42"/>
                <a:gd name="T12" fmla="*/ 21 w 75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42">
                  <a:moveTo>
                    <a:pt x="21" y="42"/>
                  </a:moveTo>
                  <a:cubicBezTo>
                    <a:pt x="54" y="42"/>
                    <a:pt x="54" y="42"/>
                    <a:pt x="54" y="42"/>
                  </a:cubicBezTo>
                  <a:cubicBezTo>
                    <a:pt x="65" y="42"/>
                    <a:pt x="75" y="33"/>
                    <a:pt x="75" y="21"/>
                  </a:cubicBezTo>
                  <a:cubicBezTo>
                    <a:pt x="75" y="10"/>
                    <a:pt x="65" y="0"/>
                    <a:pt x="5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13C5C1DC-6CB7-6F10-46DB-819BB64565B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7770813" y="1758951"/>
              <a:ext cx="214313" cy="117475"/>
            </a:xfrm>
            <a:custGeom>
              <a:avLst/>
              <a:gdLst>
                <a:gd name="T0" fmla="*/ 75 w 75"/>
                <a:gd name="T1" fmla="*/ 20 h 41"/>
                <a:gd name="T2" fmla="*/ 54 w 75"/>
                <a:gd name="T3" fmla="*/ 0 h 41"/>
                <a:gd name="T4" fmla="*/ 21 w 75"/>
                <a:gd name="T5" fmla="*/ 0 h 41"/>
                <a:gd name="T6" fmla="*/ 0 w 75"/>
                <a:gd name="T7" fmla="*/ 20 h 41"/>
                <a:gd name="T8" fmla="*/ 21 w 75"/>
                <a:gd name="T9" fmla="*/ 41 h 41"/>
                <a:gd name="T10" fmla="*/ 54 w 75"/>
                <a:gd name="T11" fmla="*/ 41 h 41"/>
                <a:gd name="T12" fmla="*/ 75 w 75"/>
                <a:gd name="T13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41">
                  <a:moveTo>
                    <a:pt x="75" y="20"/>
                  </a:moveTo>
                  <a:cubicBezTo>
                    <a:pt x="75" y="9"/>
                    <a:pt x="65" y="0"/>
                    <a:pt x="5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2"/>
                    <a:pt x="9" y="41"/>
                    <a:pt x="21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65" y="41"/>
                    <a:pt x="75" y="32"/>
                    <a:pt x="7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8" name="图形">
              <a:extLst>
                <a:ext uri="{FF2B5EF4-FFF2-40B4-BE49-F238E27FC236}">
                  <a16:creationId xmlns:a16="http://schemas.microsoft.com/office/drawing/2014/main" id="{314201AE-79FF-B5BF-ED47-7F9C29CEC909}"/>
                </a:ext>
              </a:extLst>
            </p:cNvPr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9143722" y="763588"/>
              <a:ext cx="1173161" cy="1341438"/>
            </a:xfrm>
            <a:custGeom>
              <a:avLst/>
              <a:gdLst>
                <a:gd name="T0" fmla="*/ 368 w 411"/>
                <a:gd name="T1" fmla="*/ 0 h 469"/>
                <a:gd name="T2" fmla="*/ 42 w 411"/>
                <a:gd name="T3" fmla="*/ 0 h 469"/>
                <a:gd name="T4" fmla="*/ 0 w 411"/>
                <a:gd name="T5" fmla="*/ 43 h 469"/>
                <a:gd name="T6" fmla="*/ 0 w 411"/>
                <a:gd name="T7" fmla="*/ 68 h 469"/>
                <a:gd name="T8" fmla="*/ 23 w 411"/>
                <a:gd name="T9" fmla="*/ 68 h 469"/>
                <a:gd name="T10" fmla="*/ 56 w 411"/>
                <a:gd name="T11" fmla="*/ 101 h 469"/>
                <a:gd name="T12" fmla="*/ 23 w 411"/>
                <a:gd name="T13" fmla="*/ 134 h 469"/>
                <a:gd name="T14" fmla="*/ 0 w 411"/>
                <a:gd name="T15" fmla="*/ 134 h 469"/>
                <a:gd name="T16" fmla="*/ 0 w 411"/>
                <a:gd name="T17" fmla="*/ 157 h 469"/>
                <a:gd name="T18" fmla="*/ 23 w 411"/>
                <a:gd name="T19" fmla="*/ 157 h 469"/>
                <a:gd name="T20" fmla="*/ 56 w 411"/>
                <a:gd name="T21" fmla="*/ 190 h 469"/>
                <a:gd name="T22" fmla="*/ 23 w 411"/>
                <a:gd name="T23" fmla="*/ 223 h 469"/>
                <a:gd name="T24" fmla="*/ 0 w 411"/>
                <a:gd name="T25" fmla="*/ 223 h 469"/>
                <a:gd name="T26" fmla="*/ 0 w 411"/>
                <a:gd name="T27" fmla="*/ 246 h 469"/>
                <a:gd name="T28" fmla="*/ 23 w 411"/>
                <a:gd name="T29" fmla="*/ 246 h 469"/>
                <a:gd name="T30" fmla="*/ 56 w 411"/>
                <a:gd name="T31" fmla="*/ 279 h 469"/>
                <a:gd name="T32" fmla="*/ 23 w 411"/>
                <a:gd name="T33" fmla="*/ 312 h 469"/>
                <a:gd name="T34" fmla="*/ 0 w 411"/>
                <a:gd name="T35" fmla="*/ 312 h 469"/>
                <a:gd name="T36" fmla="*/ 0 w 411"/>
                <a:gd name="T37" fmla="*/ 335 h 469"/>
                <a:gd name="T38" fmla="*/ 23 w 411"/>
                <a:gd name="T39" fmla="*/ 335 h 469"/>
                <a:gd name="T40" fmla="*/ 56 w 411"/>
                <a:gd name="T41" fmla="*/ 368 h 469"/>
                <a:gd name="T42" fmla="*/ 23 w 411"/>
                <a:gd name="T43" fmla="*/ 401 h 469"/>
                <a:gd name="T44" fmla="*/ 0 w 411"/>
                <a:gd name="T45" fmla="*/ 401 h 469"/>
                <a:gd name="T46" fmla="*/ 0 w 411"/>
                <a:gd name="T47" fmla="*/ 426 h 469"/>
                <a:gd name="T48" fmla="*/ 42 w 411"/>
                <a:gd name="T49" fmla="*/ 469 h 469"/>
                <a:gd name="T50" fmla="*/ 368 w 411"/>
                <a:gd name="T51" fmla="*/ 469 h 469"/>
                <a:gd name="T52" fmla="*/ 411 w 411"/>
                <a:gd name="T53" fmla="*/ 426 h 469"/>
                <a:gd name="T54" fmla="*/ 411 w 411"/>
                <a:gd name="T55" fmla="*/ 43 h 469"/>
                <a:gd name="T56" fmla="*/ 368 w 411"/>
                <a:gd name="T57" fmla="*/ 0 h 469"/>
                <a:gd name="T58" fmla="*/ 212 w 411"/>
                <a:gd name="T59" fmla="*/ 87 h 469"/>
                <a:gd name="T60" fmla="*/ 271 w 411"/>
                <a:gd name="T61" fmla="*/ 146 h 469"/>
                <a:gd name="T62" fmla="*/ 212 w 411"/>
                <a:gd name="T63" fmla="*/ 205 h 469"/>
                <a:gd name="T64" fmla="*/ 153 w 411"/>
                <a:gd name="T65" fmla="*/ 146 h 469"/>
                <a:gd name="T66" fmla="*/ 212 w 411"/>
                <a:gd name="T67" fmla="*/ 87 h 469"/>
                <a:gd name="T68" fmla="*/ 307 w 411"/>
                <a:gd name="T69" fmla="*/ 363 h 469"/>
                <a:gd name="T70" fmla="*/ 307 w 411"/>
                <a:gd name="T71" fmla="*/ 363 h 469"/>
                <a:gd name="T72" fmla="*/ 212 w 411"/>
                <a:gd name="T73" fmla="*/ 383 h 469"/>
                <a:gd name="T74" fmla="*/ 117 w 411"/>
                <a:gd name="T75" fmla="*/ 363 h 469"/>
                <a:gd name="T76" fmla="*/ 117 w 411"/>
                <a:gd name="T77" fmla="*/ 363 h 469"/>
                <a:gd name="T78" fmla="*/ 117 w 411"/>
                <a:gd name="T79" fmla="*/ 306 h 469"/>
                <a:gd name="T80" fmla="*/ 180 w 411"/>
                <a:gd name="T81" fmla="*/ 215 h 469"/>
                <a:gd name="T82" fmla="*/ 212 w 411"/>
                <a:gd name="T83" fmla="*/ 257 h 469"/>
                <a:gd name="T84" fmla="*/ 244 w 411"/>
                <a:gd name="T85" fmla="*/ 215 h 469"/>
                <a:gd name="T86" fmla="*/ 307 w 411"/>
                <a:gd name="T87" fmla="*/ 306 h 469"/>
                <a:gd name="T88" fmla="*/ 307 w 411"/>
                <a:gd name="T89" fmla="*/ 363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11" h="469">
                  <a:moveTo>
                    <a:pt x="368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20"/>
                    <a:pt x="0" y="43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41" y="68"/>
                    <a:pt x="56" y="83"/>
                    <a:pt x="56" y="101"/>
                  </a:cubicBezTo>
                  <a:cubicBezTo>
                    <a:pt x="56" y="119"/>
                    <a:pt x="41" y="134"/>
                    <a:pt x="23" y="134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23" y="157"/>
                    <a:pt x="23" y="157"/>
                    <a:pt x="23" y="157"/>
                  </a:cubicBezTo>
                  <a:cubicBezTo>
                    <a:pt x="41" y="157"/>
                    <a:pt x="56" y="172"/>
                    <a:pt x="56" y="190"/>
                  </a:cubicBezTo>
                  <a:cubicBezTo>
                    <a:pt x="56" y="208"/>
                    <a:pt x="41" y="223"/>
                    <a:pt x="23" y="223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23" y="246"/>
                    <a:pt x="23" y="246"/>
                    <a:pt x="23" y="246"/>
                  </a:cubicBezTo>
                  <a:cubicBezTo>
                    <a:pt x="41" y="246"/>
                    <a:pt x="56" y="261"/>
                    <a:pt x="56" y="279"/>
                  </a:cubicBezTo>
                  <a:cubicBezTo>
                    <a:pt x="56" y="298"/>
                    <a:pt x="41" y="312"/>
                    <a:pt x="23" y="312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35"/>
                    <a:pt x="0" y="335"/>
                    <a:pt x="0" y="335"/>
                  </a:cubicBezTo>
                  <a:cubicBezTo>
                    <a:pt x="23" y="335"/>
                    <a:pt x="23" y="335"/>
                    <a:pt x="23" y="335"/>
                  </a:cubicBezTo>
                  <a:cubicBezTo>
                    <a:pt x="41" y="335"/>
                    <a:pt x="56" y="350"/>
                    <a:pt x="56" y="368"/>
                  </a:cubicBezTo>
                  <a:cubicBezTo>
                    <a:pt x="56" y="387"/>
                    <a:pt x="41" y="401"/>
                    <a:pt x="23" y="401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26"/>
                    <a:pt x="0" y="426"/>
                    <a:pt x="0" y="426"/>
                  </a:cubicBezTo>
                  <a:cubicBezTo>
                    <a:pt x="0" y="450"/>
                    <a:pt x="19" y="469"/>
                    <a:pt x="42" y="469"/>
                  </a:cubicBezTo>
                  <a:cubicBezTo>
                    <a:pt x="368" y="469"/>
                    <a:pt x="368" y="469"/>
                    <a:pt x="368" y="469"/>
                  </a:cubicBezTo>
                  <a:cubicBezTo>
                    <a:pt x="392" y="469"/>
                    <a:pt x="411" y="450"/>
                    <a:pt x="411" y="426"/>
                  </a:cubicBezTo>
                  <a:cubicBezTo>
                    <a:pt x="411" y="43"/>
                    <a:pt x="411" y="43"/>
                    <a:pt x="411" y="43"/>
                  </a:cubicBezTo>
                  <a:cubicBezTo>
                    <a:pt x="411" y="20"/>
                    <a:pt x="392" y="0"/>
                    <a:pt x="368" y="0"/>
                  </a:cubicBezTo>
                  <a:close/>
                  <a:moveTo>
                    <a:pt x="212" y="87"/>
                  </a:moveTo>
                  <a:cubicBezTo>
                    <a:pt x="245" y="87"/>
                    <a:pt x="271" y="113"/>
                    <a:pt x="271" y="146"/>
                  </a:cubicBezTo>
                  <a:cubicBezTo>
                    <a:pt x="271" y="179"/>
                    <a:pt x="245" y="205"/>
                    <a:pt x="212" y="205"/>
                  </a:cubicBezTo>
                  <a:cubicBezTo>
                    <a:pt x="179" y="205"/>
                    <a:pt x="153" y="179"/>
                    <a:pt x="153" y="146"/>
                  </a:cubicBezTo>
                  <a:cubicBezTo>
                    <a:pt x="153" y="113"/>
                    <a:pt x="179" y="87"/>
                    <a:pt x="212" y="87"/>
                  </a:cubicBezTo>
                  <a:close/>
                  <a:moveTo>
                    <a:pt x="307" y="363"/>
                  </a:moveTo>
                  <a:cubicBezTo>
                    <a:pt x="307" y="363"/>
                    <a:pt x="307" y="363"/>
                    <a:pt x="307" y="363"/>
                  </a:cubicBezTo>
                  <a:cubicBezTo>
                    <a:pt x="305" y="374"/>
                    <a:pt x="263" y="383"/>
                    <a:pt x="212" y="383"/>
                  </a:cubicBezTo>
                  <a:cubicBezTo>
                    <a:pt x="161" y="383"/>
                    <a:pt x="119" y="374"/>
                    <a:pt x="117" y="363"/>
                  </a:cubicBezTo>
                  <a:cubicBezTo>
                    <a:pt x="117" y="363"/>
                    <a:pt x="117" y="363"/>
                    <a:pt x="117" y="363"/>
                  </a:cubicBezTo>
                  <a:cubicBezTo>
                    <a:pt x="117" y="306"/>
                    <a:pt x="117" y="306"/>
                    <a:pt x="117" y="306"/>
                  </a:cubicBezTo>
                  <a:cubicBezTo>
                    <a:pt x="117" y="264"/>
                    <a:pt x="143" y="228"/>
                    <a:pt x="180" y="215"/>
                  </a:cubicBezTo>
                  <a:cubicBezTo>
                    <a:pt x="212" y="257"/>
                    <a:pt x="212" y="257"/>
                    <a:pt x="212" y="257"/>
                  </a:cubicBezTo>
                  <a:cubicBezTo>
                    <a:pt x="244" y="215"/>
                    <a:pt x="244" y="215"/>
                    <a:pt x="244" y="215"/>
                  </a:cubicBezTo>
                  <a:cubicBezTo>
                    <a:pt x="281" y="228"/>
                    <a:pt x="307" y="264"/>
                    <a:pt x="307" y="306"/>
                  </a:cubicBezTo>
                  <a:lnTo>
                    <a:pt x="307" y="3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9" name="图形">
              <a:extLst>
                <a:ext uri="{FF2B5EF4-FFF2-40B4-BE49-F238E27FC236}">
                  <a16:creationId xmlns:a16="http://schemas.microsoft.com/office/drawing/2014/main" id="{14D8EBFA-83F3-C561-E845-B7B52D7D227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auto">
            <a:xfrm>
              <a:off x="9056688" y="892176"/>
              <a:ext cx="90488" cy="169863"/>
            </a:xfrm>
            <a:custGeom>
              <a:avLst/>
              <a:gdLst>
                <a:gd name="T0" fmla="*/ 23 w 32"/>
                <a:gd name="T1" fmla="*/ 0 h 59"/>
                <a:gd name="T2" fmla="*/ 9 w 32"/>
                <a:gd name="T3" fmla="*/ 0 h 59"/>
                <a:gd name="T4" fmla="*/ 0 w 32"/>
                <a:gd name="T5" fmla="*/ 8 h 59"/>
                <a:gd name="T6" fmla="*/ 0 w 32"/>
                <a:gd name="T7" fmla="*/ 59 h 59"/>
                <a:gd name="T8" fmla="*/ 9 w 32"/>
                <a:gd name="T9" fmla="*/ 51 h 59"/>
                <a:gd name="T10" fmla="*/ 23 w 32"/>
                <a:gd name="T11" fmla="*/ 51 h 59"/>
                <a:gd name="T12" fmla="*/ 32 w 32"/>
                <a:gd name="T13" fmla="*/ 59 h 59"/>
                <a:gd name="T14" fmla="*/ 32 w 32"/>
                <a:gd name="T15" fmla="*/ 8 h 59"/>
                <a:gd name="T16" fmla="*/ 23 w 32"/>
                <a:gd name="T1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59">
                  <a:moveTo>
                    <a:pt x="23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4" y="51"/>
                    <a:pt x="9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8" y="51"/>
                    <a:pt x="32" y="55"/>
                    <a:pt x="32" y="5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0" name="图形">
              <a:extLst>
                <a:ext uri="{FF2B5EF4-FFF2-40B4-BE49-F238E27FC236}">
                  <a16:creationId xmlns:a16="http://schemas.microsoft.com/office/drawing/2014/main" id="{53D8AF08-DCCF-2E4D-D68A-F132F237DB5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auto">
            <a:xfrm>
              <a:off x="9056688" y="1076326"/>
              <a:ext cx="90488" cy="171450"/>
            </a:xfrm>
            <a:custGeom>
              <a:avLst/>
              <a:gdLst>
                <a:gd name="T0" fmla="*/ 23 w 32"/>
                <a:gd name="T1" fmla="*/ 0 h 60"/>
                <a:gd name="T2" fmla="*/ 9 w 32"/>
                <a:gd name="T3" fmla="*/ 0 h 60"/>
                <a:gd name="T4" fmla="*/ 0 w 32"/>
                <a:gd name="T5" fmla="*/ 9 h 60"/>
                <a:gd name="T6" fmla="*/ 0 w 32"/>
                <a:gd name="T7" fmla="*/ 60 h 60"/>
                <a:gd name="T8" fmla="*/ 9 w 32"/>
                <a:gd name="T9" fmla="*/ 51 h 60"/>
                <a:gd name="T10" fmla="*/ 23 w 32"/>
                <a:gd name="T11" fmla="*/ 51 h 60"/>
                <a:gd name="T12" fmla="*/ 32 w 32"/>
                <a:gd name="T13" fmla="*/ 60 h 60"/>
                <a:gd name="T14" fmla="*/ 32 w 32"/>
                <a:gd name="T15" fmla="*/ 9 h 60"/>
                <a:gd name="T16" fmla="*/ 23 w 32"/>
                <a:gd name="T1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60">
                  <a:moveTo>
                    <a:pt x="23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5"/>
                    <a:pt x="4" y="51"/>
                    <a:pt x="9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8" y="51"/>
                    <a:pt x="32" y="55"/>
                    <a:pt x="32" y="6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8" y="0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1" name="图形">
              <a:extLst>
                <a:ext uri="{FF2B5EF4-FFF2-40B4-BE49-F238E27FC236}">
                  <a16:creationId xmlns:a16="http://schemas.microsoft.com/office/drawing/2014/main" id="{F9826B16-8243-ED37-021E-198FEFFCEE2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9056688" y="1252538"/>
              <a:ext cx="90488" cy="209550"/>
            </a:xfrm>
            <a:custGeom>
              <a:avLst/>
              <a:gdLst>
                <a:gd name="T0" fmla="*/ 32 w 32"/>
                <a:gd name="T1" fmla="*/ 64 h 73"/>
                <a:gd name="T2" fmla="*/ 23 w 32"/>
                <a:gd name="T3" fmla="*/ 73 h 73"/>
                <a:gd name="T4" fmla="*/ 9 w 32"/>
                <a:gd name="T5" fmla="*/ 73 h 73"/>
                <a:gd name="T6" fmla="*/ 0 w 32"/>
                <a:gd name="T7" fmla="*/ 64 h 73"/>
                <a:gd name="T8" fmla="*/ 0 w 32"/>
                <a:gd name="T9" fmla="*/ 9 h 73"/>
                <a:gd name="T10" fmla="*/ 9 w 32"/>
                <a:gd name="T11" fmla="*/ 0 h 73"/>
                <a:gd name="T12" fmla="*/ 23 w 32"/>
                <a:gd name="T13" fmla="*/ 0 h 73"/>
                <a:gd name="T14" fmla="*/ 32 w 32"/>
                <a:gd name="T15" fmla="*/ 9 h 73"/>
                <a:gd name="T16" fmla="*/ 32 w 32"/>
                <a:gd name="T17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73">
                  <a:moveTo>
                    <a:pt x="32" y="64"/>
                  </a:moveTo>
                  <a:cubicBezTo>
                    <a:pt x="32" y="69"/>
                    <a:pt x="28" y="73"/>
                    <a:pt x="23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8" y="0"/>
                    <a:pt x="32" y="4"/>
                    <a:pt x="32" y="9"/>
                  </a:cubicBezTo>
                  <a:lnTo>
                    <a:pt x="32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3" name="图形">
            <a:extLst>
              <a:ext uri="{FF2B5EF4-FFF2-40B4-BE49-F238E27FC236}">
                <a16:creationId xmlns:a16="http://schemas.microsoft.com/office/drawing/2014/main" id="{DCD4929B-F706-232F-3FF9-0EF26436F5D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868728" y="4508316"/>
            <a:ext cx="636905" cy="636905"/>
          </a:xfrm>
          <a:prstGeom prst="ellipse">
            <a:avLst/>
          </a:prstGeom>
          <a:solidFill>
            <a:srgbClr val="B19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BB5873E-4D75-2CAA-23EC-506410069D1E}"/>
              </a:ext>
            </a:extLst>
          </p:cNvPr>
          <p:cNvGrpSpPr/>
          <p:nvPr/>
        </p:nvGrpSpPr>
        <p:grpSpPr>
          <a:xfrm>
            <a:off x="9769668" y="4674051"/>
            <a:ext cx="610235" cy="306070"/>
            <a:chOff x="7799388" y="2030413"/>
            <a:chExt cx="1285337" cy="644525"/>
          </a:xfrm>
          <a:solidFill>
            <a:schemeClr val="bg1"/>
          </a:solidFill>
          <a:effectLst/>
        </p:grpSpPr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934EFCFC-3FEA-42B6-6F0D-854893AC63B1}"/>
                </a:ext>
              </a:extLst>
            </p:cNvPr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8289387" y="2030413"/>
              <a:ext cx="795338" cy="644525"/>
            </a:xfrm>
            <a:custGeom>
              <a:avLst/>
              <a:gdLst>
                <a:gd name="T0" fmla="*/ 254 w 272"/>
                <a:gd name="T1" fmla="*/ 53 h 220"/>
                <a:gd name="T2" fmla="*/ 196 w 272"/>
                <a:gd name="T3" fmla="*/ 53 h 220"/>
                <a:gd name="T4" fmla="*/ 196 w 272"/>
                <a:gd name="T5" fmla="*/ 23 h 220"/>
                <a:gd name="T6" fmla="*/ 173 w 272"/>
                <a:gd name="T7" fmla="*/ 0 h 220"/>
                <a:gd name="T8" fmla="*/ 23 w 272"/>
                <a:gd name="T9" fmla="*/ 0 h 220"/>
                <a:gd name="T10" fmla="*/ 0 w 272"/>
                <a:gd name="T11" fmla="*/ 23 h 220"/>
                <a:gd name="T12" fmla="*/ 0 w 272"/>
                <a:gd name="T13" fmla="*/ 141 h 220"/>
                <a:gd name="T14" fmla="*/ 23 w 272"/>
                <a:gd name="T15" fmla="*/ 164 h 220"/>
                <a:gd name="T16" fmla="*/ 42 w 272"/>
                <a:gd name="T17" fmla="*/ 164 h 220"/>
                <a:gd name="T18" fmla="*/ 42 w 272"/>
                <a:gd name="T19" fmla="*/ 202 h 220"/>
                <a:gd name="T20" fmla="*/ 51 w 272"/>
                <a:gd name="T21" fmla="*/ 211 h 220"/>
                <a:gd name="T22" fmla="*/ 57 w 272"/>
                <a:gd name="T23" fmla="*/ 208 h 220"/>
                <a:gd name="T24" fmla="*/ 57 w 272"/>
                <a:gd name="T25" fmla="*/ 208 h 220"/>
                <a:gd name="T26" fmla="*/ 101 w 272"/>
                <a:gd name="T27" fmla="*/ 164 h 220"/>
                <a:gd name="T28" fmla="*/ 117 w 272"/>
                <a:gd name="T29" fmla="*/ 164 h 220"/>
                <a:gd name="T30" fmla="*/ 117 w 272"/>
                <a:gd name="T31" fmla="*/ 165 h 220"/>
                <a:gd name="T32" fmla="*/ 135 w 272"/>
                <a:gd name="T33" fmla="*/ 183 h 220"/>
                <a:gd name="T34" fmla="*/ 192 w 272"/>
                <a:gd name="T35" fmla="*/ 183 h 220"/>
                <a:gd name="T36" fmla="*/ 227 w 272"/>
                <a:gd name="T37" fmla="*/ 218 h 220"/>
                <a:gd name="T38" fmla="*/ 227 w 272"/>
                <a:gd name="T39" fmla="*/ 218 h 220"/>
                <a:gd name="T40" fmla="*/ 231 w 272"/>
                <a:gd name="T41" fmla="*/ 220 h 220"/>
                <a:gd name="T42" fmla="*/ 238 w 272"/>
                <a:gd name="T43" fmla="*/ 213 h 220"/>
                <a:gd name="T44" fmla="*/ 238 w 272"/>
                <a:gd name="T45" fmla="*/ 183 h 220"/>
                <a:gd name="T46" fmla="*/ 254 w 272"/>
                <a:gd name="T47" fmla="*/ 183 h 220"/>
                <a:gd name="T48" fmla="*/ 272 w 272"/>
                <a:gd name="T49" fmla="*/ 165 h 220"/>
                <a:gd name="T50" fmla="*/ 272 w 272"/>
                <a:gd name="T51" fmla="*/ 71 h 220"/>
                <a:gd name="T52" fmla="*/ 254 w 272"/>
                <a:gd name="T53" fmla="*/ 53 h 220"/>
                <a:gd name="T54" fmla="*/ 172 w 272"/>
                <a:gd name="T55" fmla="*/ 148 h 220"/>
                <a:gd name="T56" fmla="*/ 98 w 272"/>
                <a:gd name="T57" fmla="*/ 148 h 220"/>
                <a:gd name="T58" fmla="*/ 92 w 272"/>
                <a:gd name="T59" fmla="*/ 150 h 220"/>
                <a:gd name="T60" fmla="*/ 92 w 272"/>
                <a:gd name="T61" fmla="*/ 150 h 220"/>
                <a:gd name="T62" fmla="*/ 58 w 272"/>
                <a:gd name="T63" fmla="*/ 184 h 220"/>
                <a:gd name="T64" fmla="*/ 58 w 272"/>
                <a:gd name="T65" fmla="*/ 156 h 220"/>
                <a:gd name="T66" fmla="*/ 50 w 272"/>
                <a:gd name="T67" fmla="*/ 148 h 220"/>
                <a:gd name="T68" fmla="*/ 24 w 272"/>
                <a:gd name="T69" fmla="*/ 148 h 220"/>
                <a:gd name="T70" fmla="*/ 16 w 272"/>
                <a:gd name="T71" fmla="*/ 140 h 220"/>
                <a:gd name="T72" fmla="*/ 16 w 272"/>
                <a:gd name="T73" fmla="*/ 24 h 220"/>
                <a:gd name="T74" fmla="*/ 24 w 272"/>
                <a:gd name="T75" fmla="*/ 17 h 220"/>
                <a:gd name="T76" fmla="*/ 172 w 272"/>
                <a:gd name="T77" fmla="*/ 17 h 220"/>
                <a:gd name="T78" fmla="*/ 180 w 272"/>
                <a:gd name="T79" fmla="*/ 24 h 220"/>
                <a:gd name="T80" fmla="*/ 180 w 272"/>
                <a:gd name="T81" fmla="*/ 140 h 220"/>
                <a:gd name="T82" fmla="*/ 180 w 272"/>
                <a:gd name="T83" fmla="*/ 140 h 220"/>
                <a:gd name="T84" fmla="*/ 172 w 272"/>
                <a:gd name="T85" fmla="*/ 14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2" h="220">
                  <a:moveTo>
                    <a:pt x="254" y="53"/>
                  </a:moveTo>
                  <a:cubicBezTo>
                    <a:pt x="196" y="53"/>
                    <a:pt x="196" y="53"/>
                    <a:pt x="196" y="53"/>
                  </a:cubicBezTo>
                  <a:cubicBezTo>
                    <a:pt x="196" y="23"/>
                    <a:pt x="196" y="23"/>
                    <a:pt x="196" y="23"/>
                  </a:cubicBezTo>
                  <a:cubicBezTo>
                    <a:pt x="196" y="11"/>
                    <a:pt x="186" y="0"/>
                    <a:pt x="17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54"/>
                    <a:pt x="10" y="164"/>
                    <a:pt x="23" y="164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42" y="202"/>
                    <a:pt x="42" y="202"/>
                    <a:pt x="42" y="202"/>
                  </a:cubicBezTo>
                  <a:cubicBezTo>
                    <a:pt x="42" y="207"/>
                    <a:pt x="46" y="211"/>
                    <a:pt x="51" y="211"/>
                  </a:cubicBezTo>
                  <a:cubicBezTo>
                    <a:pt x="53" y="211"/>
                    <a:pt x="55" y="210"/>
                    <a:pt x="57" y="208"/>
                  </a:cubicBezTo>
                  <a:cubicBezTo>
                    <a:pt x="57" y="208"/>
                    <a:pt x="57" y="208"/>
                    <a:pt x="57" y="208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17" y="165"/>
                    <a:pt x="117" y="165"/>
                    <a:pt x="117" y="165"/>
                  </a:cubicBezTo>
                  <a:cubicBezTo>
                    <a:pt x="117" y="175"/>
                    <a:pt x="125" y="183"/>
                    <a:pt x="135" y="183"/>
                  </a:cubicBezTo>
                  <a:cubicBezTo>
                    <a:pt x="192" y="183"/>
                    <a:pt x="192" y="183"/>
                    <a:pt x="192" y="183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8" y="219"/>
                    <a:pt x="230" y="220"/>
                    <a:pt x="231" y="220"/>
                  </a:cubicBezTo>
                  <a:cubicBezTo>
                    <a:pt x="235" y="220"/>
                    <a:pt x="238" y="217"/>
                    <a:pt x="238" y="213"/>
                  </a:cubicBezTo>
                  <a:cubicBezTo>
                    <a:pt x="238" y="183"/>
                    <a:pt x="238" y="183"/>
                    <a:pt x="238" y="183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64" y="183"/>
                    <a:pt x="272" y="175"/>
                    <a:pt x="272" y="165"/>
                  </a:cubicBezTo>
                  <a:cubicBezTo>
                    <a:pt x="272" y="71"/>
                    <a:pt x="272" y="71"/>
                    <a:pt x="272" y="71"/>
                  </a:cubicBezTo>
                  <a:cubicBezTo>
                    <a:pt x="272" y="61"/>
                    <a:pt x="264" y="53"/>
                    <a:pt x="254" y="53"/>
                  </a:cubicBezTo>
                  <a:close/>
                  <a:moveTo>
                    <a:pt x="172" y="148"/>
                  </a:moveTo>
                  <a:cubicBezTo>
                    <a:pt x="98" y="148"/>
                    <a:pt x="98" y="148"/>
                    <a:pt x="98" y="148"/>
                  </a:cubicBezTo>
                  <a:cubicBezTo>
                    <a:pt x="96" y="148"/>
                    <a:pt x="94" y="149"/>
                    <a:pt x="92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58" y="184"/>
                    <a:pt x="58" y="184"/>
                    <a:pt x="58" y="184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1"/>
                    <a:pt x="55" y="148"/>
                    <a:pt x="50" y="148"/>
                  </a:cubicBezTo>
                  <a:cubicBezTo>
                    <a:pt x="24" y="148"/>
                    <a:pt x="24" y="148"/>
                    <a:pt x="24" y="148"/>
                  </a:cubicBezTo>
                  <a:cubicBezTo>
                    <a:pt x="19" y="148"/>
                    <a:pt x="16" y="144"/>
                    <a:pt x="16" y="140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0"/>
                    <a:pt x="19" y="17"/>
                    <a:pt x="24" y="17"/>
                  </a:cubicBezTo>
                  <a:cubicBezTo>
                    <a:pt x="172" y="17"/>
                    <a:pt x="172" y="17"/>
                    <a:pt x="172" y="17"/>
                  </a:cubicBezTo>
                  <a:cubicBezTo>
                    <a:pt x="176" y="17"/>
                    <a:pt x="180" y="20"/>
                    <a:pt x="180" y="24"/>
                  </a:cubicBezTo>
                  <a:cubicBezTo>
                    <a:pt x="180" y="140"/>
                    <a:pt x="180" y="140"/>
                    <a:pt x="180" y="140"/>
                  </a:cubicBezTo>
                  <a:cubicBezTo>
                    <a:pt x="180" y="140"/>
                    <a:pt x="180" y="140"/>
                    <a:pt x="180" y="140"/>
                  </a:cubicBezTo>
                  <a:cubicBezTo>
                    <a:pt x="180" y="144"/>
                    <a:pt x="176" y="148"/>
                    <a:pt x="172" y="1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" name="图形">
              <a:extLst>
                <a:ext uri="{FF2B5EF4-FFF2-40B4-BE49-F238E27FC236}">
                  <a16:creationId xmlns:a16="http://schemas.microsoft.com/office/drawing/2014/main" id="{CCAF263D-49F1-0C56-7F8A-8290266B8E48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799388" y="2138363"/>
              <a:ext cx="357188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7" name="图形">
              <a:extLst>
                <a:ext uri="{FF2B5EF4-FFF2-40B4-BE49-F238E27FC236}">
                  <a16:creationId xmlns:a16="http://schemas.microsoft.com/office/drawing/2014/main" id="{5DF9700F-8DDE-9429-68E7-C0CC976F2E19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799388" y="2247901"/>
              <a:ext cx="357188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8" name="图形">
              <a:extLst>
                <a:ext uri="{FF2B5EF4-FFF2-40B4-BE49-F238E27FC236}">
                  <a16:creationId xmlns:a16="http://schemas.microsoft.com/office/drawing/2014/main" id="{96FE9A13-7B56-AB04-39D5-4A5700C44CC1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799388" y="2355851"/>
              <a:ext cx="357188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6" name="图形">
            <a:extLst>
              <a:ext uri="{FF2B5EF4-FFF2-40B4-BE49-F238E27FC236}">
                <a16:creationId xmlns:a16="http://schemas.microsoft.com/office/drawing/2014/main" id="{2A0C761C-0754-E4E5-B5BD-60A91C430ED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562918" y="1416966"/>
            <a:ext cx="4916805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The Critical Risk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" name="图形">
            <a:extLst>
              <a:ext uri="{FF2B5EF4-FFF2-40B4-BE49-F238E27FC236}">
                <a16:creationId xmlns:a16="http://schemas.microsoft.com/office/drawing/2014/main" id="{31F32E42-A9A8-34A0-AAC7-1E5C0741159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562918" y="1886231"/>
            <a:ext cx="4830445" cy="102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Accidentally assigning volunteers without mandatory, active certifications (e.g., Background Checks for youth programs) exposes Northbridge to severe safety and compliance liabilities.</a:t>
            </a:r>
          </a:p>
        </p:txBody>
      </p:sp>
      <p:sp>
        <p:nvSpPr>
          <p:cNvPr id="36" name="图形">
            <a:extLst>
              <a:ext uri="{FF2B5EF4-FFF2-40B4-BE49-F238E27FC236}">
                <a16:creationId xmlns:a16="http://schemas.microsoft.com/office/drawing/2014/main" id="{0D78DB1C-1BBB-B15C-BAC7-F4A22D35D7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64213" y="5197926"/>
            <a:ext cx="153797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Primary Users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7" name="图形">
            <a:extLst>
              <a:ext uri="{FF2B5EF4-FFF2-40B4-BE49-F238E27FC236}">
                <a16:creationId xmlns:a16="http://schemas.microsoft.com/office/drawing/2014/main" id="{DC562982-101F-5B0A-EF0D-2284DB95BF1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585778" y="5516061"/>
            <a:ext cx="1931670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Program Managers &amp; Volunteer Coordinators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(for day-to-day staffing).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8" name="图形">
            <a:extLst>
              <a:ext uri="{FF2B5EF4-FFF2-40B4-BE49-F238E27FC236}">
                <a16:creationId xmlns:a16="http://schemas.microsoft.com/office/drawing/2014/main" id="{AC940189-8556-6AEE-6C82-BF3CE82393B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9066723" y="5197291"/>
            <a:ext cx="2240915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Secondary Users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9" name="图形">
            <a:extLst>
              <a:ext uri="{FF2B5EF4-FFF2-40B4-BE49-F238E27FC236}">
                <a16:creationId xmlns:a16="http://schemas.microsoft.com/office/drawing/2014/main" id="{584F16F0-5DAF-5994-714C-D7234ADB1ED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221028" y="5516061"/>
            <a:ext cx="1931670" cy="612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Operations Leadership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(for capacity gap insights)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22" name="图形">
            <a:extLst>
              <a:ext uri="{FF2B5EF4-FFF2-40B4-BE49-F238E27FC236}">
                <a16:creationId xmlns:a16="http://schemas.microsoft.com/office/drawing/2014/main" id="{70CB31DD-F002-2684-C1E2-22C8532306E4}"/>
              </a:ext>
            </a:extLst>
          </p:cNvPr>
          <p:cNvGrpSpPr/>
          <p:nvPr/>
        </p:nvGrpSpPr>
        <p:grpSpPr>
          <a:xfrm>
            <a:off x="1670685" y="286385"/>
            <a:ext cx="8862062" cy="584835"/>
            <a:chOff x="2541" y="451"/>
            <a:chExt cx="13956" cy="921"/>
          </a:xfrm>
        </p:grpSpPr>
        <p:sp>
          <p:nvSpPr>
            <p:cNvPr id="16" name="图形">
              <a:extLst>
                <a:ext uri="{FF2B5EF4-FFF2-40B4-BE49-F238E27FC236}">
                  <a16:creationId xmlns:a16="http://schemas.microsoft.com/office/drawing/2014/main" id="{6329D897-A326-B2AB-F1E0-93FFCBB02E5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3286" y="451"/>
              <a:ext cx="12466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3200" b="1" dirty="0">
                  <a:solidFill>
                    <a:srgbClr val="343B53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Department Needs and Application Vision</a:t>
              </a:r>
              <a:endParaRPr lang="zh-CN" altLang="en-US" sz="3200" b="1" dirty="0">
                <a:solidFill>
                  <a:srgbClr val="343B53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1E61112-2E7D-2235-9BFC-0E227A0DA1DF}"/>
                </a:ext>
              </a:extLst>
            </p:cNvPr>
            <p:cNvSpPr/>
            <p:nvPr/>
          </p:nvSpPr>
          <p:spPr>
            <a:xfrm>
              <a:off x="16107" y="71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3EF9AABB-746B-114F-317F-7014E138A3B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541" y="720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" name="图形">
            <a:extLst>
              <a:ext uri="{FF2B5EF4-FFF2-40B4-BE49-F238E27FC236}">
                <a16:creationId xmlns:a16="http://schemas.microsoft.com/office/drawing/2014/main" id="{09F1DE1D-0752-D841-AC99-7798960A38E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150451" y="1416986"/>
            <a:ext cx="474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The Operational Bottleneck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483F4881-54BC-FCBE-3718-E0C38474B58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158472" y="1941625"/>
            <a:ext cx="4287655" cy="1023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Staff currently navigate a patchwork of spreadsheets to manually match volunteers. This slow process delays urgent community services and is prone to human error.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4FF68169-6BEF-231A-7830-878A4AE3C20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158472" y="3716865"/>
            <a:ext cx="2435225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The Vision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" name="图形">
            <a:extLst>
              <a:ext uri="{FF2B5EF4-FFF2-40B4-BE49-F238E27FC236}">
                <a16:creationId xmlns:a16="http://schemas.microsoft.com/office/drawing/2014/main" id="{98F7AEFC-AE4A-9592-3440-6BA48F198C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153473" y="4201530"/>
            <a:ext cx="4090800" cy="1346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Build an AI assistant that turns a manager’s natural language request into fast, 100% policy-compliant staffing decisions and ready-to-send communications in seconds.</a:t>
            </a:r>
          </a:p>
        </p:txBody>
      </p:sp>
      <p:sp>
        <p:nvSpPr>
          <p:cNvPr id="30" name="图形">
            <a:extLst>
              <a:ext uri="{FF2B5EF4-FFF2-40B4-BE49-F238E27FC236}">
                <a16:creationId xmlns:a16="http://schemas.microsoft.com/office/drawing/2014/main" id="{89FBDBFB-708B-4204-77CD-EC71B8FCFC0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586095" y="3716865"/>
            <a:ext cx="2435225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Target Users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627392"/>
      </p:ext>
    </p:extLst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B3223-1DAB-3A92-4695-62835B43D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670AC3AF-8364-A3E0-A35F-51AAA196AEFE}"/>
              </a:ext>
            </a:extLst>
          </p:cNvPr>
          <p:cNvGrpSpPr/>
          <p:nvPr/>
        </p:nvGrpSpPr>
        <p:grpSpPr>
          <a:xfrm>
            <a:off x="4058285" y="261620"/>
            <a:ext cx="4062731" cy="584835"/>
            <a:chOff x="6301" y="412"/>
            <a:chExt cx="6398" cy="921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6328A5DA-5ADD-1B92-9C01-A081411F0039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6752" y="412"/>
              <a:ext cx="551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pPr algn="ctr"/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Value Proposition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BADEC79E-221C-7DF8-9C8A-2FB122DC7AA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309" y="67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3A10FC29-7B40-0C6A-BA7B-1A8727307D3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301" y="67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grpSp>
        <p:nvGrpSpPr>
          <p:cNvPr id="8" name="图形">
            <a:extLst>
              <a:ext uri="{FF2B5EF4-FFF2-40B4-BE49-F238E27FC236}">
                <a16:creationId xmlns:a16="http://schemas.microsoft.com/office/drawing/2014/main" id="{21E4DBB9-6A29-7154-2F36-D45A63735848}"/>
              </a:ext>
            </a:extLst>
          </p:cNvPr>
          <p:cNvGrpSpPr/>
          <p:nvPr/>
        </p:nvGrpSpPr>
        <p:grpSpPr>
          <a:xfrm>
            <a:off x="304801" y="1306196"/>
            <a:ext cx="12528550" cy="5056505"/>
            <a:chOff x="426" y="2057"/>
            <a:chExt cx="19730" cy="7963"/>
          </a:xfrm>
        </p:grpSpPr>
        <p:cxnSp>
          <p:nvCxnSpPr>
            <p:cNvPr id="30" name="图形">
              <a:extLst>
                <a:ext uri="{FF2B5EF4-FFF2-40B4-BE49-F238E27FC236}">
                  <a16:creationId xmlns:a16="http://schemas.microsoft.com/office/drawing/2014/main" id="{2CFCBEA9-D338-FA4A-9C86-277893A01F06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>
              <a:off x="8445" y="3725"/>
              <a:ext cx="0" cy="4691"/>
            </a:xfrm>
            <a:prstGeom prst="line">
              <a:avLst/>
            </a:prstGeom>
            <a:gradFill flip="none" rotWithShape="1">
              <a:gsLst>
                <a:gs pos="55000">
                  <a:srgbClr val="F6DABC"/>
                </a:gs>
                <a:gs pos="0">
                  <a:srgbClr val="B3823D"/>
                </a:gs>
                <a:gs pos="100000">
                  <a:srgbClr val="B3823D"/>
                </a:gs>
              </a:gsLst>
              <a:lin ang="7680000" scaled="0"/>
            </a:gradFill>
            <a:ln w="12700">
              <a:solidFill>
                <a:srgbClr val="343B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图形">
              <a:extLst>
                <a:ext uri="{FF2B5EF4-FFF2-40B4-BE49-F238E27FC236}">
                  <a16:creationId xmlns:a16="http://schemas.microsoft.com/office/drawing/2014/main" id="{68CF1C75-519B-7E68-B702-973B5C1818D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2700000">
              <a:off x="7985" y="2614"/>
              <a:ext cx="920" cy="920"/>
            </a:xfrm>
            <a:prstGeom prst="rect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54" name="图形">
              <a:extLst>
                <a:ext uri="{FF2B5EF4-FFF2-40B4-BE49-F238E27FC236}">
                  <a16:creationId xmlns:a16="http://schemas.microsoft.com/office/drawing/2014/main" id="{A50314A6-0449-D920-05C9-CA578F38A1B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2700000">
              <a:off x="7985" y="8295"/>
              <a:ext cx="920" cy="920"/>
            </a:xfrm>
            <a:prstGeom prst="rect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59" name="图形">
              <a:extLst>
                <a:ext uri="{FF2B5EF4-FFF2-40B4-BE49-F238E27FC236}">
                  <a16:creationId xmlns:a16="http://schemas.microsoft.com/office/drawing/2014/main" id="{05BF9AC0-DE5D-59D6-B415-6F81723676C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2700000">
              <a:off x="7985" y="5454"/>
              <a:ext cx="920" cy="920"/>
            </a:xfrm>
            <a:prstGeom prst="rect">
              <a:avLst/>
            </a:prstGeom>
            <a:solidFill>
              <a:srgbClr val="34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33" name="图形">
              <a:extLst>
                <a:ext uri="{FF2B5EF4-FFF2-40B4-BE49-F238E27FC236}">
                  <a16:creationId xmlns:a16="http://schemas.microsoft.com/office/drawing/2014/main" id="{22F503C8-70A0-FCCF-BC25-4DE55667F838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8445" y="4493"/>
              <a:ext cx="1560" cy="0"/>
            </a:xfrm>
            <a:prstGeom prst="line">
              <a:avLst/>
            </a:prstGeom>
            <a:ln w="12700">
              <a:solidFill>
                <a:srgbClr val="343B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图形">
              <a:extLst>
                <a:ext uri="{FF2B5EF4-FFF2-40B4-BE49-F238E27FC236}">
                  <a16:creationId xmlns:a16="http://schemas.microsoft.com/office/drawing/2014/main" id="{9D422891-16FA-09A9-7F56-3A775F5EAA6F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8445" y="7334"/>
              <a:ext cx="1560" cy="0"/>
            </a:xfrm>
            <a:prstGeom prst="line">
              <a:avLst/>
            </a:prstGeom>
            <a:ln w="12700">
              <a:solidFill>
                <a:srgbClr val="343B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图形">
              <a:extLst>
                <a:ext uri="{FF2B5EF4-FFF2-40B4-BE49-F238E27FC236}">
                  <a16:creationId xmlns:a16="http://schemas.microsoft.com/office/drawing/2014/main" id="{6A9BF441-6CF3-E4B9-F9A0-A99EA0FBAAF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2700000">
              <a:off x="10151" y="6874"/>
              <a:ext cx="920" cy="920"/>
            </a:xfrm>
            <a:prstGeom prst="rect">
              <a:avLst/>
            </a:prstGeom>
            <a:solidFill>
              <a:srgbClr val="34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35" name="图形">
              <a:extLst>
                <a:ext uri="{FF2B5EF4-FFF2-40B4-BE49-F238E27FC236}">
                  <a16:creationId xmlns:a16="http://schemas.microsoft.com/office/drawing/2014/main" id="{BA2B91FC-2C66-6ADB-536C-DC50B228B9B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2700000">
              <a:off x="10151" y="4034"/>
              <a:ext cx="920" cy="920"/>
            </a:xfrm>
            <a:prstGeom prst="rect">
              <a:avLst/>
            </a:prstGeom>
            <a:solidFill>
              <a:srgbClr val="34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41" name="图形">
              <a:extLst>
                <a:ext uri="{FF2B5EF4-FFF2-40B4-BE49-F238E27FC236}">
                  <a16:creationId xmlns:a16="http://schemas.microsoft.com/office/drawing/2014/main" id="{23C329D5-15E0-4494-8C42-A0E6316C658C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>
              <a:off x="10383" y="4338"/>
              <a:ext cx="454" cy="399"/>
            </a:xfrm>
            <a:custGeom>
              <a:avLst/>
              <a:gdLst>
                <a:gd name="connsiteX0" fmla="*/ 351345 w 606227"/>
                <a:gd name="connsiteY0" fmla="*/ 426074 h 533192"/>
                <a:gd name="connsiteX1" fmla="*/ 407490 w 606227"/>
                <a:gd name="connsiteY1" fmla="*/ 426074 h 533192"/>
                <a:gd name="connsiteX2" fmla="*/ 446467 w 606227"/>
                <a:gd name="connsiteY2" fmla="*/ 533192 h 533192"/>
                <a:gd name="connsiteX3" fmla="*/ 390229 w 606227"/>
                <a:gd name="connsiteY3" fmla="*/ 533192 h 533192"/>
                <a:gd name="connsiteX4" fmla="*/ 198757 w 606227"/>
                <a:gd name="connsiteY4" fmla="*/ 426074 h 533192"/>
                <a:gd name="connsiteX5" fmla="*/ 255023 w 606227"/>
                <a:gd name="connsiteY5" fmla="*/ 426074 h 533192"/>
                <a:gd name="connsiteX6" fmla="*/ 216119 w 606227"/>
                <a:gd name="connsiteY6" fmla="*/ 533192 h 533192"/>
                <a:gd name="connsiteX7" fmla="*/ 159760 w 606227"/>
                <a:gd name="connsiteY7" fmla="*/ 533192 h 533192"/>
                <a:gd name="connsiteX8" fmla="*/ 304170 w 606227"/>
                <a:gd name="connsiteY8" fmla="*/ 146113 h 533192"/>
                <a:gd name="connsiteX9" fmla="*/ 292193 w 606227"/>
                <a:gd name="connsiteY9" fmla="*/ 158070 h 533192"/>
                <a:gd name="connsiteX10" fmla="*/ 292193 w 606227"/>
                <a:gd name="connsiteY10" fmla="*/ 298304 h 533192"/>
                <a:gd name="connsiteX11" fmla="*/ 248833 w 606227"/>
                <a:gd name="connsiteY11" fmla="*/ 298304 h 533192"/>
                <a:gd name="connsiteX12" fmla="*/ 248833 w 606227"/>
                <a:gd name="connsiteY12" fmla="*/ 220448 h 533192"/>
                <a:gd name="connsiteX13" fmla="*/ 236856 w 606227"/>
                <a:gd name="connsiteY13" fmla="*/ 208491 h 533192"/>
                <a:gd name="connsiteX14" fmla="*/ 224786 w 606227"/>
                <a:gd name="connsiteY14" fmla="*/ 220448 h 533192"/>
                <a:gd name="connsiteX15" fmla="*/ 224786 w 606227"/>
                <a:gd name="connsiteY15" fmla="*/ 297841 h 533192"/>
                <a:gd name="connsiteX16" fmla="*/ 190153 w 606227"/>
                <a:gd name="connsiteY16" fmla="*/ 297841 h 533192"/>
                <a:gd name="connsiteX17" fmla="*/ 178176 w 606227"/>
                <a:gd name="connsiteY17" fmla="*/ 309797 h 533192"/>
                <a:gd name="connsiteX18" fmla="*/ 190153 w 606227"/>
                <a:gd name="connsiteY18" fmla="*/ 321846 h 533192"/>
                <a:gd name="connsiteX19" fmla="*/ 418187 w 606227"/>
                <a:gd name="connsiteY19" fmla="*/ 321846 h 533192"/>
                <a:gd name="connsiteX20" fmla="*/ 430165 w 606227"/>
                <a:gd name="connsiteY20" fmla="*/ 309797 h 533192"/>
                <a:gd name="connsiteX21" fmla="*/ 418187 w 606227"/>
                <a:gd name="connsiteY21" fmla="*/ 297841 h 533192"/>
                <a:gd name="connsiteX22" fmla="*/ 383555 w 606227"/>
                <a:gd name="connsiteY22" fmla="*/ 297841 h 533192"/>
                <a:gd name="connsiteX23" fmla="*/ 383555 w 606227"/>
                <a:gd name="connsiteY23" fmla="*/ 186339 h 533192"/>
                <a:gd name="connsiteX24" fmla="*/ 371485 w 606227"/>
                <a:gd name="connsiteY24" fmla="*/ 174382 h 533192"/>
                <a:gd name="connsiteX25" fmla="*/ 359508 w 606227"/>
                <a:gd name="connsiteY25" fmla="*/ 186339 h 533192"/>
                <a:gd name="connsiteX26" fmla="*/ 359508 w 606227"/>
                <a:gd name="connsiteY26" fmla="*/ 297841 h 533192"/>
                <a:gd name="connsiteX27" fmla="*/ 316148 w 606227"/>
                <a:gd name="connsiteY27" fmla="*/ 297841 h 533192"/>
                <a:gd name="connsiteX28" fmla="*/ 316148 w 606227"/>
                <a:gd name="connsiteY28" fmla="*/ 158070 h 533192"/>
                <a:gd name="connsiteX29" fmla="*/ 304170 w 606227"/>
                <a:gd name="connsiteY29" fmla="*/ 146113 h 533192"/>
                <a:gd name="connsiteX30" fmla="*/ 47632 w 606227"/>
                <a:gd name="connsiteY30" fmla="*/ 64920 h 533192"/>
                <a:gd name="connsiteX31" fmla="*/ 558666 w 606227"/>
                <a:gd name="connsiteY31" fmla="*/ 64920 h 533192"/>
                <a:gd name="connsiteX32" fmla="*/ 558666 w 606227"/>
                <a:gd name="connsiteY32" fmla="*/ 335749 h 533192"/>
                <a:gd name="connsiteX33" fmla="*/ 498036 w 606227"/>
                <a:gd name="connsiteY33" fmla="*/ 396366 h 533192"/>
                <a:gd name="connsiteX34" fmla="*/ 108354 w 606227"/>
                <a:gd name="connsiteY34" fmla="*/ 396366 h 533192"/>
                <a:gd name="connsiteX35" fmla="*/ 47632 w 606227"/>
                <a:gd name="connsiteY35" fmla="*/ 335749 h 533192"/>
                <a:gd name="connsiteX36" fmla="*/ 0 w 606227"/>
                <a:gd name="connsiteY36" fmla="*/ 0 h 533192"/>
                <a:gd name="connsiteX37" fmla="*/ 606227 w 606227"/>
                <a:gd name="connsiteY37" fmla="*/ 0 h 533192"/>
                <a:gd name="connsiteX38" fmla="*/ 606227 w 606227"/>
                <a:gd name="connsiteY38" fmla="*/ 35565 h 533192"/>
                <a:gd name="connsiteX39" fmla="*/ 0 w 606227"/>
                <a:gd name="connsiteY39" fmla="*/ 35565 h 53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6227" h="533192">
                  <a:moveTo>
                    <a:pt x="351345" y="426074"/>
                  </a:moveTo>
                  <a:lnTo>
                    <a:pt x="407490" y="426074"/>
                  </a:lnTo>
                  <a:lnTo>
                    <a:pt x="446467" y="533192"/>
                  </a:lnTo>
                  <a:lnTo>
                    <a:pt x="390229" y="533192"/>
                  </a:lnTo>
                  <a:close/>
                  <a:moveTo>
                    <a:pt x="198757" y="426074"/>
                  </a:moveTo>
                  <a:lnTo>
                    <a:pt x="255023" y="426074"/>
                  </a:lnTo>
                  <a:lnTo>
                    <a:pt x="216119" y="533192"/>
                  </a:lnTo>
                  <a:lnTo>
                    <a:pt x="159760" y="533192"/>
                  </a:lnTo>
                  <a:close/>
                  <a:moveTo>
                    <a:pt x="304170" y="146113"/>
                  </a:moveTo>
                  <a:cubicBezTo>
                    <a:pt x="297485" y="146113"/>
                    <a:pt x="292193" y="151396"/>
                    <a:pt x="292193" y="158070"/>
                  </a:cubicBezTo>
                  <a:lnTo>
                    <a:pt x="292193" y="298304"/>
                  </a:lnTo>
                  <a:lnTo>
                    <a:pt x="248833" y="298304"/>
                  </a:lnTo>
                  <a:lnTo>
                    <a:pt x="248833" y="220448"/>
                  </a:lnTo>
                  <a:cubicBezTo>
                    <a:pt x="248833" y="213774"/>
                    <a:pt x="243541" y="208491"/>
                    <a:pt x="236856" y="208491"/>
                  </a:cubicBezTo>
                  <a:cubicBezTo>
                    <a:pt x="230171" y="208491"/>
                    <a:pt x="224786" y="213774"/>
                    <a:pt x="224786" y="220448"/>
                  </a:cubicBezTo>
                  <a:lnTo>
                    <a:pt x="224786" y="297841"/>
                  </a:lnTo>
                  <a:lnTo>
                    <a:pt x="190153" y="297841"/>
                  </a:lnTo>
                  <a:cubicBezTo>
                    <a:pt x="183375" y="297841"/>
                    <a:pt x="177990" y="303031"/>
                    <a:pt x="178176" y="309797"/>
                  </a:cubicBezTo>
                  <a:cubicBezTo>
                    <a:pt x="178176" y="316470"/>
                    <a:pt x="183468" y="321846"/>
                    <a:pt x="190153" y="321846"/>
                  </a:cubicBezTo>
                  <a:lnTo>
                    <a:pt x="418187" y="321846"/>
                  </a:lnTo>
                  <a:cubicBezTo>
                    <a:pt x="424872" y="321846"/>
                    <a:pt x="430165" y="316470"/>
                    <a:pt x="430165" y="309797"/>
                  </a:cubicBezTo>
                  <a:cubicBezTo>
                    <a:pt x="430165" y="303124"/>
                    <a:pt x="424872" y="297841"/>
                    <a:pt x="418187" y="297841"/>
                  </a:cubicBezTo>
                  <a:lnTo>
                    <a:pt x="383555" y="297841"/>
                  </a:lnTo>
                  <a:lnTo>
                    <a:pt x="383555" y="186339"/>
                  </a:lnTo>
                  <a:cubicBezTo>
                    <a:pt x="383555" y="179666"/>
                    <a:pt x="378170" y="174382"/>
                    <a:pt x="371485" y="174382"/>
                  </a:cubicBezTo>
                  <a:cubicBezTo>
                    <a:pt x="364800" y="174382"/>
                    <a:pt x="359508" y="179666"/>
                    <a:pt x="359508" y="186339"/>
                  </a:cubicBezTo>
                  <a:lnTo>
                    <a:pt x="359508" y="297841"/>
                  </a:lnTo>
                  <a:lnTo>
                    <a:pt x="316148" y="297841"/>
                  </a:lnTo>
                  <a:lnTo>
                    <a:pt x="316148" y="158070"/>
                  </a:lnTo>
                  <a:cubicBezTo>
                    <a:pt x="316148" y="151396"/>
                    <a:pt x="310855" y="146113"/>
                    <a:pt x="304170" y="146113"/>
                  </a:cubicBezTo>
                  <a:close/>
                  <a:moveTo>
                    <a:pt x="47632" y="64920"/>
                  </a:moveTo>
                  <a:lnTo>
                    <a:pt x="558666" y="64920"/>
                  </a:lnTo>
                  <a:lnTo>
                    <a:pt x="558666" y="335749"/>
                  </a:lnTo>
                  <a:cubicBezTo>
                    <a:pt x="558666" y="369394"/>
                    <a:pt x="531740" y="396366"/>
                    <a:pt x="498036" y="396366"/>
                  </a:cubicBezTo>
                  <a:lnTo>
                    <a:pt x="108354" y="396366"/>
                  </a:lnTo>
                  <a:cubicBezTo>
                    <a:pt x="74651" y="396366"/>
                    <a:pt x="47632" y="369394"/>
                    <a:pt x="47632" y="335749"/>
                  </a:cubicBezTo>
                  <a:close/>
                  <a:moveTo>
                    <a:pt x="0" y="0"/>
                  </a:moveTo>
                  <a:lnTo>
                    <a:pt x="606227" y="0"/>
                  </a:lnTo>
                  <a:lnTo>
                    <a:pt x="606227" y="35565"/>
                  </a:lnTo>
                  <a:lnTo>
                    <a:pt x="0" y="355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42" name="图形">
              <a:extLst>
                <a:ext uri="{FF2B5EF4-FFF2-40B4-BE49-F238E27FC236}">
                  <a16:creationId xmlns:a16="http://schemas.microsoft.com/office/drawing/2014/main" id="{75696ED2-1E46-78E3-7237-1F4C5A86CB7A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>
              <a:off x="8218" y="5710"/>
              <a:ext cx="454" cy="406"/>
            </a:xfrm>
            <a:custGeom>
              <a:avLst/>
              <a:gdLst>
                <a:gd name="connsiteX0" fmla="*/ 187163 w 607639"/>
                <a:gd name="connsiteY0" fmla="*/ 266102 h 544483"/>
                <a:gd name="connsiteX1" fmla="*/ 211979 w 607639"/>
                <a:gd name="connsiteY1" fmla="*/ 352827 h 544483"/>
                <a:gd name="connsiteX2" fmla="*/ 161101 w 607639"/>
                <a:gd name="connsiteY2" fmla="*/ 352827 h 544483"/>
                <a:gd name="connsiteX3" fmla="*/ 152027 w 607639"/>
                <a:gd name="connsiteY3" fmla="*/ 178959 h 544483"/>
                <a:gd name="connsiteX4" fmla="*/ 54562 w 607639"/>
                <a:gd name="connsiteY4" fmla="*/ 458812 h 544483"/>
                <a:gd name="connsiteX5" fmla="*/ 133068 w 607639"/>
                <a:gd name="connsiteY5" fmla="*/ 458812 h 544483"/>
                <a:gd name="connsiteX6" fmla="*/ 149624 w 607639"/>
                <a:gd name="connsiteY6" fmla="*/ 403979 h 544483"/>
                <a:gd name="connsiteX7" fmla="*/ 224302 w 607639"/>
                <a:gd name="connsiteY7" fmla="*/ 403979 h 544483"/>
                <a:gd name="connsiteX8" fmla="*/ 241214 w 607639"/>
                <a:gd name="connsiteY8" fmla="*/ 458812 h 544483"/>
                <a:gd name="connsiteX9" fmla="*/ 319364 w 607639"/>
                <a:gd name="connsiteY9" fmla="*/ 458812 h 544483"/>
                <a:gd name="connsiteX10" fmla="*/ 222255 w 607639"/>
                <a:gd name="connsiteY10" fmla="*/ 178959 h 544483"/>
                <a:gd name="connsiteX11" fmla="*/ 420819 w 607639"/>
                <a:gd name="connsiteY11" fmla="*/ 172744 h 544483"/>
                <a:gd name="connsiteX12" fmla="*/ 445762 w 607639"/>
                <a:gd name="connsiteY12" fmla="*/ 259469 h 544483"/>
                <a:gd name="connsiteX13" fmla="*/ 420641 w 607639"/>
                <a:gd name="connsiteY13" fmla="*/ 259469 h 544483"/>
                <a:gd name="connsiteX14" fmla="*/ 420641 w 607639"/>
                <a:gd name="connsiteY14" fmla="*/ 173366 h 544483"/>
                <a:gd name="connsiteX15" fmla="*/ 0 w 607639"/>
                <a:gd name="connsiteY15" fmla="*/ 93288 h 544483"/>
                <a:gd name="connsiteX16" fmla="*/ 373926 w 607639"/>
                <a:gd name="connsiteY16" fmla="*/ 93288 h 544483"/>
                <a:gd name="connsiteX17" fmla="*/ 373926 w 607639"/>
                <a:gd name="connsiteY17" fmla="*/ 544483 h 544483"/>
                <a:gd name="connsiteX18" fmla="*/ 0 w 607639"/>
                <a:gd name="connsiteY18" fmla="*/ 544483 h 544483"/>
                <a:gd name="connsiteX19" fmla="*/ 233713 w 607639"/>
                <a:gd name="connsiteY19" fmla="*/ 0 h 544483"/>
                <a:gd name="connsiteX20" fmla="*/ 607639 w 607639"/>
                <a:gd name="connsiteY20" fmla="*/ 0 h 544483"/>
                <a:gd name="connsiteX21" fmla="*/ 607639 w 607639"/>
                <a:gd name="connsiteY21" fmla="*/ 451125 h 544483"/>
                <a:gd name="connsiteX22" fmla="*/ 420632 w 607639"/>
                <a:gd name="connsiteY22" fmla="*/ 451125 h 544483"/>
                <a:gd name="connsiteX23" fmla="*/ 420632 w 607639"/>
                <a:gd name="connsiteY23" fmla="*/ 310704 h 544483"/>
                <a:gd name="connsiteX24" fmla="*/ 457926 w 607639"/>
                <a:gd name="connsiteY24" fmla="*/ 310704 h 544483"/>
                <a:gd name="connsiteX25" fmla="*/ 474927 w 607639"/>
                <a:gd name="connsiteY25" fmla="*/ 365539 h 544483"/>
                <a:gd name="connsiteX26" fmla="*/ 553077 w 607639"/>
                <a:gd name="connsiteY26" fmla="*/ 365539 h 544483"/>
                <a:gd name="connsiteX27" fmla="*/ 455968 w 607639"/>
                <a:gd name="connsiteY27" fmla="*/ 85675 h 544483"/>
                <a:gd name="connsiteX28" fmla="*/ 420632 w 607639"/>
                <a:gd name="connsiteY28" fmla="*/ 85675 h 544483"/>
                <a:gd name="connsiteX29" fmla="*/ 420632 w 607639"/>
                <a:gd name="connsiteY29" fmla="*/ 46659 h 544483"/>
                <a:gd name="connsiteX30" fmla="*/ 233713 w 607639"/>
                <a:gd name="connsiteY30" fmla="*/ 46659 h 54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639" h="544483">
                  <a:moveTo>
                    <a:pt x="187163" y="266102"/>
                  </a:moveTo>
                  <a:lnTo>
                    <a:pt x="211979" y="352827"/>
                  </a:lnTo>
                  <a:lnTo>
                    <a:pt x="161101" y="352827"/>
                  </a:lnTo>
                  <a:close/>
                  <a:moveTo>
                    <a:pt x="152027" y="178959"/>
                  </a:moveTo>
                  <a:lnTo>
                    <a:pt x="54562" y="458812"/>
                  </a:lnTo>
                  <a:lnTo>
                    <a:pt x="133068" y="458812"/>
                  </a:lnTo>
                  <a:lnTo>
                    <a:pt x="149624" y="403979"/>
                  </a:lnTo>
                  <a:lnTo>
                    <a:pt x="224302" y="403979"/>
                  </a:lnTo>
                  <a:lnTo>
                    <a:pt x="241214" y="458812"/>
                  </a:lnTo>
                  <a:lnTo>
                    <a:pt x="319364" y="458812"/>
                  </a:lnTo>
                  <a:lnTo>
                    <a:pt x="222255" y="178959"/>
                  </a:lnTo>
                  <a:close/>
                  <a:moveTo>
                    <a:pt x="420819" y="172744"/>
                  </a:moveTo>
                  <a:lnTo>
                    <a:pt x="445762" y="259469"/>
                  </a:lnTo>
                  <a:lnTo>
                    <a:pt x="420641" y="259469"/>
                  </a:lnTo>
                  <a:lnTo>
                    <a:pt x="420641" y="173366"/>
                  </a:lnTo>
                  <a:close/>
                  <a:moveTo>
                    <a:pt x="0" y="93288"/>
                  </a:moveTo>
                  <a:lnTo>
                    <a:pt x="373926" y="93288"/>
                  </a:lnTo>
                  <a:lnTo>
                    <a:pt x="373926" y="544483"/>
                  </a:lnTo>
                  <a:lnTo>
                    <a:pt x="0" y="544483"/>
                  </a:lnTo>
                  <a:close/>
                  <a:moveTo>
                    <a:pt x="233713" y="0"/>
                  </a:moveTo>
                  <a:lnTo>
                    <a:pt x="607639" y="0"/>
                  </a:lnTo>
                  <a:lnTo>
                    <a:pt x="607639" y="451125"/>
                  </a:lnTo>
                  <a:lnTo>
                    <a:pt x="420632" y="451125"/>
                  </a:lnTo>
                  <a:lnTo>
                    <a:pt x="420632" y="310704"/>
                  </a:lnTo>
                  <a:lnTo>
                    <a:pt x="457926" y="310704"/>
                  </a:lnTo>
                  <a:lnTo>
                    <a:pt x="474927" y="365539"/>
                  </a:lnTo>
                  <a:lnTo>
                    <a:pt x="553077" y="365539"/>
                  </a:lnTo>
                  <a:lnTo>
                    <a:pt x="455968" y="85675"/>
                  </a:lnTo>
                  <a:lnTo>
                    <a:pt x="420632" y="85675"/>
                  </a:lnTo>
                  <a:lnTo>
                    <a:pt x="420632" y="46659"/>
                  </a:lnTo>
                  <a:lnTo>
                    <a:pt x="233713" y="466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43" name="图形">
              <a:extLst>
                <a:ext uri="{FF2B5EF4-FFF2-40B4-BE49-F238E27FC236}">
                  <a16:creationId xmlns:a16="http://schemas.microsoft.com/office/drawing/2014/main" id="{4032B975-14A3-2929-EEF0-DE7DEC92CD0F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>
              <a:off x="10384" y="7077"/>
              <a:ext cx="454" cy="453"/>
            </a:xfrm>
            <a:custGeom>
              <a:avLst/>
              <a:gdLst>
                <a:gd name="connsiteX0" fmla="*/ 333891 w 578320"/>
                <a:gd name="connsiteY0" fmla="*/ 314976 h 577432"/>
                <a:gd name="connsiteX1" fmla="*/ 398475 w 578320"/>
                <a:gd name="connsiteY1" fmla="*/ 314976 h 577432"/>
                <a:gd name="connsiteX2" fmla="*/ 424308 w 578320"/>
                <a:gd name="connsiteY2" fmla="*/ 340761 h 577432"/>
                <a:gd name="connsiteX3" fmla="*/ 424308 w 578320"/>
                <a:gd name="connsiteY3" fmla="*/ 550726 h 577432"/>
                <a:gd name="connsiteX4" fmla="*/ 398475 w 578320"/>
                <a:gd name="connsiteY4" fmla="*/ 577432 h 577432"/>
                <a:gd name="connsiteX5" fmla="*/ 333891 w 578320"/>
                <a:gd name="connsiteY5" fmla="*/ 577432 h 577432"/>
                <a:gd name="connsiteX6" fmla="*/ 307135 w 578320"/>
                <a:gd name="connsiteY6" fmla="*/ 550726 h 577432"/>
                <a:gd name="connsiteX7" fmla="*/ 307135 w 578320"/>
                <a:gd name="connsiteY7" fmla="*/ 340761 h 577432"/>
                <a:gd name="connsiteX8" fmla="*/ 333891 w 578320"/>
                <a:gd name="connsiteY8" fmla="*/ 314976 h 577432"/>
                <a:gd name="connsiteX9" fmla="*/ 179853 w 578320"/>
                <a:gd name="connsiteY9" fmla="*/ 314976 h 577432"/>
                <a:gd name="connsiteX10" fmla="*/ 244456 w 578320"/>
                <a:gd name="connsiteY10" fmla="*/ 314976 h 577432"/>
                <a:gd name="connsiteX11" fmla="*/ 270297 w 578320"/>
                <a:gd name="connsiteY11" fmla="*/ 340761 h 577432"/>
                <a:gd name="connsiteX12" fmla="*/ 270297 w 578320"/>
                <a:gd name="connsiteY12" fmla="*/ 550726 h 577432"/>
                <a:gd name="connsiteX13" fmla="*/ 244456 w 578320"/>
                <a:gd name="connsiteY13" fmla="*/ 577432 h 577432"/>
                <a:gd name="connsiteX14" fmla="*/ 179853 w 578320"/>
                <a:gd name="connsiteY14" fmla="*/ 577432 h 577432"/>
                <a:gd name="connsiteX15" fmla="*/ 154012 w 578320"/>
                <a:gd name="connsiteY15" fmla="*/ 550726 h 577432"/>
                <a:gd name="connsiteX16" fmla="*/ 154012 w 578320"/>
                <a:gd name="connsiteY16" fmla="*/ 340761 h 577432"/>
                <a:gd name="connsiteX17" fmla="*/ 179853 w 578320"/>
                <a:gd name="connsiteY17" fmla="*/ 314976 h 577432"/>
                <a:gd name="connsiteX18" fmla="*/ 486980 w 578320"/>
                <a:gd name="connsiteY18" fmla="*/ 235677 h 577432"/>
                <a:gd name="connsiteX19" fmla="*/ 551564 w 578320"/>
                <a:gd name="connsiteY19" fmla="*/ 235677 h 577432"/>
                <a:gd name="connsiteX20" fmla="*/ 578320 w 578320"/>
                <a:gd name="connsiteY20" fmla="*/ 262391 h 577432"/>
                <a:gd name="connsiteX21" fmla="*/ 578320 w 578320"/>
                <a:gd name="connsiteY21" fmla="*/ 550718 h 577432"/>
                <a:gd name="connsiteX22" fmla="*/ 551564 w 578320"/>
                <a:gd name="connsiteY22" fmla="*/ 577432 h 577432"/>
                <a:gd name="connsiteX23" fmla="*/ 486980 w 578320"/>
                <a:gd name="connsiteY23" fmla="*/ 577432 h 577432"/>
                <a:gd name="connsiteX24" fmla="*/ 461147 w 578320"/>
                <a:gd name="connsiteY24" fmla="*/ 550718 h 577432"/>
                <a:gd name="connsiteX25" fmla="*/ 461147 w 578320"/>
                <a:gd name="connsiteY25" fmla="*/ 262391 h 577432"/>
                <a:gd name="connsiteX26" fmla="*/ 486980 w 578320"/>
                <a:gd name="connsiteY26" fmla="*/ 235677 h 577432"/>
                <a:gd name="connsiteX27" fmla="*/ 25833 w 578320"/>
                <a:gd name="connsiteY27" fmla="*/ 235677 h 577432"/>
                <a:gd name="connsiteX28" fmla="*/ 90417 w 578320"/>
                <a:gd name="connsiteY28" fmla="*/ 235677 h 577432"/>
                <a:gd name="connsiteX29" fmla="*/ 117173 w 578320"/>
                <a:gd name="connsiteY29" fmla="*/ 262391 h 577432"/>
                <a:gd name="connsiteX30" fmla="*/ 117173 w 578320"/>
                <a:gd name="connsiteY30" fmla="*/ 550718 h 577432"/>
                <a:gd name="connsiteX31" fmla="*/ 90417 w 578320"/>
                <a:gd name="connsiteY31" fmla="*/ 577432 h 577432"/>
                <a:gd name="connsiteX32" fmla="*/ 25833 w 578320"/>
                <a:gd name="connsiteY32" fmla="*/ 577432 h 577432"/>
                <a:gd name="connsiteX33" fmla="*/ 0 w 578320"/>
                <a:gd name="connsiteY33" fmla="*/ 550718 h 577432"/>
                <a:gd name="connsiteX34" fmla="*/ 0 w 578320"/>
                <a:gd name="connsiteY34" fmla="*/ 262391 h 577432"/>
                <a:gd name="connsiteX35" fmla="*/ 25833 w 578320"/>
                <a:gd name="connsiteY35" fmla="*/ 235677 h 577432"/>
                <a:gd name="connsiteX36" fmla="*/ 297075 w 578320"/>
                <a:gd name="connsiteY36" fmla="*/ 158450 h 577432"/>
                <a:gd name="connsiteX37" fmla="*/ 326516 w 578320"/>
                <a:gd name="connsiteY37" fmla="*/ 181440 h 577432"/>
                <a:gd name="connsiteX38" fmla="*/ 297075 w 578320"/>
                <a:gd name="connsiteY38" fmla="*/ 205349 h 577432"/>
                <a:gd name="connsiteX39" fmla="*/ 282280 w 578320"/>
                <a:gd name="connsiteY39" fmla="*/ 81074 h 577432"/>
                <a:gd name="connsiteX40" fmla="*/ 282280 w 578320"/>
                <a:gd name="connsiteY40" fmla="*/ 124274 h 577432"/>
                <a:gd name="connsiteX41" fmla="*/ 255502 w 578320"/>
                <a:gd name="connsiteY41" fmla="*/ 101295 h 577432"/>
                <a:gd name="connsiteX42" fmla="*/ 282280 w 578320"/>
                <a:gd name="connsiteY42" fmla="*/ 81074 h 577432"/>
                <a:gd name="connsiteX43" fmla="*/ 289621 w 578320"/>
                <a:gd name="connsiteY43" fmla="*/ 35910 h 577432"/>
                <a:gd name="connsiteX44" fmla="*/ 282244 w 578320"/>
                <a:gd name="connsiteY44" fmla="*/ 44197 h 577432"/>
                <a:gd name="connsiteX45" fmla="*/ 282244 w 578320"/>
                <a:gd name="connsiteY45" fmla="*/ 57087 h 577432"/>
                <a:gd name="connsiteX46" fmla="*/ 225069 w 578320"/>
                <a:gd name="connsiteY46" fmla="*/ 106808 h 577432"/>
                <a:gd name="connsiteX47" fmla="*/ 282244 w 578320"/>
                <a:gd name="connsiteY47" fmla="*/ 155609 h 577432"/>
                <a:gd name="connsiteX48" fmla="*/ 282244 w 578320"/>
                <a:gd name="connsiteY48" fmla="*/ 205330 h 577432"/>
                <a:gd name="connsiteX49" fmla="*/ 237057 w 578320"/>
                <a:gd name="connsiteY49" fmla="*/ 170341 h 577432"/>
                <a:gd name="connsiteX50" fmla="*/ 222302 w 578320"/>
                <a:gd name="connsiteY50" fmla="*/ 185994 h 577432"/>
                <a:gd name="connsiteX51" fmla="*/ 282244 w 578320"/>
                <a:gd name="connsiteY51" fmla="*/ 229269 h 577432"/>
                <a:gd name="connsiteX52" fmla="*/ 282244 w 578320"/>
                <a:gd name="connsiteY52" fmla="*/ 244002 h 577432"/>
                <a:gd name="connsiteX53" fmla="*/ 289621 w 578320"/>
                <a:gd name="connsiteY53" fmla="*/ 252288 h 577432"/>
                <a:gd name="connsiteX54" fmla="*/ 296999 w 578320"/>
                <a:gd name="connsiteY54" fmla="*/ 244002 h 577432"/>
                <a:gd name="connsiteX55" fmla="*/ 296999 w 578320"/>
                <a:gd name="connsiteY55" fmla="*/ 229269 h 577432"/>
                <a:gd name="connsiteX56" fmla="*/ 356018 w 578320"/>
                <a:gd name="connsiteY56" fmla="*/ 179548 h 577432"/>
                <a:gd name="connsiteX57" fmla="*/ 296999 w 578320"/>
                <a:gd name="connsiteY57" fmla="*/ 126144 h 577432"/>
                <a:gd name="connsiteX58" fmla="*/ 296999 w 578320"/>
                <a:gd name="connsiteY58" fmla="*/ 81027 h 577432"/>
                <a:gd name="connsiteX59" fmla="*/ 338497 w 578320"/>
                <a:gd name="connsiteY59" fmla="*/ 106808 h 577432"/>
                <a:gd name="connsiteX60" fmla="*/ 353252 w 578320"/>
                <a:gd name="connsiteY60" fmla="*/ 92076 h 577432"/>
                <a:gd name="connsiteX61" fmla="*/ 296999 w 578320"/>
                <a:gd name="connsiteY61" fmla="*/ 57087 h 577432"/>
                <a:gd name="connsiteX62" fmla="*/ 296999 w 578320"/>
                <a:gd name="connsiteY62" fmla="*/ 44197 h 577432"/>
                <a:gd name="connsiteX63" fmla="*/ 289621 w 578320"/>
                <a:gd name="connsiteY63" fmla="*/ 35910 h 577432"/>
                <a:gd name="connsiteX64" fmla="*/ 288699 w 578320"/>
                <a:gd name="connsiteY64" fmla="*/ 0 h 577432"/>
                <a:gd name="connsiteX65" fmla="*/ 433481 w 578320"/>
                <a:gd name="connsiteY65" fmla="*/ 144559 h 577432"/>
                <a:gd name="connsiteX66" fmla="*/ 288699 w 578320"/>
                <a:gd name="connsiteY66" fmla="*/ 288198 h 577432"/>
                <a:gd name="connsiteX67" fmla="*/ 144839 w 578320"/>
                <a:gd name="connsiteY67" fmla="*/ 144559 h 577432"/>
                <a:gd name="connsiteX68" fmla="*/ 288699 w 578320"/>
                <a:gd name="connsiteY68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78320" h="577432">
                  <a:moveTo>
                    <a:pt x="333891" y="314976"/>
                  </a:moveTo>
                  <a:lnTo>
                    <a:pt x="398475" y="314976"/>
                  </a:lnTo>
                  <a:cubicBezTo>
                    <a:pt x="412314" y="314976"/>
                    <a:pt x="424308" y="326948"/>
                    <a:pt x="424308" y="340761"/>
                  </a:cubicBezTo>
                  <a:lnTo>
                    <a:pt x="424308" y="550726"/>
                  </a:lnTo>
                  <a:cubicBezTo>
                    <a:pt x="424308" y="565460"/>
                    <a:pt x="412314" y="577432"/>
                    <a:pt x="398475" y="577432"/>
                  </a:cubicBezTo>
                  <a:lnTo>
                    <a:pt x="333891" y="577432"/>
                  </a:lnTo>
                  <a:cubicBezTo>
                    <a:pt x="319129" y="577432"/>
                    <a:pt x="307135" y="565460"/>
                    <a:pt x="307135" y="550726"/>
                  </a:cubicBezTo>
                  <a:lnTo>
                    <a:pt x="307135" y="340761"/>
                  </a:lnTo>
                  <a:cubicBezTo>
                    <a:pt x="307135" y="326948"/>
                    <a:pt x="319129" y="314976"/>
                    <a:pt x="333891" y="314976"/>
                  </a:cubicBezTo>
                  <a:close/>
                  <a:moveTo>
                    <a:pt x="179853" y="314976"/>
                  </a:moveTo>
                  <a:lnTo>
                    <a:pt x="244456" y="314976"/>
                  </a:lnTo>
                  <a:cubicBezTo>
                    <a:pt x="259222" y="314976"/>
                    <a:pt x="270297" y="326948"/>
                    <a:pt x="270297" y="340761"/>
                  </a:cubicBezTo>
                  <a:lnTo>
                    <a:pt x="270297" y="550726"/>
                  </a:lnTo>
                  <a:cubicBezTo>
                    <a:pt x="270297" y="565460"/>
                    <a:pt x="259222" y="577432"/>
                    <a:pt x="244456" y="577432"/>
                  </a:cubicBezTo>
                  <a:lnTo>
                    <a:pt x="179853" y="577432"/>
                  </a:lnTo>
                  <a:cubicBezTo>
                    <a:pt x="165087" y="577432"/>
                    <a:pt x="154012" y="565460"/>
                    <a:pt x="154012" y="550726"/>
                  </a:cubicBezTo>
                  <a:lnTo>
                    <a:pt x="154012" y="340761"/>
                  </a:lnTo>
                  <a:cubicBezTo>
                    <a:pt x="154012" y="326948"/>
                    <a:pt x="165087" y="314976"/>
                    <a:pt x="179853" y="314976"/>
                  </a:cubicBezTo>
                  <a:close/>
                  <a:moveTo>
                    <a:pt x="486980" y="235677"/>
                  </a:moveTo>
                  <a:lnTo>
                    <a:pt x="551564" y="235677"/>
                  </a:lnTo>
                  <a:cubicBezTo>
                    <a:pt x="566326" y="235677"/>
                    <a:pt x="578320" y="247652"/>
                    <a:pt x="578320" y="262391"/>
                  </a:cubicBezTo>
                  <a:lnTo>
                    <a:pt x="578320" y="550718"/>
                  </a:lnTo>
                  <a:cubicBezTo>
                    <a:pt x="578320" y="565457"/>
                    <a:pt x="566326" y="577432"/>
                    <a:pt x="551564" y="577432"/>
                  </a:cubicBezTo>
                  <a:lnTo>
                    <a:pt x="486980" y="577432"/>
                  </a:lnTo>
                  <a:cubicBezTo>
                    <a:pt x="473141" y="577432"/>
                    <a:pt x="461147" y="565457"/>
                    <a:pt x="461147" y="550718"/>
                  </a:cubicBezTo>
                  <a:lnTo>
                    <a:pt x="461147" y="262391"/>
                  </a:lnTo>
                  <a:cubicBezTo>
                    <a:pt x="461147" y="247652"/>
                    <a:pt x="473141" y="235677"/>
                    <a:pt x="486980" y="235677"/>
                  </a:cubicBezTo>
                  <a:close/>
                  <a:moveTo>
                    <a:pt x="25833" y="235677"/>
                  </a:moveTo>
                  <a:lnTo>
                    <a:pt x="90417" y="235677"/>
                  </a:lnTo>
                  <a:cubicBezTo>
                    <a:pt x="105179" y="235677"/>
                    <a:pt x="117173" y="247652"/>
                    <a:pt x="117173" y="262391"/>
                  </a:cubicBezTo>
                  <a:lnTo>
                    <a:pt x="117173" y="550718"/>
                  </a:lnTo>
                  <a:cubicBezTo>
                    <a:pt x="117173" y="565457"/>
                    <a:pt x="105179" y="577432"/>
                    <a:pt x="90417" y="577432"/>
                  </a:cubicBezTo>
                  <a:lnTo>
                    <a:pt x="25833" y="577432"/>
                  </a:lnTo>
                  <a:cubicBezTo>
                    <a:pt x="11994" y="577432"/>
                    <a:pt x="0" y="565457"/>
                    <a:pt x="0" y="550718"/>
                  </a:cubicBezTo>
                  <a:lnTo>
                    <a:pt x="0" y="262391"/>
                  </a:lnTo>
                  <a:cubicBezTo>
                    <a:pt x="0" y="247652"/>
                    <a:pt x="11994" y="235677"/>
                    <a:pt x="25833" y="235677"/>
                  </a:cubicBezTo>
                  <a:close/>
                  <a:moveTo>
                    <a:pt x="297075" y="158450"/>
                  </a:moveTo>
                  <a:cubicBezTo>
                    <a:pt x="309956" y="161209"/>
                    <a:pt x="326516" y="165807"/>
                    <a:pt x="326516" y="181440"/>
                  </a:cubicBezTo>
                  <a:cubicBezTo>
                    <a:pt x="326516" y="197992"/>
                    <a:pt x="310876" y="204429"/>
                    <a:pt x="297075" y="205349"/>
                  </a:cubicBezTo>
                  <a:close/>
                  <a:moveTo>
                    <a:pt x="282280" y="81074"/>
                  </a:moveTo>
                  <a:lnTo>
                    <a:pt x="282280" y="124274"/>
                  </a:lnTo>
                  <a:cubicBezTo>
                    <a:pt x="264736" y="120597"/>
                    <a:pt x="255502" y="113244"/>
                    <a:pt x="255502" y="101295"/>
                  </a:cubicBezTo>
                  <a:cubicBezTo>
                    <a:pt x="255502" y="91185"/>
                    <a:pt x="265659" y="81993"/>
                    <a:pt x="282280" y="81074"/>
                  </a:cubicBezTo>
                  <a:close/>
                  <a:moveTo>
                    <a:pt x="289621" y="35910"/>
                  </a:moveTo>
                  <a:cubicBezTo>
                    <a:pt x="285010" y="35910"/>
                    <a:pt x="282244" y="40513"/>
                    <a:pt x="282244" y="44197"/>
                  </a:cubicBezTo>
                  <a:lnTo>
                    <a:pt x="282244" y="57087"/>
                  </a:lnTo>
                  <a:cubicBezTo>
                    <a:pt x="252734" y="58008"/>
                    <a:pt x="225069" y="74582"/>
                    <a:pt x="225069" y="106808"/>
                  </a:cubicBezTo>
                  <a:cubicBezTo>
                    <a:pt x="225069" y="133510"/>
                    <a:pt x="247201" y="149163"/>
                    <a:pt x="282244" y="155609"/>
                  </a:cubicBezTo>
                  <a:lnTo>
                    <a:pt x="282244" y="205330"/>
                  </a:lnTo>
                  <a:cubicBezTo>
                    <a:pt x="242590" y="203488"/>
                    <a:pt x="263800" y="170341"/>
                    <a:pt x="237057" y="170341"/>
                  </a:cubicBezTo>
                  <a:cubicBezTo>
                    <a:pt x="227835" y="170341"/>
                    <a:pt x="222302" y="175865"/>
                    <a:pt x="222302" y="185994"/>
                  </a:cubicBezTo>
                  <a:cubicBezTo>
                    <a:pt x="222302" y="204409"/>
                    <a:pt x="241668" y="228349"/>
                    <a:pt x="282244" y="229269"/>
                  </a:cubicBezTo>
                  <a:lnTo>
                    <a:pt x="282244" y="244002"/>
                  </a:lnTo>
                  <a:cubicBezTo>
                    <a:pt x="282244" y="248605"/>
                    <a:pt x="285010" y="252288"/>
                    <a:pt x="289621" y="252288"/>
                  </a:cubicBezTo>
                  <a:cubicBezTo>
                    <a:pt x="293310" y="252288"/>
                    <a:pt x="296999" y="248605"/>
                    <a:pt x="296999" y="244002"/>
                  </a:cubicBezTo>
                  <a:lnTo>
                    <a:pt x="296999" y="229269"/>
                  </a:lnTo>
                  <a:cubicBezTo>
                    <a:pt x="332041" y="227428"/>
                    <a:pt x="356018" y="210854"/>
                    <a:pt x="356018" y="179548"/>
                  </a:cubicBezTo>
                  <a:cubicBezTo>
                    <a:pt x="356018" y="142718"/>
                    <a:pt x="328353" y="133510"/>
                    <a:pt x="296999" y="126144"/>
                  </a:cubicBezTo>
                  <a:lnTo>
                    <a:pt x="296999" y="81027"/>
                  </a:lnTo>
                  <a:cubicBezTo>
                    <a:pt x="322820" y="81948"/>
                    <a:pt x="322820" y="106808"/>
                    <a:pt x="338497" y="106808"/>
                  </a:cubicBezTo>
                  <a:cubicBezTo>
                    <a:pt x="346796" y="106808"/>
                    <a:pt x="353252" y="101284"/>
                    <a:pt x="353252" y="92076"/>
                  </a:cubicBezTo>
                  <a:cubicBezTo>
                    <a:pt x="353252" y="69057"/>
                    <a:pt x="315442" y="57087"/>
                    <a:pt x="296999" y="57087"/>
                  </a:cubicBezTo>
                  <a:lnTo>
                    <a:pt x="296999" y="44197"/>
                  </a:lnTo>
                  <a:cubicBezTo>
                    <a:pt x="296999" y="40513"/>
                    <a:pt x="293310" y="35910"/>
                    <a:pt x="289621" y="35910"/>
                  </a:cubicBezTo>
                  <a:close/>
                  <a:moveTo>
                    <a:pt x="288699" y="0"/>
                  </a:moveTo>
                  <a:cubicBezTo>
                    <a:pt x="368929" y="0"/>
                    <a:pt x="433481" y="64453"/>
                    <a:pt x="433481" y="144559"/>
                  </a:cubicBezTo>
                  <a:cubicBezTo>
                    <a:pt x="433481" y="223745"/>
                    <a:pt x="368929" y="288198"/>
                    <a:pt x="288699" y="288198"/>
                  </a:cubicBezTo>
                  <a:cubicBezTo>
                    <a:pt x="209392" y="288198"/>
                    <a:pt x="144839" y="223745"/>
                    <a:pt x="144839" y="144559"/>
                  </a:cubicBezTo>
                  <a:cubicBezTo>
                    <a:pt x="144839" y="64453"/>
                    <a:pt x="209392" y="0"/>
                    <a:pt x="2886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44" name="图形">
              <a:extLst>
                <a:ext uri="{FF2B5EF4-FFF2-40B4-BE49-F238E27FC236}">
                  <a16:creationId xmlns:a16="http://schemas.microsoft.com/office/drawing/2014/main" id="{58931D11-C6BB-598B-2D6F-FC4436148D94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>
              <a:off x="8218" y="8544"/>
              <a:ext cx="454" cy="421"/>
            </a:xfrm>
            <a:custGeom>
              <a:avLst/>
              <a:gdLst>
                <a:gd name="connsiteX0" fmla="*/ 331621 w 608704"/>
                <a:gd name="connsiteY0" fmla="*/ 496781 h 565088"/>
                <a:gd name="connsiteX1" fmla="*/ 441006 w 608704"/>
                <a:gd name="connsiteY1" fmla="*/ 496781 h 565088"/>
                <a:gd name="connsiteX2" fmla="*/ 446506 w 608704"/>
                <a:gd name="connsiteY2" fmla="*/ 497758 h 565088"/>
                <a:gd name="connsiteX3" fmla="*/ 454289 w 608704"/>
                <a:gd name="connsiteY3" fmla="*/ 504273 h 565088"/>
                <a:gd name="connsiteX4" fmla="*/ 456526 w 608704"/>
                <a:gd name="connsiteY4" fmla="*/ 512276 h 565088"/>
                <a:gd name="connsiteX5" fmla="*/ 456526 w 608704"/>
                <a:gd name="connsiteY5" fmla="*/ 517999 h 565088"/>
                <a:gd name="connsiteX6" fmla="*/ 456526 w 608704"/>
                <a:gd name="connsiteY6" fmla="*/ 549547 h 565088"/>
                <a:gd name="connsiteX7" fmla="*/ 441006 w 608704"/>
                <a:gd name="connsiteY7" fmla="*/ 565088 h 565088"/>
                <a:gd name="connsiteX8" fmla="*/ 331621 w 608704"/>
                <a:gd name="connsiteY8" fmla="*/ 565088 h 565088"/>
                <a:gd name="connsiteX9" fmla="*/ 316101 w 608704"/>
                <a:gd name="connsiteY9" fmla="*/ 549547 h 565088"/>
                <a:gd name="connsiteX10" fmla="*/ 316101 w 608704"/>
                <a:gd name="connsiteY10" fmla="*/ 517627 h 565088"/>
                <a:gd name="connsiteX11" fmla="*/ 316101 w 608704"/>
                <a:gd name="connsiteY11" fmla="*/ 512276 h 565088"/>
                <a:gd name="connsiteX12" fmla="*/ 318525 w 608704"/>
                <a:gd name="connsiteY12" fmla="*/ 503947 h 565088"/>
                <a:gd name="connsiteX13" fmla="*/ 326401 w 608704"/>
                <a:gd name="connsiteY13" fmla="*/ 497712 h 565088"/>
                <a:gd name="connsiteX14" fmla="*/ 331621 w 608704"/>
                <a:gd name="connsiteY14" fmla="*/ 496781 h 565088"/>
                <a:gd name="connsiteX15" fmla="*/ 166349 w 608704"/>
                <a:gd name="connsiteY15" fmla="*/ 496640 h 565088"/>
                <a:gd name="connsiteX16" fmla="*/ 275680 w 608704"/>
                <a:gd name="connsiteY16" fmla="*/ 496640 h 565088"/>
                <a:gd name="connsiteX17" fmla="*/ 282109 w 608704"/>
                <a:gd name="connsiteY17" fmla="*/ 498083 h 565088"/>
                <a:gd name="connsiteX18" fmla="*/ 289515 w 608704"/>
                <a:gd name="connsiteY18" fmla="*/ 505202 h 565088"/>
                <a:gd name="connsiteX19" fmla="*/ 291192 w 608704"/>
                <a:gd name="connsiteY19" fmla="*/ 512181 h 565088"/>
                <a:gd name="connsiteX20" fmla="*/ 291192 w 608704"/>
                <a:gd name="connsiteY20" fmla="*/ 518928 h 565088"/>
                <a:gd name="connsiteX21" fmla="*/ 291192 w 608704"/>
                <a:gd name="connsiteY21" fmla="*/ 549453 h 565088"/>
                <a:gd name="connsiteX22" fmla="*/ 275680 w 608704"/>
                <a:gd name="connsiteY22" fmla="*/ 564947 h 565088"/>
                <a:gd name="connsiteX23" fmla="*/ 166349 w 608704"/>
                <a:gd name="connsiteY23" fmla="*/ 564947 h 565088"/>
                <a:gd name="connsiteX24" fmla="*/ 150884 w 608704"/>
                <a:gd name="connsiteY24" fmla="*/ 549406 h 565088"/>
                <a:gd name="connsiteX25" fmla="*/ 150884 w 608704"/>
                <a:gd name="connsiteY25" fmla="*/ 516276 h 565088"/>
                <a:gd name="connsiteX26" fmla="*/ 150884 w 608704"/>
                <a:gd name="connsiteY26" fmla="*/ 512181 h 565088"/>
                <a:gd name="connsiteX27" fmla="*/ 153912 w 608704"/>
                <a:gd name="connsiteY27" fmla="*/ 502922 h 565088"/>
                <a:gd name="connsiteX28" fmla="*/ 162064 w 608704"/>
                <a:gd name="connsiteY28" fmla="*/ 497292 h 565088"/>
                <a:gd name="connsiteX29" fmla="*/ 166349 w 608704"/>
                <a:gd name="connsiteY29" fmla="*/ 496640 h 565088"/>
                <a:gd name="connsiteX30" fmla="*/ 560321 w 608704"/>
                <a:gd name="connsiteY30" fmla="*/ 169851 h 565088"/>
                <a:gd name="connsiteX31" fmla="*/ 572108 w 608704"/>
                <a:gd name="connsiteY31" fmla="*/ 175247 h 565088"/>
                <a:gd name="connsiteX32" fmla="*/ 577884 w 608704"/>
                <a:gd name="connsiteY32" fmla="*/ 346298 h 565088"/>
                <a:gd name="connsiteX33" fmla="*/ 535489 w 608704"/>
                <a:gd name="connsiteY33" fmla="*/ 388677 h 565088"/>
                <a:gd name="connsiteX34" fmla="*/ 492862 w 608704"/>
                <a:gd name="connsiteY34" fmla="*/ 424822 h 565088"/>
                <a:gd name="connsiteX35" fmla="*/ 455964 w 608704"/>
                <a:gd name="connsiteY35" fmla="*/ 451292 h 565088"/>
                <a:gd name="connsiteX36" fmla="*/ 446972 w 608704"/>
                <a:gd name="connsiteY36" fmla="*/ 468876 h 565088"/>
                <a:gd name="connsiteX37" fmla="*/ 446879 w 608704"/>
                <a:gd name="connsiteY37" fmla="*/ 478645 h 565088"/>
                <a:gd name="connsiteX38" fmla="*/ 441056 w 608704"/>
                <a:gd name="connsiteY38" fmla="*/ 478180 h 565088"/>
                <a:gd name="connsiteX39" fmla="*/ 331714 w 608704"/>
                <a:gd name="connsiteY39" fmla="*/ 478180 h 565088"/>
                <a:gd name="connsiteX40" fmla="*/ 326263 w 608704"/>
                <a:gd name="connsiteY40" fmla="*/ 478598 h 565088"/>
                <a:gd name="connsiteX41" fmla="*/ 326263 w 608704"/>
                <a:gd name="connsiteY41" fmla="*/ 409517 h 565088"/>
                <a:gd name="connsiteX42" fmla="*/ 327148 w 608704"/>
                <a:gd name="connsiteY42" fmla="*/ 404307 h 565088"/>
                <a:gd name="connsiteX43" fmla="*/ 434301 w 608704"/>
                <a:gd name="connsiteY43" fmla="*/ 313130 h 565088"/>
                <a:gd name="connsiteX44" fmla="*/ 441568 w 608704"/>
                <a:gd name="connsiteY44" fmla="*/ 309036 h 565088"/>
                <a:gd name="connsiteX45" fmla="*/ 476136 w 608704"/>
                <a:gd name="connsiteY45" fmla="*/ 274472 h 565088"/>
                <a:gd name="connsiteX46" fmla="*/ 487131 w 608704"/>
                <a:gd name="connsiteY46" fmla="*/ 269960 h 565088"/>
                <a:gd name="connsiteX47" fmla="*/ 498126 w 608704"/>
                <a:gd name="connsiteY47" fmla="*/ 274472 h 565088"/>
                <a:gd name="connsiteX48" fmla="*/ 510612 w 608704"/>
                <a:gd name="connsiteY48" fmla="*/ 286986 h 565088"/>
                <a:gd name="connsiteX49" fmla="*/ 513873 w 608704"/>
                <a:gd name="connsiteY49" fmla="*/ 290242 h 565088"/>
                <a:gd name="connsiteX50" fmla="*/ 513873 w 608704"/>
                <a:gd name="connsiteY50" fmla="*/ 312199 h 565088"/>
                <a:gd name="connsiteX51" fmla="*/ 445948 w 608704"/>
                <a:gd name="connsiteY51" fmla="*/ 379978 h 565088"/>
                <a:gd name="connsiteX52" fmla="*/ 445948 w 608704"/>
                <a:gd name="connsiteY52" fmla="*/ 388723 h 565088"/>
                <a:gd name="connsiteX53" fmla="*/ 447159 w 608704"/>
                <a:gd name="connsiteY53" fmla="*/ 389886 h 565088"/>
                <a:gd name="connsiteX54" fmla="*/ 451538 w 608704"/>
                <a:gd name="connsiteY54" fmla="*/ 391700 h 565088"/>
                <a:gd name="connsiteX55" fmla="*/ 455964 w 608704"/>
                <a:gd name="connsiteY55" fmla="*/ 389886 h 565088"/>
                <a:gd name="connsiteX56" fmla="*/ 533626 w 608704"/>
                <a:gd name="connsiteY56" fmla="*/ 312292 h 565088"/>
                <a:gd name="connsiteX57" fmla="*/ 533999 w 608704"/>
                <a:gd name="connsiteY57" fmla="*/ 209345 h 565088"/>
                <a:gd name="connsiteX58" fmla="*/ 535024 w 608704"/>
                <a:gd name="connsiteY58" fmla="*/ 188644 h 565088"/>
                <a:gd name="connsiteX59" fmla="*/ 535909 w 608704"/>
                <a:gd name="connsiteY59" fmla="*/ 187761 h 565088"/>
                <a:gd name="connsiteX60" fmla="*/ 549326 w 608704"/>
                <a:gd name="connsiteY60" fmla="*/ 174363 h 565088"/>
                <a:gd name="connsiteX61" fmla="*/ 560321 w 608704"/>
                <a:gd name="connsiteY61" fmla="*/ 169851 h 565088"/>
                <a:gd name="connsiteX62" fmla="*/ 48337 w 608704"/>
                <a:gd name="connsiteY62" fmla="*/ 169851 h 565088"/>
                <a:gd name="connsiteX63" fmla="*/ 59331 w 608704"/>
                <a:gd name="connsiteY63" fmla="*/ 174364 h 565088"/>
                <a:gd name="connsiteX64" fmla="*/ 72749 w 608704"/>
                <a:gd name="connsiteY64" fmla="*/ 187763 h 565088"/>
                <a:gd name="connsiteX65" fmla="*/ 73587 w 608704"/>
                <a:gd name="connsiteY65" fmla="*/ 188647 h 565088"/>
                <a:gd name="connsiteX66" fmla="*/ 74659 w 608704"/>
                <a:gd name="connsiteY66" fmla="*/ 209352 h 565088"/>
                <a:gd name="connsiteX67" fmla="*/ 75031 w 608704"/>
                <a:gd name="connsiteY67" fmla="*/ 312361 h 565088"/>
                <a:gd name="connsiteX68" fmla="*/ 152601 w 608704"/>
                <a:gd name="connsiteY68" fmla="*/ 389874 h 565088"/>
                <a:gd name="connsiteX69" fmla="*/ 157027 w 608704"/>
                <a:gd name="connsiteY69" fmla="*/ 391688 h 565088"/>
                <a:gd name="connsiteX70" fmla="*/ 161452 w 608704"/>
                <a:gd name="connsiteY70" fmla="*/ 389874 h 565088"/>
                <a:gd name="connsiteX71" fmla="*/ 162617 w 608704"/>
                <a:gd name="connsiteY71" fmla="*/ 388711 h 565088"/>
                <a:gd name="connsiteX72" fmla="*/ 162617 w 608704"/>
                <a:gd name="connsiteY72" fmla="*/ 379964 h 565088"/>
                <a:gd name="connsiteX73" fmla="*/ 94738 w 608704"/>
                <a:gd name="connsiteY73" fmla="*/ 312175 h 565088"/>
                <a:gd name="connsiteX74" fmla="*/ 94738 w 608704"/>
                <a:gd name="connsiteY74" fmla="*/ 290214 h 565088"/>
                <a:gd name="connsiteX75" fmla="*/ 97953 w 608704"/>
                <a:gd name="connsiteY75" fmla="*/ 286958 h 565088"/>
                <a:gd name="connsiteX76" fmla="*/ 110485 w 608704"/>
                <a:gd name="connsiteY76" fmla="*/ 274442 h 565088"/>
                <a:gd name="connsiteX77" fmla="*/ 121480 w 608704"/>
                <a:gd name="connsiteY77" fmla="*/ 269929 h 565088"/>
                <a:gd name="connsiteX78" fmla="*/ 132474 w 608704"/>
                <a:gd name="connsiteY78" fmla="*/ 274442 h 565088"/>
                <a:gd name="connsiteX79" fmla="*/ 167136 w 608704"/>
                <a:gd name="connsiteY79" fmla="*/ 309011 h 565088"/>
                <a:gd name="connsiteX80" fmla="*/ 174404 w 608704"/>
                <a:gd name="connsiteY80" fmla="*/ 313105 h 565088"/>
                <a:gd name="connsiteX81" fmla="*/ 281556 w 608704"/>
                <a:gd name="connsiteY81" fmla="*/ 404297 h 565088"/>
                <a:gd name="connsiteX82" fmla="*/ 282441 w 608704"/>
                <a:gd name="connsiteY82" fmla="*/ 409508 h 565088"/>
                <a:gd name="connsiteX83" fmla="*/ 282441 w 608704"/>
                <a:gd name="connsiteY83" fmla="*/ 478786 h 565088"/>
                <a:gd name="connsiteX84" fmla="*/ 275686 w 608704"/>
                <a:gd name="connsiteY84" fmla="*/ 478088 h 565088"/>
                <a:gd name="connsiteX85" fmla="*/ 166344 w 608704"/>
                <a:gd name="connsiteY85" fmla="*/ 478088 h 565088"/>
                <a:gd name="connsiteX86" fmla="*/ 161825 w 608704"/>
                <a:gd name="connsiteY86" fmla="*/ 478414 h 565088"/>
                <a:gd name="connsiteX87" fmla="*/ 161732 w 608704"/>
                <a:gd name="connsiteY87" fmla="*/ 468783 h 565088"/>
                <a:gd name="connsiteX88" fmla="*/ 152741 w 608704"/>
                <a:gd name="connsiteY88" fmla="*/ 451242 h 565088"/>
                <a:gd name="connsiteX89" fmla="*/ 115842 w 608704"/>
                <a:gd name="connsiteY89" fmla="*/ 424769 h 565088"/>
                <a:gd name="connsiteX90" fmla="*/ 73215 w 608704"/>
                <a:gd name="connsiteY90" fmla="*/ 388711 h 565088"/>
                <a:gd name="connsiteX91" fmla="*/ 30820 w 608704"/>
                <a:gd name="connsiteY91" fmla="*/ 346325 h 565088"/>
                <a:gd name="connsiteX92" fmla="*/ 36596 w 608704"/>
                <a:gd name="connsiteY92" fmla="*/ 175248 h 565088"/>
                <a:gd name="connsiteX93" fmla="*/ 48337 w 608704"/>
                <a:gd name="connsiteY93" fmla="*/ 169851 h 565088"/>
                <a:gd name="connsiteX94" fmla="*/ 101464 w 608704"/>
                <a:gd name="connsiteY94" fmla="*/ 164593 h 565088"/>
                <a:gd name="connsiteX95" fmla="*/ 112641 w 608704"/>
                <a:gd name="connsiteY95" fmla="*/ 169193 h 565088"/>
                <a:gd name="connsiteX96" fmla="*/ 131324 w 608704"/>
                <a:gd name="connsiteY96" fmla="*/ 188128 h 565088"/>
                <a:gd name="connsiteX97" fmla="*/ 131557 w 608704"/>
                <a:gd name="connsiteY97" fmla="*/ 209667 h 565088"/>
                <a:gd name="connsiteX98" fmla="*/ 117486 w 608704"/>
                <a:gd name="connsiteY98" fmla="*/ 224601 h 565088"/>
                <a:gd name="connsiteX99" fmla="*/ 94656 w 608704"/>
                <a:gd name="connsiteY99" fmla="*/ 264005 h 565088"/>
                <a:gd name="connsiteX100" fmla="*/ 81564 w 608704"/>
                <a:gd name="connsiteY100" fmla="*/ 277078 h 565088"/>
                <a:gd name="connsiteX101" fmla="*/ 77091 w 608704"/>
                <a:gd name="connsiteY101" fmla="*/ 282614 h 565088"/>
                <a:gd name="connsiteX102" fmla="*/ 74435 w 608704"/>
                <a:gd name="connsiteY102" fmla="*/ 275542 h 565088"/>
                <a:gd name="connsiteX103" fmla="*/ 73224 w 608704"/>
                <a:gd name="connsiteY103" fmla="*/ 252188 h 565088"/>
                <a:gd name="connsiteX104" fmla="*/ 89158 w 608704"/>
                <a:gd name="connsiteY104" fmla="*/ 221205 h 565088"/>
                <a:gd name="connsiteX105" fmla="*/ 96799 w 608704"/>
                <a:gd name="connsiteY105" fmla="*/ 197851 h 565088"/>
                <a:gd name="connsiteX106" fmla="*/ 86782 w 608704"/>
                <a:gd name="connsiteY106" fmla="*/ 175520 h 565088"/>
                <a:gd name="connsiteX107" fmla="*/ 85617 w 608704"/>
                <a:gd name="connsiteY107" fmla="*/ 174357 h 565088"/>
                <a:gd name="connsiteX108" fmla="*/ 90323 w 608704"/>
                <a:gd name="connsiteY108" fmla="*/ 169379 h 565088"/>
                <a:gd name="connsiteX109" fmla="*/ 101464 w 608704"/>
                <a:gd name="connsiteY109" fmla="*/ 164593 h 565088"/>
                <a:gd name="connsiteX110" fmla="*/ 507200 w 608704"/>
                <a:gd name="connsiteY110" fmla="*/ 164524 h 565088"/>
                <a:gd name="connsiteX111" fmla="*/ 518327 w 608704"/>
                <a:gd name="connsiteY111" fmla="*/ 169311 h 565088"/>
                <a:gd name="connsiteX112" fmla="*/ 523035 w 608704"/>
                <a:gd name="connsiteY112" fmla="*/ 174289 h 565088"/>
                <a:gd name="connsiteX113" fmla="*/ 521870 w 608704"/>
                <a:gd name="connsiteY113" fmla="*/ 175453 h 565088"/>
                <a:gd name="connsiteX114" fmla="*/ 511895 w 608704"/>
                <a:gd name="connsiteY114" fmla="*/ 197788 h 565088"/>
                <a:gd name="connsiteX115" fmla="*/ 519539 w 608704"/>
                <a:gd name="connsiteY115" fmla="*/ 221100 h 565088"/>
                <a:gd name="connsiteX116" fmla="*/ 535387 w 608704"/>
                <a:gd name="connsiteY116" fmla="*/ 252183 h 565088"/>
                <a:gd name="connsiteX117" fmla="*/ 534221 w 608704"/>
                <a:gd name="connsiteY117" fmla="*/ 275542 h 565088"/>
                <a:gd name="connsiteX118" fmla="*/ 531565 w 608704"/>
                <a:gd name="connsiteY118" fmla="*/ 282615 h 565088"/>
                <a:gd name="connsiteX119" fmla="*/ 527090 w 608704"/>
                <a:gd name="connsiteY119" fmla="*/ 277078 h 565088"/>
                <a:gd name="connsiteX120" fmla="*/ 513946 w 608704"/>
                <a:gd name="connsiteY120" fmla="*/ 264002 h 565088"/>
                <a:gd name="connsiteX121" fmla="*/ 491154 w 608704"/>
                <a:gd name="connsiteY121" fmla="*/ 224590 h 565088"/>
                <a:gd name="connsiteX122" fmla="*/ 477032 w 608704"/>
                <a:gd name="connsiteY122" fmla="*/ 209653 h 565088"/>
                <a:gd name="connsiteX123" fmla="*/ 477311 w 608704"/>
                <a:gd name="connsiteY123" fmla="*/ 188109 h 565088"/>
                <a:gd name="connsiteX124" fmla="*/ 496002 w 608704"/>
                <a:gd name="connsiteY124" fmla="*/ 169124 h 565088"/>
                <a:gd name="connsiteX125" fmla="*/ 507200 w 608704"/>
                <a:gd name="connsiteY125" fmla="*/ 164524 h 565088"/>
                <a:gd name="connsiteX126" fmla="*/ 255331 w 608704"/>
                <a:gd name="connsiteY126" fmla="*/ 53303 h 565088"/>
                <a:gd name="connsiteX127" fmla="*/ 244789 w 608704"/>
                <a:gd name="connsiteY127" fmla="*/ 55176 h 565088"/>
                <a:gd name="connsiteX128" fmla="*/ 240503 w 608704"/>
                <a:gd name="connsiteY128" fmla="*/ 74437 h 565088"/>
                <a:gd name="connsiteX129" fmla="*/ 282110 w 608704"/>
                <a:gd name="connsiteY129" fmla="*/ 139662 h 565088"/>
                <a:gd name="connsiteX130" fmla="*/ 268132 w 608704"/>
                <a:gd name="connsiteY130" fmla="*/ 139662 h 565088"/>
                <a:gd name="connsiteX131" fmla="*/ 254154 w 608704"/>
                <a:gd name="connsiteY131" fmla="*/ 153619 h 565088"/>
                <a:gd name="connsiteX132" fmla="*/ 268132 w 608704"/>
                <a:gd name="connsiteY132" fmla="*/ 167576 h 565088"/>
                <a:gd name="connsiteX133" fmla="*/ 292174 w 608704"/>
                <a:gd name="connsiteY133" fmla="*/ 167576 h 565088"/>
                <a:gd name="connsiteX134" fmla="*/ 292174 w 608704"/>
                <a:gd name="connsiteY134" fmla="*/ 177346 h 565088"/>
                <a:gd name="connsiteX135" fmla="*/ 268132 w 608704"/>
                <a:gd name="connsiteY135" fmla="*/ 177346 h 565088"/>
                <a:gd name="connsiteX136" fmla="*/ 254154 w 608704"/>
                <a:gd name="connsiteY136" fmla="*/ 191302 h 565088"/>
                <a:gd name="connsiteX137" fmla="*/ 268132 w 608704"/>
                <a:gd name="connsiteY137" fmla="*/ 205259 h 565088"/>
                <a:gd name="connsiteX138" fmla="*/ 292174 w 608704"/>
                <a:gd name="connsiteY138" fmla="*/ 205259 h 565088"/>
                <a:gd name="connsiteX139" fmla="*/ 292174 w 608704"/>
                <a:gd name="connsiteY139" fmla="*/ 224706 h 565088"/>
                <a:gd name="connsiteX140" fmla="*/ 306151 w 608704"/>
                <a:gd name="connsiteY140" fmla="*/ 238663 h 565088"/>
                <a:gd name="connsiteX141" fmla="*/ 320129 w 608704"/>
                <a:gd name="connsiteY141" fmla="*/ 224706 h 565088"/>
                <a:gd name="connsiteX142" fmla="*/ 320129 w 608704"/>
                <a:gd name="connsiteY142" fmla="*/ 205259 h 565088"/>
                <a:gd name="connsiteX143" fmla="*/ 344171 w 608704"/>
                <a:gd name="connsiteY143" fmla="*/ 205259 h 565088"/>
                <a:gd name="connsiteX144" fmla="*/ 358149 w 608704"/>
                <a:gd name="connsiteY144" fmla="*/ 191302 h 565088"/>
                <a:gd name="connsiteX145" fmla="*/ 344171 w 608704"/>
                <a:gd name="connsiteY145" fmla="*/ 177346 h 565088"/>
                <a:gd name="connsiteX146" fmla="*/ 320129 w 608704"/>
                <a:gd name="connsiteY146" fmla="*/ 177346 h 565088"/>
                <a:gd name="connsiteX147" fmla="*/ 320129 w 608704"/>
                <a:gd name="connsiteY147" fmla="*/ 167576 h 565088"/>
                <a:gd name="connsiteX148" fmla="*/ 344264 w 608704"/>
                <a:gd name="connsiteY148" fmla="*/ 167576 h 565088"/>
                <a:gd name="connsiteX149" fmla="*/ 358242 w 608704"/>
                <a:gd name="connsiteY149" fmla="*/ 153619 h 565088"/>
                <a:gd name="connsiteX150" fmla="*/ 344264 w 608704"/>
                <a:gd name="connsiteY150" fmla="*/ 139662 h 565088"/>
                <a:gd name="connsiteX151" fmla="*/ 330286 w 608704"/>
                <a:gd name="connsiteY151" fmla="*/ 139662 h 565088"/>
                <a:gd name="connsiteX152" fmla="*/ 371893 w 608704"/>
                <a:gd name="connsiteY152" fmla="*/ 74437 h 565088"/>
                <a:gd name="connsiteX153" fmla="*/ 367793 w 608704"/>
                <a:gd name="connsiteY153" fmla="*/ 55176 h 565088"/>
                <a:gd name="connsiteX154" fmla="*/ 348457 w 608704"/>
                <a:gd name="connsiteY154" fmla="*/ 59456 h 565088"/>
                <a:gd name="connsiteX155" fmla="*/ 306291 w 608704"/>
                <a:gd name="connsiteY155" fmla="*/ 125426 h 565088"/>
                <a:gd name="connsiteX156" fmla="*/ 264125 w 608704"/>
                <a:gd name="connsiteY156" fmla="*/ 59456 h 565088"/>
                <a:gd name="connsiteX157" fmla="*/ 255331 w 608704"/>
                <a:gd name="connsiteY157" fmla="*/ 53303 h 565088"/>
                <a:gd name="connsiteX158" fmla="*/ 304940 w 608704"/>
                <a:gd name="connsiteY158" fmla="*/ 0 h 565088"/>
                <a:gd name="connsiteX159" fmla="*/ 447000 w 608704"/>
                <a:gd name="connsiteY159" fmla="*/ 141895 h 565088"/>
                <a:gd name="connsiteX160" fmla="*/ 304940 w 608704"/>
                <a:gd name="connsiteY160" fmla="*/ 283744 h 565088"/>
                <a:gd name="connsiteX161" fmla="*/ 162833 w 608704"/>
                <a:gd name="connsiteY161" fmla="*/ 141895 h 565088"/>
                <a:gd name="connsiteX162" fmla="*/ 304940 w 608704"/>
                <a:gd name="connsiteY162" fmla="*/ 0 h 56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08704" h="565088">
                  <a:moveTo>
                    <a:pt x="331621" y="496781"/>
                  </a:moveTo>
                  <a:lnTo>
                    <a:pt x="441006" y="496781"/>
                  </a:lnTo>
                  <a:cubicBezTo>
                    <a:pt x="442917" y="496781"/>
                    <a:pt x="444781" y="497060"/>
                    <a:pt x="446506" y="497758"/>
                  </a:cubicBezTo>
                  <a:cubicBezTo>
                    <a:pt x="449815" y="499015"/>
                    <a:pt x="452565" y="501341"/>
                    <a:pt x="454289" y="504273"/>
                  </a:cubicBezTo>
                  <a:cubicBezTo>
                    <a:pt x="455734" y="506646"/>
                    <a:pt x="456526" y="509345"/>
                    <a:pt x="456526" y="512276"/>
                  </a:cubicBezTo>
                  <a:lnTo>
                    <a:pt x="456526" y="517999"/>
                  </a:lnTo>
                  <a:lnTo>
                    <a:pt x="456526" y="549547"/>
                  </a:lnTo>
                  <a:cubicBezTo>
                    <a:pt x="456526" y="558109"/>
                    <a:pt x="449582" y="565088"/>
                    <a:pt x="441006" y="565088"/>
                  </a:cubicBezTo>
                  <a:lnTo>
                    <a:pt x="331621" y="565088"/>
                  </a:lnTo>
                  <a:cubicBezTo>
                    <a:pt x="323046" y="565088"/>
                    <a:pt x="316101" y="558109"/>
                    <a:pt x="316101" y="549547"/>
                  </a:cubicBezTo>
                  <a:lnTo>
                    <a:pt x="316101" y="517627"/>
                  </a:lnTo>
                  <a:lnTo>
                    <a:pt x="316101" y="512276"/>
                  </a:lnTo>
                  <a:cubicBezTo>
                    <a:pt x="316101" y="509251"/>
                    <a:pt x="316940" y="506367"/>
                    <a:pt x="318525" y="503947"/>
                  </a:cubicBezTo>
                  <a:cubicBezTo>
                    <a:pt x="320389" y="501109"/>
                    <a:pt x="323092" y="498875"/>
                    <a:pt x="326401" y="497712"/>
                  </a:cubicBezTo>
                  <a:cubicBezTo>
                    <a:pt x="328032" y="497060"/>
                    <a:pt x="329757" y="496781"/>
                    <a:pt x="331621" y="496781"/>
                  </a:cubicBezTo>
                  <a:close/>
                  <a:moveTo>
                    <a:pt x="166349" y="496640"/>
                  </a:moveTo>
                  <a:lnTo>
                    <a:pt x="275680" y="496640"/>
                  </a:lnTo>
                  <a:cubicBezTo>
                    <a:pt x="277963" y="496640"/>
                    <a:pt x="280152" y="497152"/>
                    <a:pt x="282109" y="498083"/>
                  </a:cubicBezTo>
                  <a:cubicBezTo>
                    <a:pt x="285276" y="499572"/>
                    <a:pt x="287978" y="502038"/>
                    <a:pt x="289515" y="505202"/>
                  </a:cubicBezTo>
                  <a:cubicBezTo>
                    <a:pt x="290587" y="507249"/>
                    <a:pt x="291192" y="509669"/>
                    <a:pt x="291192" y="512181"/>
                  </a:cubicBezTo>
                  <a:lnTo>
                    <a:pt x="291192" y="518928"/>
                  </a:lnTo>
                  <a:lnTo>
                    <a:pt x="291192" y="549453"/>
                  </a:lnTo>
                  <a:cubicBezTo>
                    <a:pt x="291192" y="558014"/>
                    <a:pt x="284251" y="564947"/>
                    <a:pt x="275680" y="564947"/>
                  </a:cubicBezTo>
                  <a:lnTo>
                    <a:pt x="166349" y="564947"/>
                  </a:lnTo>
                  <a:cubicBezTo>
                    <a:pt x="157732" y="564947"/>
                    <a:pt x="150837" y="558014"/>
                    <a:pt x="150884" y="549406"/>
                  </a:cubicBezTo>
                  <a:lnTo>
                    <a:pt x="150884" y="516276"/>
                  </a:lnTo>
                  <a:lnTo>
                    <a:pt x="150884" y="512181"/>
                  </a:lnTo>
                  <a:cubicBezTo>
                    <a:pt x="150884" y="508692"/>
                    <a:pt x="152002" y="505528"/>
                    <a:pt x="153912" y="502922"/>
                  </a:cubicBezTo>
                  <a:cubicBezTo>
                    <a:pt x="155915" y="500270"/>
                    <a:pt x="158756" y="498222"/>
                    <a:pt x="162064" y="497292"/>
                  </a:cubicBezTo>
                  <a:cubicBezTo>
                    <a:pt x="163415" y="496826"/>
                    <a:pt x="164859" y="496640"/>
                    <a:pt x="166349" y="496640"/>
                  </a:cubicBezTo>
                  <a:close/>
                  <a:moveTo>
                    <a:pt x="560321" y="169851"/>
                  </a:moveTo>
                  <a:cubicBezTo>
                    <a:pt x="564653" y="169851"/>
                    <a:pt x="569033" y="171618"/>
                    <a:pt x="572108" y="175247"/>
                  </a:cubicBezTo>
                  <a:cubicBezTo>
                    <a:pt x="650934" y="266843"/>
                    <a:pt x="577884" y="346298"/>
                    <a:pt x="577884" y="346298"/>
                  </a:cubicBezTo>
                  <a:lnTo>
                    <a:pt x="535489" y="388677"/>
                  </a:lnTo>
                  <a:cubicBezTo>
                    <a:pt x="522258" y="401795"/>
                    <a:pt x="508003" y="413890"/>
                    <a:pt x="492862" y="424822"/>
                  </a:cubicBezTo>
                  <a:lnTo>
                    <a:pt x="455964" y="451292"/>
                  </a:lnTo>
                  <a:cubicBezTo>
                    <a:pt x="450373" y="455385"/>
                    <a:pt x="446972" y="461898"/>
                    <a:pt x="446972" y="468876"/>
                  </a:cubicBezTo>
                  <a:lnTo>
                    <a:pt x="446879" y="478645"/>
                  </a:lnTo>
                  <a:cubicBezTo>
                    <a:pt x="445016" y="478366"/>
                    <a:pt x="443059" y="478180"/>
                    <a:pt x="441056" y="478180"/>
                  </a:cubicBezTo>
                  <a:lnTo>
                    <a:pt x="331714" y="478180"/>
                  </a:lnTo>
                  <a:cubicBezTo>
                    <a:pt x="329851" y="478180"/>
                    <a:pt x="328080" y="478273"/>
                    <a:pt x="326263" y="478598"/>
                  </a:cubicBezTo>
                  <a:lnTo>
                    <a:pt x="326263" y="409517"/>
                  </a:lnTo>
                  <a:cubicBezTo>
                    <a:pt x="326263" y="407703"/>
                    <a:pt x="326589" y="405982"/>
                    <a:pt x="327148" y="404307"/>
                  </a:cubicBezTo>
                  <a:cubicBezTo>
                    <a:pt x="350489" y="337599"/>
                    <a:pt x="417063" y="317316"/>
                    <a:pt x="434301" y="313130"/>
                  </a:cubicBezTo>
                  <a:cubicBezTo>
                    <a:pt x="437003" y="312432"/>
                    <a:pt x="439565" y="310990"/>
                    <a:pt x="441568" y="309036"/>
                  </a:cubicBezTo>
                  <a:lnTo>
                    <a:pt x="476136" y="274472"/>
                  </a:lnTo>
                  <a:cubicBezTo>
                    <a:pt x="479211" y="271449"/>
                    <a:pt x="483171" y="269960"/>
                    <a:pt x="487131" y="269960"/>
                  </a:cubicBezTo>
                  <a:cubicBezTo>
                    <a:pt x="491138" y="269960"/>
                    <a:pt x="495098" y="271449"/>
                    <a:pt x="498126" y="274472"/>
                  </a:cubicBezTo>
                  <a:lnTo>
                    <a:pt x="510612" y="286986"/>
                  </a:lnTo>
                  <a:lnTo>
                    <a:pt x="513873" y="290242"/>
                  </a:lnTo>
                  <a:cubicBezTo>
                    <a:pt x="519929" y="296290"/>
                    <a:pt x="519929" y="306105"/>
                    <a:pt x="513873" y="312199"/>
                  </a:cubicBezTo>
                  <a:lnTo>
                    <a:pt x="445948" y="379978"/>
                  </a:lnTo>
                  <a:cubicBezTo>
                    <a:pt x="443525" y="382397"/>
                    <a:pt x="443525" y="386304"/>
                    <a:pt x="445948" y="388723"/>
                  </a:cubicBezTo>
                  <a:lnTo>
                    <a:pt x="447159" y="389886"/>
                  </a:lnTo>
                  <a:cubicBezTo>
                    <a:pt x="448370" y="391096"/>
                    <a:pt x="449954" y="391700"/>
                    <a:pt x="451538" y="391700"/>
                  </a:cubicBezTo>
                  <a:cubicBezTo>
                    <a:pt x="453169" y="391700"/>
                    <a:pt x="454706" y="391142"/>
                    <a:pt x="455964" y="389886"/>
                  </a:cubicBezTo>
                  <a:lnTo>
                    <a:pt x="533626" y="312292"/>
                  </a:lnTo>
                  <a:cubicBezTo>
                    <a:pt x="533626" y="312292"/>
                    <a:pt x="581379" y="266983"/>
                    <a:pt x="533999" y="209345"/>
                  </a:cubicBezTo>
                  <a:cubicBezTo>
                    <a:pt x="528874" y="203205"/>
                    <a:pt x="529386" y="194273"/>
                    <a:pt x="535024" y="188644"/>
                  </a:cubicBezTo>
                  <a:lnTo>
                    <a:pt x="535909" y="187761"/>
                  </a:lnTo>
                  <a:lnTo>
                    <a:pt x="549326" y="174363"/>
                  </a:lnTo>
                  <a:cubicBezTo>
                    <a:pt x="552354" y="171339"/>
                    <a:pt x="556361" y="169851"/>
                    <a:pt x="560321" y="169851"/>
                  </a:cubicBezTo>
                  <a:close/>
                  <a:moveTo>
                    <a:pt x="48337" y="169851"/>
                  </a:moveTo>
                  <a:cubicBezTo>
                    <a:pt x="52297" y="169851"/>
                    <a:pt x="56257" y="171340"/>
                    <a:pt x="59331" y="174364"/>
                  </a:cubicBezTo>
                  <a:lnTo>
                    <a:pt x="72749" y="187763"/>
                  </a:lnTo>
                  <a:lnTo>
                    <a:pt x="73587" y="188647"/>
                  </a:lnTo>
                  <a:cubicBezTo>
                    <a:pt x="79178" y="194231"/>
                    <a:pt x="79690" y="203210"/>
                    <a:pt x="74659" y="209352"/>
                  </a:cubicBezTo>
                  <a:cubicBezTo>
                    <a:pt x="27279" y="266998"/>
                    <a:pt x="75031" y="312361"/>
                    <a:pt x="75031" y="312361"/>
                  </a:cubicBezTo>
                  <a:lnTo>
                    <a:pt x="152601" y="389874"/>
                  </a:lnTo>
                  <a:cubicBezTo>
                    <a:pt x="153859" y="391084"/>
                    <a:pt x="155396" y="391688"/>
                    <a:pt x="157027" y="391688"/>
                  </a:cubicBezTo>
                  <a:cubicBezTo>
                    <a:pt x="158657" y="391688"/>
                    <a:pt x="160195" y="391130"/>
                    <a:pt x="161452" y="389874"/>
                  </a:cubicBezTo>
                  <a:lnTo>
                    <a:pt x="162617" y="388711"/>
                  </a:lnTo>
                  <a:cubicBezTo>
                    <a:pt x="165040" y="386291"/>
                    <a:pt x="165040" y="382383"/>
                    <a:pt x="162617" y="379964"/>
                  </a:cubicBezTo>
                  <a:lnTo>
                    <a:pt x="94738" y="312175"/>
                  </a:lnTo>
                  <a:cubicBezTo>
                    <a:pt x="88635" y="306080"/>
                    <a:pt x="88635" y="296263"/>
                    <a:pt x="94738" y="290214"/>
                  </a:cubicBezTo>
                  <a:lnTo>
                    <a:pt x="97953" y="286958"/>
                  </a:lnTo>
                  <a:lnTo>
                    <a:pt x="110485" y="274442"/>
                  </a:lnTo>
                  <a:cubicBezTo>
                    <a:pt x="113560" y="271418"/>
                    <a:pt x="117520" y="269929"/>
                    <a:pt x="121480" y="269929"/>
                  </a:cubicBezTo>
                  <a:cubicBezTo>
                    <a:pt x="125486" y="269929"/>
                    <a:pt x="129446" y="271418"/>
                    <a:pt x="132474" y="274442"/>
                  </a:cubicBezTo>
                  <a:lnTo>
                    <a:pt x="167136" y="309011"/>
                  </a:lnTo>
                  <a:cubicBezTo>
                    <a:pt x="169139" y="310965"/>
                    <a:pt x="171702" y="312408"/>
                    <a:pt x="174404" y="313105"/>
                  </a:cubicBezTo>
                  <a:cubicBezTo>
                    <a:pt x="191641" y="317293"/>
                    <a:pt x="258216" y="337578"/>
                    <a:pt x="281556" y="404297"/>
                  </a:cubicBezTo>
                  <a:cubicBezTo>
                    <a:pt x="282115" y="405972"/>
                    <a:pt x="282441" y="407740"/>
                    <a:pt x="282441" y="409508"/>
                  </a:cubicBezTo>
                  <a:lnTo>
                    <a:pt x="282441" y="478786"/>
                  </a:lnTo>
                  <a:cubicBezTo>
                    <a:pt x="280252" y="478367"/>
                    <a:pt x="277969" y="478088"/>
                    <a:pt x="275686" y="478088"/>
                  </a:cubicBezTo>
                  <a:lnTo>
                    <a:pt x="166344" y="478088"/>
                  </a:lnTo>
                  <a:cubicBezTo>
                    <a:pt x="164807" y="478088"/>
                    <a:pt x="163316" y="478227"/>
                    <a:pt x="161825" y="478414"/>
                  </a:cubicBezTo>
                  <a:lnTo>
                    <a:pt x="161732" y="468783"/>
                  </a:lnTo>
                  <a:cubicBezTo>
                    <a:pt x="161732" y="461850"/>
                    <a:pt x="158378" y="455290"/>
                    <a:pt x="152741" y="451242"/>
                  </a:cubicBezTo>
                  <a:lnTo>
                    <a:pt x="115842" y="424769"/>
                  </a:lnTo>
                  <a:cubicBezTo>
                    <a:pt x="100701" y="413881"/>
                    <a:pt x="86399" y="401785"/>
                    <a:pt x="73215" y="388711"/>
                  </a:cubicBezTo>
                  <a:lnTo>
                    <a:pt x="30820" y="346325"/>
                  </a:lnTo>
                  <a:cubicBezTo>
                    <a:pt x="30820" y="346325"/>
                    <a:pt x="-42230" y="266858"/>
                    <a:pt x="36596" y="175248"/>
                  </a:cubicBezTo>
                  <a:cubicBezTo>
                    <a:pt x="39625" y="171665"/>
                    <a:pt x="43957" y="169851"/>
                    <a:pt x="48337" y="169851"/>
                  </a:cubicBezTo>
                  <a:close/>
                  <a:moveTo>
                    <a:pt x="101464" y="164593"/>
                  </a:moveTo>
                  <a:cubicBezTo>
                    <a:pt x="105512" y="164564"/>
                    <a:pt x="109566" y="166100"/>
                    <a:pt x="112641" y="169193"/>
                  </a:cubicBezTo>
                  <a:lnTo>
                    <a:pt x="131324" y="188128"/>
                  </a:lnTo>
                  <a:cubicBezTo>
                    <a:pt x="137148" y="194082"/>
                    <a:pt x="137288" y="203573"/>
                    <a:pt x="131557" y="209667"/>
                  </a:cubicBezTo>
                  <a:lnTo>
                    <a:pt x="117486" y="224601"/>
                  </a:lnTo>
                  <a:cubicBezTo>
                    <a:pt x="102483" y="238790"/>
                    <a:pt x="96100" y="252142"/>
                    <a:pt x="94656" y="264005"/>
                  </a:cubicBezTo>
                  <a:lnTo>
                    <a:pt x="81564" y="277078"/>
                  </a:lnTo>
                  <a:cubicBezTo>
                    <a:pt x="79886" y="278799"/>
                    <a:pt x="78395" y="280613"/>
                    <a:pt x="77091" y="282614"/>
                  </a:cubicBezTo>
                  <a:cubicBezTo>
                    <a:pt x="76112" y="280427"/>
                    <a:pt x="75181" y="278055"/>
                    <a:pt x="74435" y="275542"/>
                  </a:cubicBezTo>
                  <a:cubicBezTo>
                    <a:pt x="72105" y="267820"/>
                    <a:pt x="71733" y="259958"/>
                    <a:pt x="73224" y="252188"/>
                  </a:cubicBezTo>
                  <a:cubicBezTo>
                    <a:pt x="75227" y="242047"/>
                    <a:pt x="80492" y="231533"/>
                    <a:pt x="89158" y="221205"/>
                  </a:cubicBezTo>
                  <a:cubicBezTo>
                    <a:pt x="94470" y="214692"/>
                    <a:pt x="97219" y="206364"/>
                    <a:pt x="96799" y="197851"/>
                  </a:cubicBezTo>
                  <a:cubicBezTo>
                    <a:pt x="96287" y="189430"/>
                    <a:pt x="92746" y="181475"/>
                    <a:pt x="86782" y="175520"/>
                  </a:cubicBezTo>
                  <a:lnTo>
                    <a:pt x="85617" y="174357"/>
                  </a:lnTo>
                  <a:lnTo>
                    <a:pt x="90323" y="169379"/>
                  </a:lnTo>
                  <a:cubicBezTo>
                    <a:pt x="93375" y="166216"/>
                    <a:pt x="97417" y="164622"/>
                    <a:pt x="101464" y="164593"/>
                  </a:cubicBezTo>
                  <a:close/>
                  <a:moveTo>
                    <a:pt x="507200" y="164524"/>
                  </a:moveTo>
                  <a:cubicBezTo>
                    <a:pt x="511255" y="164553"/>
                    <a:pt x="515298" y="166147"/>
                    <a:pt x="518327" y="169311"/>
                  </a:cubicBezTo>
                  <a:lnTo>
                    <a:pt x="523035" y="174289"/>
                  </a:lnTo>
                  <a:lnTo>
                    <a:pt x="521870" y="175453"/>
                  </a:lnTo>
                  <a:cubicBezTo>
                    <a:pt x="515904" y="181409"/>
                    <a:pt x="512361" y="189366"/>
                    <a:pt x="511895" y="197788"/>
                  </a:cubicBezTo>
                  <a:cubicBezTo>
                    <a:pt x="511429" y="206210"/>
                    <a:pt x="514133" y="214539"/>
                    <a:pt x="519539" y="221100"/>
                  </a:cubicBezTo>
                  <a:cubicBezTo>
                    <a:pt x="528069" y="231523"/>
                    <a:pt x="533429" y="241946"/>
                    <a:pt x="535387" y="252183"/>
                  </a:cubicBezTo>
                  <a:cubicBezTo>
                    <a:pt x="536971" y="259954"/>
                    <a:pt x="536505" y="267818"/>
                    <a:pt x="534221" y="275542"/>
                  </a:cubicBezTo>
                  <a:cubicBezTo>
                    <a:pt x="533476" y="278055"/>
                    <a:pt x="532543" y="280428"/>
                    <a:pt x="531565" y="282615"/>
                  </a:cubicBezTo>
                  <a:cubicBezTo>
                    <a:pt x="530306" y="280614"/>
                    <a:pt x="528815" y="278799"/>
                    <a:pt x="527090" y="277078"/>
                  </a:cubicBezTo>
                  <a:lnTo>
                    <a:pt x="513946" y="264002"/>
                  </a:lnTo>
                  <a:cubicBezTo>
                    <a:pt x="512548" y="252137"/>
                    <a:pt x="506069" y="238782"/>
                    <a:pt x="491154" y="224590"/>
                  </a:cubicBezTo>
                  <a:lnTo>
                    <a:pt x="477032" y="209653"/>
                  </a:lnTo>
                  <a:cubicBezTo>
                    <a:pt x="471345" y="203558"/>
                    <a:pt x="471438" y="194065"/>
                    <a:pt x="477311" y="188109"/>
                  </a:cubicBezTo>
                  <a:lnTo>
                    <a:pt x="496002" y="169124"/>
                  </a:lnTo>
                  <a:cubicBezTo>
                    <a:pt x="499078" y="166030"/>
                    <a:pt x="503145" y="164495"/>
                    <a:pt x="507200" y="164524"/>
                  </a:cubicBezTo>
                  <a:close/>
                  <a:moveTo>
                    <a:pt x="255331" y="53303"/>
                  </a:moveTo>
                  <a:cubicBezTo>
                    <a:pt x="251836" y="52524"/>
                    <a:pt x="248051" y="53083"/>
                    <a:pt x="244789" y="55176"/>
                  </a:cubicBezTo>
                  <a:cubicBezTo>
                    <a:pt x="238266" y="59317"/>
                    <a:pt x="236356" y="67923"/>
                    <a:pt x="240503" y="74437"/>
                  </a:cubicBezTo>
                  <a:lnTo>
                    <a:pt x="282110" y="139662"/>
                  </a:lnTo>
                  <a:lnTo>
                    <a:pt x="268132" y="139662"/>
                  </a:lnTo>
                  <a:cubicBezTo>
                    <a:pt x="260444" y="139662"/>
                    <a:pt x="254154" y="145896"/>
                    <a:pt x="254154" y="153619"/>
                  </a:cubicBezTo>
                  <a:cubicBezTo>
                    <a:pt x="254154" y="161295"/>
                    <a:pt x="260444" y="167576"/>
                    <a:pt x="268132" y="167576"/>
                  </a:cubicBezTo>
                  <a:lnTo>
                    <a:pt x="292174" y="167576"/>
                  </a:lnTo>
                  <a:lnTo>
                    <a:pt x="292174" y="177346"/>
                  </a:lnTo>
                  <a:lnTo>
                    <a:pt x="268132" y="177346"/>
                  </a:lnTo>
                  <a:cubicBezTo>
                    <a:pt x="260444" y="177346"/>
                    <a:pt x="254154" y="183626"/>
                    <a:pt x="254154" y="191302"/>
                  </a:cubicBezTo>
                  <a:cubicBezTo>
                    <a:pt x="254154" y="199025"/>
                    <a:pt x="260444" y="205259"/>
                    <a:pt x="268132" y="205259"/>
                  </a:cubicBezTo>
                  <a:lnTo>
                    <a:pt x="292174" y="205259"/>
                  </a:lnTo>
                  <a:lnTo>
                    <a:pt x="292174" y="224706"/>
                  </a:lnTo>
                  <a:cubicBezTo>
                    <a:pt x="292174" y="232382"/>
                    <a:pt x="298464" y="238663"/>
                    <a:pt x="306151" y="238663"/>
                  </a:cubicBezTo>
                  <a:cubicBezTo>
                    <a:pt x="313886" y="238663"/>
                    <a:pt x="320129" y="232382"/>
                    <a:pt x="320129" y="224706"/>
                  </a:cubicBezTo>
                  <a:lnTo>
                    <a:pt x="320129" y="205259"/>
                  </a:lnTo>
                  <a:lnTo>
                    <a:pt x="344171" y="205259"/>
                  </a:lnTo>
                  <a:cubicBezTo>
                    <a:pt x="351905" y="205259"/>
                    <a:pt x="358149" y="199025"/>
                    <a:pt x="358149" y="191302"/>
                  </a:cubicBezTo>
                  <a:cubicBezTo>
                    <a:pt x="358149" y="183626"/>
                    <a:pt x="351905" y="177346"/>
                    <a:pt x="344171" y="177346"/>
                  </a:cubicBezTo>
                  <a:lnTo>
                    <a:pt x="320129" y="177346"/>
                  </a:lnTo>
                  <a:lnTo>
                    <a:pt x="320129" y="167576"/>
                  </a:lnTo>
                  <a:lnTo>
                    <a:pt x="344264" y="167576"/>
                  </a:lnTo>
                  <a:cubicBezTo>
                    <a:pt x="351952" y="167576"/>
                    <a:pt x="358242" y="161295"/>
                    <a:pt x="358242" y="153619"/>
                  </a:cubicBezTo>
                  <a:cubicBezTo>
                    <a:pt x="358242" y="145896"/>
                    <a:pt x="351952" y="139662"/>
                    <a:pt x="344264" y="139662"/>
                  </a:cubicBezTo>
                  <a:lnTo>
                    <a:pt x="330286" y="139662"/>
                  </a:lnTo>
                  <a:lnTo>
                    <a:pt x="371893" y="74437"/>
                  </a:lnTo>
                  <a:cubicBezTo>
                    <a:pt x="376040" y="67923"/>
                    <a:pt x="374130" y="59317"/>
                    <a:pt x="367793" y="55176"/>
                  </a:cubicBezTo>
                  <a:cubicBezTo>
                    <a:pt x="361270" y="50989"/>
                    <a:pt x="352651" y="52943"/>
                    <a:pt x="348457" y="59456"/>
                  </a:cubicBezTo>
                  <a:lnTo>
                    <a:pt x="306291" y="125426"/>
                  </a:lnTo>
                  <a:lnTo>
                    <a:pt x="264125" y="59456"/>
                  </a:lnTo>
                  <a:cubicBezTo>
                    <a:pt x="262029" y="56200"/>
                    <a:pt x="258825" y="54083"/>
                    <a:pt x="255331" y="53303"/>
                  </a:cubicBezTo>
                  <a:close/>
                  <a:moveTo>
                    <a:pt x="304940" y="0"/>
                  </a:moveTo>
                  <a:cubicBezTo>
                    <a:pt x="383402" y="0"/>
                    <a:pt x="447000" y="63550"/>
                    <a:pt x="447000" y="141895"/>
                  </a:cubicBezTo>
                  <a:cubicBezTo>
                    <a:pt x="447000" y="220240"/>
                    <a:pt x="383402" y="283744"/>
                    <a:pt x="304940" y="283744"/>
                  </a:cubicBezTo>
                  <a:cubicBezTo>
                    <a:pt x="226478" y="283744"/>
                    <a:pt x="162833" y="220240"/>
                    <a:pt x="162833" y="141895"/>
                  </a:cubicBezTo>
                  <a:cubicBezTo>
                    <a:pt x="162833" y="63550"/>
                    <a:pt x="226478" y="0"/>
                    <a:pt x="3049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1E2AE4FC-34B5-B145-93F7-400FE58FD3CC}"/>
                </a:ext>
              </a:extLst>
            </p:cNvPr>
            <p:cNvGrpSpPr/>
            <p:nvPr/>
          </p:nvGrpSpPr>
          <p:grpSpPr>
            <a:xfrm>
              <a:off x="11550" y="3493"/>
              <a:ext cx="6189" cy="2249"/>
              <a:chOff x="9085" y="2505"/>
              <a:chExt cx="6189" cy="2249"/>
            </a:xfrm>
          </p:grpSpPr>
          <p:sp>
            <p:nvSpPr>
              <p:cNvPr id="46" name="图形">
                <a:extLst>
                  <a:ext uri="{FF2B5EF4-FFF2-40B4-BE49-F238E27FC236}">
                    <a16:creationId xmlns:a16="http://schemas.microsoft.com/office/drawing/2014/main" id="{95491A19-B6E2-1ABF-E617-FB5908E9CC73}"/>
                  </a:ext>
                </a:extLst>
              </p:cNvPr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9085" y="3143"/>
                <a:ext cx="6189" cy="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Logs unmet demand and exact constraint reasons (e.g., certification gaps or short notice) to inform future volunteer recruitment and training strategies.</a:t>
                </a:r>
              </a:p>
            </p:txBody>
          </p:sp>
          <p:sp>
            <p:nvSpPr>
              <p:cNvPr id="47" name="图形">
                <a:extLst>
                  <a:ext uri="{FF2B5EF4-FFF2-40B4-BE49-F238E27FC236}">
                    <a16:creationId xmlns:a16="http://schemas.microsoft.com/office/drawing/2014/main" id="{70F2244C-3FEA-81E9-9B48-25DA24D9F7DF}"/>
                  </a:ext>
                </a:extLst>
              </p:cNvPr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9085" y="2505"/>
                <a:ext cx="6024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Strategic Planning Visibility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D43BFCE-DB46-FF20-05A0-56C895CCE071}"/>
                </a:ext>
              </a:extLst>
            </p:cNvPr>
            <p:cNvGrpSpPr/>
            <p:nvPr/>
          </p:nvGrpSpPr>
          <p:grpSpPr>
            <a:xfrm>
              <a:off x="11550" y="6258"/>
              <a:ext cx="8606" cy="2249"/>
              <a:chOff x="9085" y="2505"/>
              <a:chExt cx="8606" cy="2249"/>
            </a:xfrm>
          </p:grpSpPr>
          <p:sp>
            <p:nvSpPr>
              <p:cNvPr id="49" name="图形">
                <a:extLst>
                  <a:ext uri="{FF2B5EF4-FFF2-40B4-BE49-F238E27FC236}">
                    <a16:creationId xmlns:a16="http://schemas.microsoft.com/office/drawing/2014/main" id="{D873081F-2821-E042-1678-F90E212EE758}"/>
                  </a:ext>
                </a:extLst>
              </p:cNvPr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085" y="3143"/>
                <a:ext cx="6338" cy="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Suggests actionable alternatives when constraints cannot be met and generates context-aware, brand-compliant emails based on Northbridge templates.</a:t>
                </a:r>
                <a:endPara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50" name="图形">
                <a:extLst>
                  <a:ext uri="{FF2B5EF4-FFF2-40B4-BE49-F238E27FC236}">
                    <a16:creationId xmlns:a16="http://schemas.microsoft.com/office/drawing/2014/main" id="{D7D923A5-A8AB-1357-16CF-BF7E6946846C}"/>
                  </a:ext>
                </a:extLst>
              </p:cNvPr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9085" y="2505"/>
                <a:ext cx="8606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Enhanced Reliability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6CB598B-547D-2B0F-AFD7-E70B9300E9D8}"/>
                </a:ext>
              </a:extLst>
            </p:cNvPr>
            <p:cNvGrpSpPr/>
            <p:nvPr/>
          </p:nvGrpSpPr>
          <p:grpSpPr>
            <a:xfrm>
              <a:off x="1072" y="7710"/>
              <a:ext cx="6451" cy="2310"/>
              <a:chOff x="8535" y="2505"/>
              <a:chExt cx="6451" cy="2310"/>
            </a:xfrm>
          </p:grpSpPr>
          <p:sp>
            <p:nvSpPr>
              <p:cNvPr id="52" name="图形">
                <a:extLst>
                  <a:ext uri="{FF2B5EF4-FFF2-40B4-BE49-F238E27FC236}">
                    <a16:creationId xmlns:a16="http://schemas.microsoft.com/office/drawing/2014/main" id="{81E94053-3767-49AC-A0A8-9FC455B878FA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8535" y="3143"/>
                <a:ext cx="6451" cy="1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Automatically tracks weekly hours and prioritizes under-utilized volunteers, actively preventing volunteer burnout.</a:t>
                </a:r>
              </a:p>
            </p:txBody>
          </p:sp>
          <p:sp>
            <p:nvSpPr>
              <p:cNvPr id="53" name="图形">
                <a:extLst>
                  <a:ext uri="{FF2B5EF4-FFF2-40B4-BE49-F238E27FC236}">
                    <a16:creationId xmlns:a16="http://schemas.microsoft.com/office/drawing/2014/main" id="{04CE2E24-AA4A-035F-94A0-4A1A601E397E}"/>
                  </a:ext>
                </a:extLst>
              </p:cNvPr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8535" y="2505"/>
                <a:ext cx="6451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Fairness &amp; Volunteer Retention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10020B8F-2428-C184-5873-4E0044969B19}"/>
                </a:ext>
              </a:extLst>
            </p:cNvPr>
            <p:cNvGrpSpPr/>
            <p:nvPr/>
          </p:nvGrpSpPr>
          <p:grpSpPr>
            <a:xfrm>
              <a:off x="426" y="4472"/>
              <a:ext cx="7097" cy="2758"/>
              <a:chOff x="7889" y="2109"/>
              <a:chExt cx="7097" cy="2758"/>
            </a:xfrm>
          </p:grpSpPr>
          <p:sp>
            <p:nvSpPr>
              <p:cNvPr id="56" name="图形">
                <a:extLst>
                  <a:ext uri="{FF2B5EF4-FFF2-40B4-BE49-F238E27FC236}">
                    <a16:creationId xmlns:a16="http://schemas.microsoft.com/office/drawing/2014/main" id="{DFD54191-2903-90C3-894C-BEB30737C446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889" y="2747"/>
                <a:ext cx="7097" cy="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Eliminates AI "Hallucination Risk." Deterministic code strictly enforces "no-exception" rules </a:t>
                </a: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(e.g., active Background Checks, Food Safety certs) </a:t>
                </a: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to prevent severe safety liabilities before mistakes happen.</a:t>
                </a:r>
              </a:p>
            </p:txBody>
          </p:sp>
          <p:sp>
            <p:nvSpPr>
              <p:cNvPr id="57" name="图形">
                <a:extLst>
                  <a:ext uri="{FF2B5EF4-FFF2-40B4-BE49-F238E27FC236}">
                    <a16:creationId xmlns:a16="http://schemas.microsoft.com/office/drawing/2014/main" id="{A36DCE6C-D1AF-C526-0137-8E151D4793C9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8667" y="2109"/>
                <a:ext cx="6319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Risk Reduction &amp; Compliance</a:t>
                </a: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E0CE65A-CA7B-8027-9D65-D4EC9149ED82}"/>
                </a:ext>
              </a:extLst>
            </p:cNvPr>
            <p:cNvGrpSpPr/>
            <p:nvPr/>
          </p:nvGrpSpPr>
          <p:grpSpPr>
            <a:xfrm>
              <a:off x="658" y="2057"/>
              <a:ext cx="6865" cy="1740"/>
              <a:chOff x="8121" y="2505"/>
              <a:chExt cx="6865" cy="1740"/>
            </a:xfrm>
          </p:grpSpPr>
          <p:sp>
            <p:nvSpPr>
              <p:cNvPr id="60" name="图形">
                <a:extLst>
                  <a:ext uri="{FF2B5EF4-FFF2-40B4-BE49-F238E27FC236}">
                    <a16:creationId xmlns:a16="http://schemas.microsoft.com/office/drawing/2014/main" id="{8F7BFFD7-41DD-9E09-D493-EE6006678B20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121" y="3143"/>
                <a:ext cx="6865" cy="1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Reduces manual coordination time from 30+ minutes of spreadsheet cross-referencing to less than 5 seconds.</a:t>
                </a:r>
              </a:p>
            </p:txBody>
          </p:sp>
          <p:sp>
            <p:nvSpPr>
              <p:cNvPr id="61" name="图形">
                <a:extLst>
                  <a:ext uri="{FF2B5EF4-FFF2-40B4-BE49-F238E27FC236}">
                    <a16:creationId xmlns:a16="http://schemas.microsoft.com/office/drawing/2014/main" id="{BCDD36A2-F448-F061-37AC-D49DF195195B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121" y="2505"/>
                <a:ext cx="6865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Efficiency Gains (Time Savings)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2" name="图形">
            <a:extLst>
              <a:ext uri="{FF2B5EF4-FFF2-40B4-BE49-F238E27FC236}">
                <a16:creationId xmlns:a16="http://schemas.microsoft.com/office/drawing/2014/main" id="{6C551F48-0272-4343-3DC8-A8378AC2F022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5252721" y="1800555"/>
            <a:ext cx="288290" cy="267335"/>
          </a:xfrm>
          <a:custGeom>
            <a:avLst/>
            <a:gdLst>
              <a:gd name="connsiteX0" fmla="*/ 331621 w 608704"/>
              <a:gd name="connsiteY0" fmla="*/ 496781 h 565088"/>
              <a:gd name="connsiteX1" fmla="*/ 441006 w 608704"/>
              <a:gd name="connsiteY1" fmla="*/ 496781 h 565088"/>
              <a:gd name="connsiteX2" fmla="*/ 446506 w 608704"/>
              <a:gd name="connsiteY2" fmla="*/ 497758 h 565088"/>
              <a:gd name="connsiteX3" fmla="*/ 454289 w 608704"/>
              <a:gd name="connsiteY3" fmla="*/ 504273 h 565088"/>
              <a:gd name="connsiteX4" fmla="*/ 456526 w 608704"/>
              <a:gd name="connsiteY4" fmla="*/ 512276 h 565088"/>
              <a:gd name="connsiteX5" fmla="*/ 456526 w 608704"/>
              <a:gd name="connsiteY5" fmla="*/ 517999 h 565088"/>
              <a:gd name="connsiteX6" fmla="*/ 456526 w 608704"/>
              <a:gd name="connsiteY6" fmla="*/ 549547 h 565088"/>
              <a:gd name="connsiteX7" fmla="*/ 441006 w 608704"/>
              <a:gd name="connsiteY7" fmla="*/ 565088 h 565088"/>
              <a:gd name="connsiteX8" fmla="*/ 331621 w 608704"/>
              <a:gd name="connsiteY8" fmla="*/ 565088 h 565088"/>
              <a:gd name="connsiteX9" fmla="*/ 316101 w 608704"/>
              <a:gd name="connsiteY9" fmla="*/ 549547 h 565088"/>
              <a:gd name="connsiteX10" fmla="*/ 316101 w 608704"/>
              <a:gd name="connsiteY10" fmla="*/ 517627 h 565088"/>
              <a:gd name="connsiteX11" fmla="*/ 316101 w 608704"/>
              <a:gd name="connsiteY11" fmla="*/ 512276 h 565088"/>
              <a:gd name="connsiteX12" fmla="*/ 318525 w 608704"/>
              <a:gd name="connsiteY12" fmla="*/ 503947 h 565088"/>
              <a:gd name="connsiteX13" fmla="*/ 326401 w 608704"/>
              <a:gd name="connsiteY13" fmla="*/ 497712 h 565088"/>
              <a:gd name="connsiteX14" fmla="*/ 331621 w 608704"/>
              <a:gd name="connsiteY14" fmla="*/ 496781 h 565088"/>
              <a:gd name="connsiteX15" fmla="*/ 166349 w 608704"/>
              <a:gd name="connsiteY15" fmla="*/ 496640 h 565088"/>
              <a:gd name="connsiteX16" fmla="*/ 275680 w 608704"/>
              <a:gd name="connsiteY16" fmla="*/ 496640 h 565088"/>
              <a:gd name="connsiteX17" fmla="*/ 282109 w 608704"/>
              <a:gd name="connsiteY17" fmla="*/ 498083 h 565088"/>
              <a:gd name="connsiteX18" fmla="*/ 289515 w 608704"/>
              <a:gd name="connsiteY18" fmla="*/ 505202 h 565088"/>
              <a:gd name="connsiteX19" fmla="*/ 291192 w 608704"/>
              <a:gd name="connsiteY19" fmla="*/ 512181 h 565088"/>
              <a:gd name="connsiteX20" fmla="*/ 291192 w 608704"/>
              <a:gd name="connsiteY20" fmla="*/ 518928 h 565088"/>
              <a:gd name="connsiteX21" fmla="*/ 291192 w 608704"/>
              <a:gd name="connsiteY21" fmla="*/ 549453 h 565088"/>
              <a:gd name="connsiteX22" fmla="*/ 275680 w 608704"/>
              <a:gd name="connsiteY22" fmla="*/ 564947 h 565088"/>
              <a:gd name="connsiteX23" fmla="*/ 166349 w 608704"/>
              <a:gd name="connsiteY23" fmla="*/ 564947 h 565088"/>
              <a:gd name="connsiteX24" fmla="*/ 150884 w 608704"/>
              <a:gd name="connsiteY24" fmla="*/ 549406 h 565088"/>
              <a:gd name="connsiteX25" fmla="*/ 150884 w 608704"/>
              <a:gd name="connsiteY25" fmla="*/ 516276 h 565088"/>
              <a:gd name="connsiteX26" fmla="*/ 150884 w 608704"/>
              <a:gd name="connsiteY26" fmla="*/ 512181 h 565088"/>
              <a:gd name="connsiteX27" fmla="*/ 153912 w 608704"/>
              <a:gd name="connsiteY27" fmla="*/ 502922 h 565088"/>
              <a:gd name="connsiteX28" fmla="*/ 162064 w 608704"/>
              <a:gd name="connsiteY28" fmla="*/ 497292 h 565088"/>
              <a:gd name="connsiteX29" fmla="*/ 166349 w 608704"/>
              <a:gd name="connsiteY29" fmla="*/ 496640 h 565088"/>
              <a:gd name="connsiteX30" fmla="*/ 560321 w 608704"/>
              <a:gd name="connsiteY30" fmla="*/ 169851 h 565088"/>
              <a:gd name="connsiteX31" fmla="*/ 572108 w 608704"/>
              <a:gd name="connsiteY31" fmla="*/ 175247 h 565088"/>
              <a:gd name="connsiteX32" fmla="*/ 577884 w 608704"/>
              <a:gd name="connsiteY32" fmla="*/ 346298 h 565088"/>
              <a:gd name="connsiteX33" fmla="*/ 535489 w 608704"/>
              <a:gd name="connsiteY33" fmla="*/ 388677 h 565088"/>
              <a:gd name="connsiteX34" fmla="*/ 492862 w 608704"/>
              <a:gd name="connsiteY34" fmla="*/ 424822 h 565088"/>
              <a:gd name="connsiteX35" fmla="*/ 455964 w 608704"/>
              <a:gd name="connsiteY35" fmla="*/ 451292 h 565088"/>
              <a:gd name="connsiteX36" fmla="*/ 446972 w 608704"/>
              <a:gd name="connsiteY36" fmla="*/ 468876 h 565088"/>
              <a:gd name="connsiteX37" fmla="*/ 446879 w 608704"/>
              <a:gd name="connsiteY37" fmla="*/ 478645 h 565088"/>
              <a:gd name="connsiteX38" fmla="*/ 441056 w 608704"/>
              <a:gd name="connsiteY38" fmla="*/ 478180 h 565088"/>
              <a:gd name="connsiteX39" fmla="*/ 331714 w 608704"/>
              <a:gd name="connsiteY39" fmla="*/ 478180 h 565088"/>
              <a:gd name="connsiteX40" fmla="*/ 326263 w 608704"/>
              <a:gd name="connsiteY40" fmla="*/ 478598 h 565088"/>
              <a:gd name="connsiteX41" fmla="*/ 326263 w 608704"/>
              <a:gd name="connsiteY41" fmla="*/ 409517 h 565088"/>
              <a:gd name="connsiteX42" fmla="*/ 327148 w 608704"/>
              <a:gd name="connsiteY42" fmla="*/ 404307 h 565088"/>
              <a:gd name="connsiteX43" fmla="*/ 434301 w 608704"/>
              <a:gd name="connsiteY43" fmla="*/ 313130 h 565088"/>
              <a:gd name="connsiteX44" fmla="*/ 441568 w 608704"/>
              <a:gd name="connsiteY44" fmla="*/ 309036 h 565088"/>
              <a:gd name="connsiteX45" fmla="*/ 476136 w 608704"/>
              <a:gd name="connsiteY45" fmla="*/ 274472 h 565088"/>
              <a:gd name="connsiteX46" fmla="*/ 487131 w 608704"/>
              <a:gd name="connsiteY46" fmla="*/ 269960 h 565088"/>
              <a:gd name="connsiteX47" fmla="*/ 498126 w 608704"/>
              <a:gd name="connsiteY47" fmla="*/ 274472 h 565088"/>
              <a:gd name="connsiteX48" fmla="*/ 510612 w 608704"/>
              <a:gd name="connsiteY48" fmla="*/ 286986 h 565088"/>
              <a:gd name="connsiteX49" fmla="*/ 513873 w 608704"/>
              <a:gd name="connsiteY49" fmla="*/ 290242 h 565088"/>
              <a:gd name="connsiteX50" fmla="*/ 513873 w 608704"/>
              <a:gd name="connsiteY50" fmla="*/ 312199 h 565088"/>
              <a:gd name="connsiteX51" fmla="*/ 445948 w 608704"/>
              <a:gd name="connsiteY51" fmla="*/ 379978 h 565088"/>
              <a:gd name="connsiteX52" fmla="*/ 445948 w 608704"/>
              <a:gd name="connsiteY52" fmla="*/ 388723 h 565088"/>
              <a:gd name="connsiteX53" fmla="*/ 447159 w 608704"/>
              <a:gd name="connsiteY53" fmla="*/ 389886 h 565088"/>
              <a:gd name="connsiteX54" fmla="*/ 451538 w 608704"/>
              <a:gd name="connsiteY54" fmla="*/ 391700 h 565088"/>
              <a:gd name="connsiteX55" fmla="*/ 455964 w 608704"/>
              <a:gd name="connsiteY55" fmla="*/ 389886 h 565088"/>
              <a:gd name="connsiteX56" fmla="*/ 533626 w 608704"/>
              <a:gd name="connsiteY56" fmla="*/ 312292 h 565088"/>
              <a:gd name="connsiteX57" fmla="*/ 533999 w 608704"/>
              <a:gd name="connsiteY57" fmla="*/ 209345 h 565088"/>
              <a:gd name="connsiteX58" fmla="*/ 535024 w 608704"/>
              <a:gd name="connsiteY58" fmla="*/ 188644 h 565088"/>
              <a:gd name="connsiteX59" fmla="*/ 535909 w 608704"/>
              <a:gd name="connsiteY59" fmla="*/ 187761 h 565088"/>
              <a:gd name="connsiteX60" fmla="*/ 549326 w 608704"/>
              <a:gd name="connsiteY60" fmla="*/ 174363 h 565088"/>
              <a:gd name="connsiteX61" fmla="*/ 560321 w 608704"/>
              <a:gd name="connsiteY61" fmla="*/ 169851 h 565088"/>
              <a:gd name="connsiteX62" fmla="*/ 48337 w 608704"/>
              <a:gd name="connsiteY62" fmla="*/ 169851 h 565088"/>
              <a:gd name="connsiteX63" fmla="*/ 59331 w 608704"/>
              <a:gd name="connsiteY63" fmla="*/ 174364 h 565088"/>
              <a:gd name="connsiteX64" fmla="*/ 72749 w 608704"/>
              <a:gd name="connsiteY64" fmla="*/ 187763 h 565088"/>
              <a:gd name="connsiteX65" fmla="*/ 73587 w 608704"/>
              <a:gd name="connsiteY65" fmla="*/ 188647 h 565088"/>
              <a:gd name="connsiteX66" fmla="*/ 74659 w 608704"/>
              <a:gd name="connsiteY66" fmla="*/ 209352 h 565088"/>
              <a:gd name="connsiteX67" fmla="*/ 75031 w 608704"/>
              <a:gd name="connsiteY67" fmla="*/ 312361 h 565088"/>
              <a:gd name="connsiteX68" fmla="*/ 152601 w 608704"/>
              <a:gd name="connsiteY68" fmla="*/ 389874 h 565088"/>
              <a:gd name="connsiteX69" fmla="*/ 157027 w 608704"/>
              <a:gd name="connsiteY69" fmla="*/ 391688 h 565088"/>
              <a:gd name="connsiteX70" fmla="*/ 161452 w 608704"/>
              <a:gd name="connsiteY70" fmla="*/ 389874 h 565088"/>
              <a:gd name="connsiteX71" fmla="*/ 162617 w 608704"/>
              <a:gd name="connsiteY71" fmla="*/ 388711 h 565088"/>
              <a:gd name="connsiteX72" fmla="*/ 162617 w 608704"/>
              <a:gd name="connsiteY72" fmla="*/ 379964 h 565088"/>
              <a:gd name="connsiteX73" fmla="*/ 94738 w 608704"/>
              <a:gd name="connsiteY73" fmla="*/ 312175 h 565088"/>
              <a:gd name="connsiteX74" fmla="*/ 94738 w 608704"/>
              <a:gd name="connsiteY74" fmla="*/ 290214 h 565088"/>
              <a:gd name="connsiteX75" fmla="*/ 97953 w 608704"/>
              <a:gd name="connsiteY75" fmla="*/ 286958 h 565088"/>
              <a:gd name="connsiteX76" fmla="*/ 110485 w 608704"/>
              <a:gd name="connsiteY76" fmla="*/ 274442 h 565088"/>
              <a:gd name="connsiteX77" fmla="*/ 121480 w 608704"/>
              <a:gd name="connsiteY77" fmla="*/ 269929 h 565088"/>
              <a:gd name="connsiteX78" fmla="*/ 132474 w 608704"/>
              <a:gd name="connsiteY78" fmla="*/ 274442 h 565088"/>
              <a:gd name="connsiteX79" fmla="*/ 167136 w 608704"/>
              <a:gd name="connsiteY79" fmla="*/ 309011 h 565088"/>
              <a:gd name="connsiteX80" fmla="*/ 174404 w 608704"/>
              <a:gd name="connsiteY80" fmla="*/ 313105 h 565088"/>
              <a:gd name="connsiteX81" fmla="*/ 281556 w 608704"/>
              <a:gd name="connsiteY81" fmla="*/ 404297 h 565088"/>
              <a:gd name="connsiteX82" fmla="*/ 282441 w 608704"/>
              <a:gd name="connsiteY82" fmla="*/ 409508 h 565088"/>
              <a:gd name="connsiteX83" fmla="*/ 282441 w 608704"/>
              <a:gd name="connsiteY83" fmla="*/ 478786 h 565088"/>
              <a:gd name="connsiteX84" fmla="*/ 275686 w 608704"/>
              <a:gd name="connsiteY84" fmla="*/ 478088 h 565088"/>
              <a:gd name="connsiteX85" fmla="*/ 166344 w 608704"/>
              <a:gd name="connsiteY85" fmla="*/ 478088 h 565088"/>
              <a:gd name="connsiteX86" fmla="*/ 161825 w 608704"/>
              <a:gd name="connsiteY86" fmla="*/ 478414 h 565088"/>
              <a:gd name="connsiteX87" fmla="*/ 161732 w 608704"/>
              <a:gd name="connsiteY87" fmla="*/ 468783 h 565088"/>
              <a:gd name="connsiteX88" fmla="*/ 152741 w 608704"/>
              <a:gd name="connsiteY88" fmla="*/ 451242 h 565088"/>
              <a:gd name="connsiteX89" fmla="*/ 115842 w 608704"/>
              <a:gd name="connsiteY89" fmla="*/ 424769 h 565088"/>
              <a:gd name="connsiteX90" fmla="*/ 73215 w 608704"/>
              <a:gd name="connsiteY90" fmla="*/ 388711 h 565088"/>
              <a:gd name="connsiteX91" fmla="*/ 30820 w 608704"/>
              <a:gd name="connsiteY91" fmla="*/ 346325 h 565088"/>
              <a:gd name="connsiteX92" fmla="*/ 36596 w 608704"/>
              <a:gd name="connsiteY92" fmla="*/ 175248 h 565088"/>
              <a:gd name="connsiteX93" fmla="*/ 48337 w 608704"/>
              <a:gd name="connsiteY93" fmla="*/ 169851 h 565088"/>
              <a:gd name="connsiteX94" fmla="*/ 101464 w 608704"/>
              <a:gd name="connsiteY94" fmla="*/ 164593 h 565088"/>
              <a:gd name="connsiteX95" fmla="*/ 112641 w 608704"/>
              <a:gd name="connsiteY95" fmla="*/ 169193 h 565088"/>
              <a:gd name="connsiteX96" fmla="*/ 131324 w 608704"/>
              <a:gd name="connsiteY96" fmla="*/ 188128 h 565088"/>
              <a:gd name="connsiteX97" fmla="*/ 131557 w 608704"/>
              <a:gd name="connsiteY97" fmla="*/ 209667 h 565088"/>
              <a:gd name="connsiteX98" fmla="*/ 117486 w 608704"/>
              <a:gd name="connsiteY98" fmla="*/ 224601 h 565088"/>
              <a:gd name="connsiteX99" fmla="*/ 94656 w 608704"/>
              <a:gd name="connsiteY99" fmla="*/ 264005 h 565088"/>
              <a:gd name="connsiteX100" fmla="*/ 81564 w 608704"/>
              <a:gd name="connsiteY100" fmla="*/ 277078 h 565088"/>
              <a:gd name="connsiteX101" fmla="*/ 77091 w 608704"/>
              <a:gd name="connsiteY101" fmla="*/ 282614 h 565088"/>
              <a:gd name="connsiteX102" fmla="*/ 74435 w 608704"/>
              <a:gd name="connsiteY102" fmla="*/ 275542 h 565088"/>
              <a:gd name="connsiteX103" fmla="*/ 73224 w 608704"/>
              <a:gd name="connsiteY103" fmla="*/ 252188 h 565088"/>
              <a:gd name="connsiteX104" fmla="*/ 89158 w 608704"/>
              <a:gd name="connsiteY104" fmla="*/ 221205 h 565088"/>
              <a:gd name="connsiteX105" fmla="*/ 96799 w 608704"/>
              <a:gd name="connsiteY105" fmla="*/ 197851 h 565088"/>
              <a:gd name="connsiteX106" fmla="*/ 86782 w 608704"/>
              <a:gd name="connsiteY106" fmla="*/ 175520 h 565088"/>
              <a:gd name="connsiteX107" fmla="*/ 85617 w 608704"/>
              <a:gd name="connsiteY107" fmla="*/ 174357 h 565088"/>
              <a:gd name="connsiteX108" fmla="*/ 90323 w 608704"/>
              <a:gd name="connsiteY108" fmla="*/ 169379 h 565088"/>
              <a:gd name="connsiteX109" fmla="*/ 101464 w 608704"/>
              <a:gd name="connsiteY109" fmla="*/ 164593 h 565088"/>
              <a:gd name="connsiteX110" fmla="*/ 507200 w 608704"/>
              <a:gd name="connsiteY110" fmla="*/ 164524 h 565088"/>
              <a:gd name="connsiteX111" fmla="*/ 518327 w 608704"/>
              <a:gd name="connsiteY111" fmla="*/ 169311 h 565088"/>
              <a:gd name="connsiteX112" fmla="*/ 523035 w 608704"/>
              <a:gd name="connsiteY112" fmla="*/ 174289 h 565088"/>
              <a:gd name="connsiteX113" fmla="*/ 521870 w 608704"/>
              <a:gd name="connsiteY113" fmla="*/ 175453 h 565088"/>
              <a:gd name="connsiteX114" fmla="*/ 511895 w 608704"/>
              <a:gd name="connsiteY114" fmla="*/ 197788 h 565088"/>
              <a:gd name="connsiteX115" fmla="*/ 519539 w 608704"/>
              <a:gd name="connsiteY115" fmla="*/ 221100 h 565088"/>
              <a:gd name="connsiteX116" fmla="*/ 535387 w 608704"/>
              <a:gd name="connsiteY116" fmla="*/ 252183 h 565088"/>
              <a:gd name="connsiteX117" fmla="*/ 534221 w 608704"/>
              <a:gd name="connsiteY117" fmla="*/ 275542 h 565088"/>
              <a:gd name="connsiteX118" fmla="*/ 531565 w 608704"/>
              <a:gd name="connsiteY118" fmla="*/ 282615 h 565088"/>
              <a:gd name="connsiteX119" fmla="*/ 527090 w 608704"/>
              <a:gd name="connsiteY119" fmla="*/ 277078 h 565088"/>
              <a:gd name="connsiteX120" fmla="*/ 513946 w 608704"/>
              <a:gd name="connsiteY120" fmla="*/ 264002 h 565088"/>
              <a:gd name="connsiteX121" fmla="*/ 491154 w 608704"/>
              <a:gd name="connsiteY121" fmla="*/ 224590 h 565088"/>
              <a:gd name="connsiteX122" fmla="*/ 477032 w 608704"/>
              <a:gd name="connsiteY122" fmla="*/ 209653 h 565088"/>
              <a:gd name="connsiteX123" fmla="*/ 477311 w 608704"/>
              <a:gd name="connsiteY123" fmla="*/ 188109 h 565088"/>
              <a:gd name="connsiteX124" fmla="*/ 496002 w 608704"/>
              <a:gd name="connsiteY124" fmla="*/ 169124 h 565088"/>
              <a:gd name="connsiteX125" fmla="*/ 507200 w 608704"/>
              <a:gd name="connsiteY125" fmla="*/ 164524 h 565088"/>
              <a:gd name="connsiteX126" fmla="*/ 255331 w 608704"/>
              <a:gd name="connsiteY126" fmla="*/ 53303 h 565088"/>
              <a:gd name="connsiteX127" fmla="*/ 244789 w 608704"/>
              <a:gd name="connsiteY127" fmla="*/ 55176 h 565088"/>
              <a:gd name="connsiteX128" fmla="*/ 240503 w 608704"/>
              <a:gd name="connsiteY128" fmla="*/ 74437 h 565088"/>
              <a:gd name="connsiteX129" fmla="*/ 282110 w 608704"/>
              <a:gd name="connsiteY129" fmla="*/ 139662 h 565088"/>
              <a:gd name="connsiteX130" fmla="*/ 268132 w 608704"/>
              <a:gd name="connsiteY130" fmla="*/ 139662 h 565088"/>
              <a:gd name="connsiteX131" fmla="*/ 254154 w 608704"/>
              <a:gd name="connsiteY131" fmla="*/ 153619 h 565088"/>
              <a:gd name="connsiteX132" fmla="*/ 268132 w 608704"/>
              <a:gd name="connsiteY132" fmla="*/ 167576 h 565088"/>
              <a:gd name="connsiteX133" fmla="*/ 292174 w 608704"/>
              <a:gd name="connsiteY133" fmla="*/ 167576 h 565088"/>
              <a:gd name="connsiteX134" fmla="*/ 292174 w 608704"/>
              <a:gd name="connsiteY134" fmla="*/ 177346 h 565088"/>
              <a:gd name="connsiteX135" fmla="*/ 268132 w 608704"/>
              <a:gd name="connsiteY135" fmla="*/ 177346 h 565088"/>
              <a:gd name="connsiteX136" fmla="*/ 254154 w 608704"/>
              <a:gd name="connsiteY136" fmla="*/ 191302 h 565088"/>
              <a:gd name="connsiteX137" fmla="*/ 268132 w 608704"/>
              <a:gd name="connsiteY137" fmla="*/ 205259 h 565088"/>
              <a:gd name="connsiteX138" fmla="*/ 292174 w 608704"/>
              <a:gd name="connsiteY138" fmla="*/ 205259 h 565088"/>
              <a:gd name="connsiteX139" fmla="*/ 292174 w 608704"/>
              <a:gd name="connsiteY139" fmla="*/ 224706 h 565088"/>
              <a:gd name="connsiteX140" fmla="*/ 306151 w 608704"/>
              <a:gd name="connsiteY140" fmla="*/ 238663 h 565088"/>
              <a:gd name="connsiteX141" fmla="*/ 320129 w 608704"/>
              <a:gd name="connsiteY141" fmla="*/ 224706 h 565088"/>
              <a:gd name="connsiteX142" fmla="*/ 320129 w 608704"/>
              <a:gd name="connsiteY142" fmla="*/ 205259 h 565088"/>
              <a:gd name="connsiteX143" fmla="*/ 344171 w 608704"/>
              <a:gd name="connsiteY143" fmla="*/ 205259 h 565088"/>
              <a:gd name="connsiteX144" fmla="*/ 358149 w 608704"/>
              <a:gd name="connsiteY144" fmla="*/ 191302 h 565088"/>
              <a:gd name="connsiteX145" fmla="*/ 344171 w 608704"/>
              <a:gd name="connsiteY145" fmla="*/ 177346 h 565088"/>
              <a:gd name="connsiteX146" fmla="*/ 320129 w 608704"/>
              <a:gd name="connsiteY146" fmla="*/ 177346 h 565088"/>
              <a:gd name="connsiteX147" fmla="*/ 320129 w 608704"/>
              <a:gd name="connsiteY147" fmla="*/ 167576 h 565088"/>
              <a:gd name="connsiteX148" fmla="*/ 344264 w 608704"/>
              <a:gd name="connsiteY148" fmla="*/ 167576 h 565088"/>
              <a:gd name="connsiteX149" fmla="*/ 358242 w 608704"/>
              <a:gd name="connsiteY149" fmla="*/ 153619 h 565088"/>
              <a:gd name="connsiteX150" fmla="*/ 344264 w 608704"/>
              <a:gd name="connsiteY150" fmla="*/ 139662 h 565088"/>
              <a:gd name="connsiteX151" fmla="*/ 330286 w 608704"/>
              <a:gd name="connsiteY151" fmla="*/ 139662 h 565088"/>
              <a:gd name="connsiteX152" fmla="*/ 371893 w 608704"/>
              <a:gd name="connsiteY152" fmla="*/ 74437 h 565088"/>
              <a:gd name="connsiteX153" fmla="*/ 367793 w 608704"/>
              <a:gd name="connsiteY153" fmla="*/ 55176 h 565088"/>
              <a:gd name="connsiteX154" fmla="*/ 348457 w 608704"/>
              <a:gd name="connsiteY154" fmla="*/ 59456 h 565088"/>
              <a:gd name="connsiteX155" fmla="*/ 306291 w 608704"/>
              <a:gd name="connsiteY155" fmla="*/ 125426 h 565088"/>
              <a:gd name="connsiteX156" fmla="*/ 264125 w 608704"/>
              <a:gd name="connsiteY156" fmla="*/ 59456 h 565088"/>
              <a:gd name="connsiteX157" fmla="*/ 255331 w 608704"/>
              <a:gd name="connsiteY157" fmla="*/ 53303 h 565088"/>
              <a:gd name="connsiteX158" fmla="*/ 304940 w 608704"/>
              <a:gd name="connsiteY158" fmla="*/ 0 h 565088"/>
              <a:gd name="connsiteX159" fmla="*/ 447000 w 608704"/>
              <a:gd name="connsiteY159" fmla="*/ 141895 h 565088"/>
              <a:gd name="connsiteX160" fmla="*/ 304940 w 608704"/>
              <a:gd name="connsiteY160" fmla="*/ 283744 h 565088"/>
              <a:gd name="connsiteX161" fmla="*/ 162833 w 608704"/>
              <a:gd name="connsiteY161" fmla="*/ 141895 h 565088"/>
              <a:gd name="connsiteX162" fmla="*/ 304940 w 608704"/>
              <a:gd name="connsiteY162" fmla="*/ 0 h 565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08704" h="565088">
                <a:moveTo>
                  <a:pt x="331621" y="496781"/>
                </a:moveTo>
                <a:lnTo>
                  <a:pt x="441006" y="496781"/>
                </a:lnTo>
                <a:cubicBezTo>
                  <a:pt x="442917" y="496781"/>
                  <a:pt x="444781" y="497060"/>
                  <a:pt x="446506" y="497758"/>
                </a:cubicBezTo>
                <a:cubicBezTo>
                  <a:pt x="449815" y="499015"/>
                  <a:pt x="452565" y="501341"/>
                  <a:pt x="454289" y="504273"/>
                </a:cubicBezTo>
                <a:cubicBezTo>
                  <a:pt x="455734" y="506646"/>
                  <a:pt x="456526" y="509345"/>
                  <a:pt x="456526" y="512276"/>
                </a:cubicBezTo>
                <a:lnTo>
                  <a:pt x="456526" y="517999"/>
                </a:lnTo>
                <a:lnTo>
                  <a:pt x="456526" y="549547"/>
                </a:lnTo>
                <a:cubicBezTo>
                  <a:pt x="456526" y="558109"/>
                  <a:pt x="449582" y="565088"/>
                  <a:pt x="441006" y="565088"/>
                </a:cubicBezTo>
                <a:lnTo>
                  <a:pt x="331621" y="565088"/>
                </a:lnTo>
                <a:cubicBezTo>
                  <a:pt x="323046" y="565088"/>
                  <a:pt x="316101" y="558109"/>
                  <a:pt x="316101" y="549547"/>
                </a:cubicBezTo>
                <a:lnTo>
                  <a:pt x="316101" y="517627"/>
                </a:lnTo>
                <a:lnTo>
                  <a:pt x="316101" y="512276"/>
                </a:lnTo>
                <a:cubicBezTo>
                  <a:pt x="316101" y="509251"/>
                  <a:pt x="316940" y="506367"/>
                  <a:pt x="318525" y="503947"/>
                </a:cubicBezTo>
                <a:cubicBezTo>
                  <a:pt x="320389" y="501109"/>
                  <a:pt x="323092" y="498875"/>
                  <a:pt x="326401" y="497712"/>
                </a:cubicBezTo>
                <a:cubicBezTo>
                  <a:pt x="328032" y="497060"/>
                  <a:pt x="329757" y="496781"/>
                  <a:pt x="331621" y="496781"/>
                </a:cubicBezTo>
                <a:close/>
                <a:moveTo>
                  <a:pt x="166349" y="496640"/>
                </a:moveTo>
                <a:lnTo>
                  <a:pt x="275680" y="496640"/>
                </a:lnTo>
                <a:cubicBezTo>
                  <a:pt x="277963" y="496640"/>
                  <a:pt x="280152" y="497152"/>
                  <a:pt x="282109" y="498083"/>
                </a:cubicBezTo>
                <a:cubicBezTo>
                  <a:pt x="285276" y="499572"/>
                  <a:pt x="287978" y="502038"/>
                  <a:pt x="289515" y="505202"/>
                </a:cubicBezTo>
                <a:cubicBezTo>
                  <a:pt x="290587" y="507249"/>
                  <a:pt x="291192" y="509669"/>
                  <a:pt x="291192" y="512181"/>
                </a:cubicBezTo>
                <a:lnTo>
                  <a:pt x="291192" y="518928"/>
                </a:lnTo>
                <a:lnTo>
                  <a:pt x="291192" y="549453"/>
                </a:lnTo>
                <a:cubicBezTo>
                  <a:pt x="291192" y="558014"/>
                  <a:pt x="284251" y="564947"/>
                  <a:pt x="275680" y="564947"/>
                </a:cubicBezTo>
                <a:lnTo>
                  <a:pt x="166349" y="564947"/>
                </a:lnTo>
                <a:cubicBezTo>
                  <a:pt x="157732" y="564947"/>
                  <a:pt x="150837" y="558014"/>
                  <a:pt x="150884" y="549406"/>
                </a:cubicBezTo>
                <a:lnTo>
                  <a:pt x="150884" y="516276"/>
                </a:lnTo>
                <a:lnTo>
                  <a:pt x="150884" y="512181"/>
                </a:lnTo>
                <a:cubicBezTo>
                  <a:pt x="150884" y="508692"/>
                  <a:pt x="152002" y="505528"/>
                  <a:pt x="153912" y="502922"/>
                </a:cubicBezTo>
                <a:cubicBezTo>
                  <a:pt x="155915" y="500270"/>
                  <a:pt x="158756" y="498222"/>
                  <a:pt x="162064" y="497292"/>
                </a:cubicBezTo>
                <a:cubicBezTo>
                  <a:pt x="163415" y="496826"/>
                  <a:pt x="164859" y="496640"/>
                  <a:pt x="166349" y="496640"/>
                </a:cubicBezTo>
                <a:close/>
                <a:moveTo>
                  <a:pt x="560321" y="169851"/>
                </a:moveTo>
                <a:cubicBezTo>
                  <a:pt x="564653" y="169851"/>
                  <a:pt x="569033" y="171618"/>
                  <a:pt x="572108" y="175247"/>
                </a:cubicBezTo>
                <a:cubicBezTo>
                  <a:pt x="650934" y="266843"/>
                  <a:pt x="577884" y="346298"/>
                  <a:pt x="577884" y="346298"/>
                </a:cubicBezTo>
                <a:lnTo>
                  <a:pt x="535489" y="388677"/>
                </a:lnTo>
                <a:cubicBezTo>
                  <a:pt x="522258" y="401795"/>
                  <a:pt x="508003" y="413890"/>
                  <a:pt x="492862" y="424822"/>
                </a:cubicBezTo>
                <a:lnTo>
                  <a:pt x="455964" y="451292"/>
                </a:lnTo>
                <a:cubicBezTo>
                  <a:pt x="450373" y="455385"/>
                  <a:pt x="446972" y="461898"/>
                  <a:pt x="446972" y="468876"/>
                </a:cubicBezTo>
                <a:lnTo>
                  <a:pt x="446879" y="478645"/>
                </a:lnTo>
                <a:cubicBezTo>
                  <a:pt x="445016" y="478366"/>
                  <a:pt x="443059" y="478180"/>
                  <a:pt x="441056" y="478180"/>
                </a:cubicBezTo>
                <a:lnTo>
                  <a:pt x="331714" y="478180"/>
                </a:lnTo>
                <a:cubicBezTo>
                  <a:pt x="329851" y="478180"/>
                  <a:pt x="328080" y="478273"/>
                  <a:pt x="326263" y="478598"/>
                </a:cubicBezTo>
                <a:lnTo>
                  <a:pt x="326263" y="409517"/>
                </a:lnTo>
                <a:cubicBezTo>
                  <a:pt x="326263" y="407703"/>
                  <a:pt x="326589" y="405982"/>
                  <a:pt x="327148" y="404307"/>
                </a:cubicBezTo>
                <a:cubicBezTo>
                  <a:pt x="350489" y="337599"/>
                  <a:pt x="417063" y="317316"/>
                  <a:pt x="434301" y="313130"/>
                </a:cubicBezTo>
                <a:cubicBezTo>
                  <a:pt x="437003" y="312432"/>
                  <a:pt x="439565" y="310990"/>
                  <a:pt x="441568" y="309036"/>
                </a:cubicBezTo>
                <a:lnTo>
                  <a:pt x="476136" y="274472"/>
                </a:lnTo>
                <a:cubicBezTo>
                  <a:pt x="479211" y="271449"/>
                  <a:pt x="483171" y="269960"/>
                  <a:pt x="487131" y="269960"/>
                </a:cubicBezTo>
                <a:cubicBezTo>
                  <a:pt x="491138" y="269960"/>
                  <a:pt x="495098" y="271449"/>
                  <a:pt x="498126" y="274472"/>
                </a:cubicBezTo>
                <a:lnTo>
                  <a:pt x="510612" y="286986"/>
                </a:lnTo>
                <a:lnTo>
                  <a:pt x="513873" y="290242"/>
                </a:lnTo>
                <a:cubicBezTo>
                  <a:pt x="519929" y="296290"/>
                  <a:pt x="519929" y="306105"/>
                  <a:pt x="513873" y="312199"/>
                </a:cubicBezTo>
                <a:lnTo>
                  <a:pt x="445948" y="379978"/>
                </a:lnTo>
                <a:cubicBezTo>
                  <a:pt x="443525" y="382397"/>
                  <a:pt x="443525" y="386304"/>
                  <a:pt x="445948" y="388723"/>
                </a:cubicBezTo>
                <a:lnTo>
                  <a:pt x="447159" y="389886"/>
                </a:lnTo>
                <a:cubicBezTo>
                  <a:pt x="448370" y="391096"/>
                  <a:pt x="449954" y="391700"/>
                  <a:pt x="451538" y="391700"/>
                </a:cubicBezTo>
                <a:cubicBezTo>
                  <a:pt x="453169" y="391700"/>
                  <a:pt x="454706" y="391142"/>
                  <a:pt x="455964" y="389886"/>
                </a:cubicBezTo>
                <a:lnTo>
                  <a:pt x="533626" y="312292"/>
                </a:lnTo>
                <a:cubicBezTo>
                  <a:pt x="533626" y="312292"/>
                  <a:pt x="581379" y="266983"/>
                  <a:pt x="533999" y="209345"/>
                </a:cubicBezTo>
                <a:cubicBezTo>
                  <a:pt x="528874" y="203205"/>
                  <a:pt x="529386" y="194273"/>
                  <a:pt x="535024" y="188644"/>
                </a:cubicBezTo>
                <a:lnTo>
                  <a:pt x="535909" y="187761"/>
                </a:lnTo>
                <a:lnTo>
                  <a:pt x="549326" y="174363"/>
                </a:lnTo>
                <a:cubicBezTo>
                  <a:pt x="552354" y="171339"/>
                  <a:pt x="556361" y="169851"/>
                  <a:pt x="560321" y="169851"/>
                </a:cubicBezTo>
                <a:close/>
                <a:moveTo>
                  <a:pt x="48337" y="169851"/>
                </a:moveTo>
                <a:cubicBezTo>
                  <a:pt x="52297" y="169851"/>
                  <a:pt x="56257" y="171340"/>
                  <a:pt x="59331" y="174364"/>
                </a:cubicBezTo>
                <a:lnTo>
                  <a:pt x="72749" y="187763"/>
                </a:lnTo>
                <a:lnTo>
                  <a:pt x="73587" y="188647"/>
                </a:lnTo>
                <a:cubicBezTo>
                  <a:pt x="79178" y="194231"/>
                  <a:pt x="79690" y="203210"/>
                  <a:pt x="74659" y="209352"/>
                </a:cubicBezTo>
                <a:cubicBezTo>
                  <a:pt x="27279" y="266998"/>
                  <a:pt x="75031" y="312361"/>
                  <a:pt x="75031" y="312361"/>
                </a:cubicBezTo>
                <a:lnTo>
                  <a:pt x="152601" y="389874"/>
                </a:lnTo>
                <a:cubicBezTo>
                  <a:pt x="153859" y="391084"/>
                  <a:pt x="155396" y="391688"/>
                  <a:pt x="157027" y="391688"/>
                </a:cubicBezTo>
                <a:cubicBezTo>
                  <a:pt x="158657" y="391688"/>
                  <a:pt x="160195" y="391130"/>
                  <a:pt x="161452" y="389874"/>
                </a:cubicBezTo>
                <a:lnTo>
                  <a:pt x="162617" y="388711"/>
                </a:lnTo>
                <a:cubicBezTo>
                  <a:pt x="165040" y="386291"/>
                  <a:pt x="165040" y="382383"/>
                  <a:pt x="162617" y="379964"/>
                </a:cubicBezTo>
                <a:lnTo>
                  <a:pt x="94738" y="312175"/>
                </a:lnTo>
                <a:cubicBezTo>
                  <a:pt x="88635" y="306080"/>
                  <a:pt x="88635" y="296263"/>
                  <a:pt x="94738" y="290214"/>
                </a:cubicBezTo>
                <a:lnTo>
                  <a:pt x="97953" y="286958"/>
                </a:lnTo>
                <a:lnTo>
                  <a:pt x="110485" y="274442"/>
                </a:lnTo>
                <a:cubicBezTo>
                  <a:pt x="113560" y="271418"/>
                  <a:pt x="117520" y="269929"/>
                  <a:pt x="121480" y="269929"/>
                </a:cubicBezTo>
                <a:cubicBezTo>
                  <a:pt x="125486" y="269929"/>
                  <a:pt x="129446" y="271418"/>
                  <a:pt x="132474" y="274442"/>
                </a:cubicBezTo>
                <a:lnTo>
                  <a:pt x="167136" y="309011"/>
                </a:lnTo>
                <a:cubicBezTo>
                  <a:pt x="169139" y="310965"/>
                  <a:pt x="171702" y="312408"/>
                  <a:pt x="174404" y="313105"/>
                </a:cubicBezTo>
                <a:cubicBezTo>
                  <a:pt x="191641" y="317293"/>
                  <a:pt x="258216" y="337578"/>
                  <a:pt x="281556" y="404297"/>
                </a:cubicBezTo>
                <a:cubicBezTo>
                  <a:pt x="282115" y="405972"/>
                  <a:pt x="282441" y="407740"/>
                  <a:pt x="282441" y="409508"/>
                </a:cubicBezTo>
                <a:lnTo>
                  <a:pt x="282441" y="478786"/>
                </a:lnTo>
                <a:cubicBezTo>
                  <a:pt x="280252" y="478367"/>
                  <a:pt x="277969" y="478088"/>
                  <a:pt x="275686" y="478088"/>
                </a:cubicBezTo>
                <a:lnTo>
                  <a:pt x="166344" y="478088"/>
                </a:lnTo>
                <a:cubicBezTo>
                  <a:pt x="164807" y="478088"/>
                  <a:pt x="163316" y="478227"/>
                  <a:pt x="161825" y="478414"/>
                </a:cubicBezTo>
                <a:lnTo>
                  <a:pt x="161732" y="468783"/>
                </a:lnTo>
                <a:cubicBezTo>
                  <a:pt x="161732" y="461850"/>
                  <a:pt x="158378" y="455290"/>
                  <a:pt x="152741" y="451242"/>
                </a:cubicBezTo>
                <a:lnTo>
                  <a:pt x="115842" y="424769"/>
                </a:lnTo>
                <a:cubicBezTo>
                  <a:pt x="100701" y="413881"/>
                  <a:pt x="86399" y="401785"/>
                  <a:pt x="73215" y="388711"/>
                </a:cubicBezTo>
                <a:lnTo>
                  <a:pt x="30820" y="346325"/>
                </a:lnTo>
                <a:cubicBezTo>
                  <a:pt x="30820" y="346325"/>
                  <a:pt x="-42230" y="266858"/>
                  <a:pt x="36596" y="175248"/>
                </a:cubicBezTo>
                <a:cubicBezTo>
                  <a:pt x="39625" y="171665"/>
                  <a:pt x="43957" y="169851"/>
                  <a:pt x="48337" y="169851"/>
                </a:cubicBezTo>
                <a:close/>
                <a:moveTo>
                  <a:pt x="101464" y="164593"/>
                </a:moveTo>
                <a:cubicBezTo>
                  <a:pt x="105512" y="164564"/>
                  <a:pt x="109566" y="166100"/>
                  <a:pt x="112641" y="169193"/>
                </a:cubicBezTo>
                <a:lnTo>
                  <a:pt x="131324" y="188128"/>
                </a:lnTo>
                <a:cubicBezTo>
                  <a:pt x="137148" y="194082"/>
                  <a:pt x="137288" y="203573"/>
                  <a:pt x="131557" y="209667"/>
                </a:cubicBezTo>
                <a:lnTo>
                  <a:pt x="117486" y="224601"/>
                </a:lnTo>
                <a:cubicBezTo>
                  <a:pt x="102483" y="238790"/>
                  <a:pt x="96100" y="252142"/>
                  <a:pt x="94656" y="264005"/>
                </a:cubicBezTo>
                <a:lnTo>
                  <a:pt x="81564" y="277078"/>
                </a:lnTo>
                <a:cubicBezTo>
                  <a:pt x="79886" y="278799"/>
                  <a:pt x="78395" y="280613"/>
                  <a:pt x="77091" y="282614"/>
                </a:cubicBezTo>
                <a:cubicBezTo>
                  <a:pt x="76112" y="280427"/>
                  <a:pt x="75181" y="278055"/>
                  <a:pt x="74435" y="275542"/>
                </a:cubicBezTo>
                <a:cubicBezTo>
                  <a:pt x="72105" y="267820"/>
                  <a:pt x="71733" y="259958"/>
                  <a:pt x="73224" y="252188"/>
                </a:cubicBezTo>
                <a:cubicBezTo>
                  <a:pt x="75227" y="242047"/>
                  <a:pt x="80492" y="231533"/>
                  <a:pt x="89158" y="221205"/>
                </a:cubicBezTo>
                <a:cubicBezTo>
                  <a:pt x="94470" y="214692"/>
                  <a:pt x="97219" y="206364"/>
                  <a:pt x="96799" y="197851"/>
                </a:cubicBezTo>
                <a:cubicBezTo>
                  <a:pt x="96287" y="189430"/>
                  <a:pt x="92746" y="181475"/>
                  <a:pt x="86782" y="175520"/>
                </a:cubicBezTo>
                <a:lnTo>
                  <a:pt x="85617" y="174357"/>
                </a:lnTo>
                <a:lnTo>
                  <a:pt x="90323" y="169379"/>
                </a:lnTo>
                <a:cubicBezTo>
                  <a:pt x="93375" y="166216"/>
                  <a:pt x="97417" y="164622"/>
                  <a:pt x="101464" y="164593"/>
                </a:cubicBezTo>
                <a:close/>
                <a:moveTo>
                  <a:pt x="507200" y="164524"/>
                </a:moveTo>
                <a:cubicBezTo>
                  <a:pt x="511255" y="164553"/>
                  <a:pt x="515298" y="166147"/>
                  <a:pt x="518327" y="169311"/>
                </a:cubicBezTo>
                <a:lnTo>
                  <a:pt x="523035" y="174289"/>
                </a:lnTo>
                <a:lnTo>
                  <a:pt x="521870" y="175453"/>
                </a:lnTo>
                <a:cubicBezTo>
                  <a:pt x="515904" y="181409"/>
                  <a:pt x="512361" y="189366"/>
                  <a:pt x="511895" y="197788"/>
                </a:cubicBezTo>
                <a:cubicBezTo>
                  <a:pt x="511429" y="206210"/>
                  <a:pt x="514133" y="214539"/>
                  <a:pt x="519539" y="221100"/>
                </a:cubicBezTo>
                <a:cubicBezTo>
                  <a:pt x="528069" y="231523"/>
                  <a:pt x="533429" y="241946"/>
                  <a:pt x="535387" y="252183"/>
                </a:cubicBezTo>
                <a:cubicBezTo>
                  <a:pt x="536971" y="259954"/>
                  <a:pt x="536505" y="267818"/>
                  <a:pt x="534221" y="275542"/>
                </a:cubicBezTo>
                <a:cubicBezTo>
                  <a:pt x="533476" y="278055"/>
                  <a:pt x="532543" y="280428"/>
                  <a:pt x="531565" y="282615"/>
                </a:cubicBezTo>
                <a:cubicBezTo>
                  <a:pt x="530306" y="280614"/>
                  <a:pt x="528815" y="278799"/>
                  <a:pt x="527090" y="277078"/>
                </a:cubicBezTo>
                <a:lnTo>
                  <a:pt x="513946" y="264002"/>
                </a:lnTo>
                <a:cubicBezTo>
                  <a:pt x="512548" y="252137"/>
                  <a:pt x="506069" y="238782"/>
                  <a:pt x="491154" y="224590"/>
                </a:cubicBezTo>
                <a:lnTo>
                  <a:pt x="477032" y="209653"/>
                </a:lnTo>
                <a:cubicBezTo>
                  <a:pt x="471345" y="203558"/>
                  <a:pt x="471438" y="194065"/>
                  <a:pt x="477311" y="188109"/>
                </a:cubicBezTo>
                <a:lnTo>
                  <a:pt x="496002" y="169124"/>
                </a:lnTo>
                <a:cubicBezTo>
                  <a:pt x="499078" y="166030"/>
                  <a:pt x="503145" y="164495"/>
                  <a:pt x="507200" y="164524"/>
                </a:cubicBezTo>
                <a:close/>
                <a:moveTo>
                  <a:pt x="255331" y="53303"/>
                </a:moveTo>
                <a:cubicBezTo>
                  <a:pt x="251836" y="52524"/>
                  <a:pt x="248051" y="53083"/>
                  <a:pt x="244789" y="55176"/>
                </a:cubicBezTo>
                <a:cubicBezTo>
                  <a:pt x="238266" y="59317"/>
                  <a:pt x="236356" y="67923"/>
                  <a:pt x="240503" y="74437"/>
                </a:cubicBezTo>
                <a:lnTo>
                  <a:pt x="282110" y="139662"/>
                </a:lnTo>
                <a:lnTo>
                  <a:pt x="268132" y="139662"/>
                </a:lnTo>
                <a:cubicBezTo>
                  <a:pt x="260444" y="139662"/>
                  <a:pt x="254154" y="145896"/>
                  <a:pt x="254154" y="153619"/>
                </a:cubicBezTo>
                <a:cubicBezTo>
                  <a:pt x="254154" y="161295"/>
                  <a:pt x="260444" y="167576"/>
                  <a:pt x="268132" y="167576"/>
                </a:cubicBezTo>
                <a:lnTo>
                  <a:pt x="292174" y="167576"/>
                </a:lnTo>
                <a:lnTo>
                  <a:pt x="292174" y="177346"/>
                </a:lnTo>
                <a:lnTo>
                  <a:pt x="268132" y="177346"/>
                </a:lnTo>
                <a:cubicBezTo>
                  <a:pt x="260444" y="177346"/>
                  <a:pt x="254154" y="183626"/>
                  <a:pt x="254154" y="191302"/>
                </a:cubicBezTo>
                <a:cubicBezTo>
                  <a:pt x="254154" y="199025"/>
                  <a:pt x="260444" y="205259"/>
                  <a:pt x="268132" y="205259"/>
                </a:cubicBezTo>
                <a:lnTo>
                  <a:pt x="292174" y="205259"/>
                </a:lnTo>
                <a:lnTo>
                  <a:pt x="292174" y="224706"/>
                </a:lnTo>
                <a:cubicBezTo>
                  <a:pt x="292174" y="232382"/>
                  <a:pt x="298464" y="238663"/>
                  <a:pt x="306151" y="238663"/>
                </a:cubicBezTo>
                <a:cubicBezTo>
                  <a:pt x="313886" y="238663"/>
                  <a:pt x="320129" y="232382"/>
                  <a:pt x="320129" y="224706"/>
                </a:cubicBezTo>
                <a:lnTo>
                  <a:pt x="320129" y="205259"/>
                </a:lnTo>
                <a:lnTo>
                  <a:pt x="344171" y="205259"/>
                </a:lnTo>
                <a:cubicBezTo>
                  <a:pt x="351905" y="205259"/>
                  <a:pt x="358149" y="199025"/>
                  <a:pt x="358149" y="191302"/>
                </a:cubicBezTo>
                <a:cubicBezTo>
                  <a:pt x="358149" y="183626"/>
                  <a:pt x="351905" y="177346"/>
                  <a:pt x="344171" y="177346"/>
                </a:cubicBezTo>
                <a:lnTo>
                  <a:pt x="320129" y="177346"/>
                </a:lnTo>
                <a:lnTo>
                  <a:pt x="320129" y="167576"/>
                </a:lnTo>
                <a:lnTo>
                  <a:pt x="344264" y="167576"/>
                </a:lnTo>
                <a:cubicBezTo>
                  <a:pt x="351952" y="167576"/>
                  <a:pt x="358242" y="161295"/>
                  <a:pt x="358242" y="153619"/>
                </a:cubicBezTo>
                <a:cubicBezTo>
                  <a:pt x="358242" y="145896"/>
                  <a:pt x="351952" y="139662"/>
                  <a:pt x="344264" y="139662"/>
                </a:cubicBezTo>
                <a:lnTo>
                  <a:pt x="330286" y="139662"/>
                </a:lnTo>
                <a:lnTo>
                  <a:pt x="371893" y="74437"/>
                </a:lnTo>
                <a:cubicBezTo>
                  <a:pt x="376040" y="67923"/>
                  <a:pt x="374130" y="59317"/>
                  <a:pt x="367793" y="55176"/>
                </a:cubicBezTo>
                <a:cubicBezTo>
                  <a:pt x="361270" y="50989"/>
                  <a:pt x="352651" y="52943"/>
                  <a:pt x="348457" y="59456"/>
                </a:cubicBezTo>
                <a:lnTo>
                  <a:pt x="306291" y="125426"/>
                </a:lnTo>
                <a:lnTo>
                  <a:pt x="264125" y="59456"/>
                </a:lnTo>
                <a:cubicBezTo>
                  <a:pt x="262029" y="56200"/>
                  <a:pt x="258825" y="54083"/>
                  <a:pt x="255331" y="53303"/>
                </a:cubicBezTo>
                <a:close/>
                <a:moveTo>
                  <a:pt x="304940" y="0"/>
                </a:moveTo>
                <a:cubicBezTo>
                  <a:pt x="383402" y="0"/>
                  <a:pt x="447000" y="63550"/>
                  <a:pt x="447000" y="141895"/>
                </a:cubicBezTo>
                <a:cubicBezTo>
                  <a:pt x="447000" y="220240"/>
                  <a:pt x="383402" y="283744"/>
                  <a:pt x="304940" y="283744"/>
                </a:cubicBezTo>
                <a:cubicBezTo>
                  <a:pt x="226478" y="283744"/>
                  <a:pt x="162833" y="220240"/>
                  <a:pt x="162833" y="141895"/>
                </a:cubicBezTo>
                <a:cubicBezTo>
                  <a:pt x="162833" y="63550"/>
                  <a:pt x="226478" y="0"/>
                  <a:pt x="3049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4297855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286E-3890-18E9-1FA9-F9726156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E8B68C1A-5FAB-740C-A35B-9B111C942E49}"/>
              </a:ext>
            </a:extLst>
          </p:cNvPr>
          <p:cNvGrpSpPr/>
          <p:nvPr/>
        </p:nvGrpSpPr>
        <p:grpSpPr>
          <a:xfrm>
            <a:off x="3094989" y="239395"/>
            <a:ext cx="6001386" cy="584835"/>
            <a:chOff x="4784" y="377"/>
            <a:chExt cx="9451" cy="921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7DCED30A-8A08-F8BF-D88D-69C88DCCB1B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559" y="377"/>
              <a:ext cx="7901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Application Architecture</a:t>
              </a: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7EF56DAC-4EC0-6740-150D-0CDCBB7C5BC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3845" y="711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B4211B14-7E23-AF4C-EB90-05187A039B0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784" y="711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5" name="图形">
            <a:extLst>
              <a:ext uri="{FF2B5EF4-FFF2-40B4-BE49-F238E27FC236}">
                <a16:creationId xmlns:a16="http://schemas.microsoft.com/office/drawing/2014/main" id="{7B3D37E2-8F92-CD81-3784-90D432F45C0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792648" y="2389308"/>
            <a:ext cx="2442210" cy="2713355"/>
          </a:xfrm>
          <a:custGeom>
            <a:avLst/>
            <a:gdLst>
              <a:gd name="connsiteX0" fmla="*/ 1747492 w 3931892"/>
              <a:gd name="connsiteY0" fmla="*/ 0 h 4368800"/>
              <a:gd name="connsiteX1" fmla="*/ 3931892 w 3931892"/>
              <a:gd name="connsiteY1" fmla="*/ 2184400 h 4368800"/>
              <a:gd name="connsiteX2" fmla="*/ 1747492 w 3931892"/>
              <a:gd name="connsiteY2" fmla="*/ 4368800 h 4368800"/>
              <a:gd name="connsiteX3" fmla="*/ 61903 w 3931892"/>
              <a:gd name="connsiteY3" fmla="*/ 3573881 h 4368800"/>
              <a:gd name="connsiteX4" fmla="*/ 0 w 3931892"/>
              <a:gd name="connsiteY4" fmla="*/ 3491100 h 4368800"/>
              <a:gd name="connsiteX5" fmla="*/ 0 w 3931892"/>
              <a:gd name="connsiteY5" fmla="*/ 877700 h 4368800"/>
              <a:gd name="connsiteX6" fmla="*/ 61903 w 3931892"/>
              <a:gd name="connsiteY6" fmla="*/ 794919 h 4368800"/>
              <a:gd name="connsiteX7" fmla="*/ 1747492 w 3931892"/>
              <a:gd name="connsiteY7" fmla="*/ 0 h 436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1892" h="4368800">
                <a:moveTo>
                  <a:pt x="1747492" y="0"/>
                </a:moveTo>
                <a:cubicBezTo>
                  <a:pt x="2953903" y="0"/>
                  <a:pt x="3931892" y="977989"/>
                  <a:pt x="3931892" y="2184400"/>
                </a:cubicBezTo>
                <a:cubicBezTo>
                  <a:pt x="3931892" y="3390811"/>
                  <a:pt x="2953903" y="4368800"/>
                  <a:pt x="1747492" y="4368800"/>
                </a:cubicBezTo>
                <a:cubicBezTo>
                  <a:pt x="1068886" y="4368800"/>
                  <a:pt x="462554" y="4059358"/>
                  <a:pt x="61903" y="3573881"/>
                </a:cubicBezTo>
                <a:lnTo>
                  <a:pt x="0" y="3491100"/>
                </a:lnTo>
                <a:lnTo>
                  <a:pt x="0" y="877700"/>
                </a:lnTo>
                <a:lnTo>
                  <a:pt x="61903" y="794919"/>
                </a:lnTo>
                <a:cubicBezTo>
                  <a:pt x="462554" y="309442"/>
                  <a:pt x="1068886" y="0"/>
                  <a:pt x="1747492" y="0"/>
                </a:cubicBezTo>
                <a:close/>
              </a:path>
            </a:pathLst>
          </a:custGeom>
        </p:spPr>
      </p:pic>
      <p:pic>
        <p:nvPicPr>
          <p:cNvPr id="6" name="图形">
            <a:extLst>
              <a:ext uri="{FF2B5EF4-FFF2-40B4-BE49-F238E27FC236}">
                <a16:creationId xmlns:a16="http://schemas.microsoft.com/office/drawing/2014/main" id="{D2EC2188-1394-7DD0-B165-BFD39EFE1E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3301338" y="2768467"/>
            <a:ext cx="1346107" cy="1957705"/>
          </a:xfrm>
          <a:custGeom>
            <a:avLst/>
            <a:gdLst>
              <a:gd name="connsiteX0" fmla="*/ 1826988 w 1826988"/>
              <a:gd name="connsiteY0" fmla="*/ 0 h 3151680"/>
              <a:gd name="connsiteX1" fmla="*/ 1826988 w 1826988"/>
              <a:gd name="connsiteY1" fmla="*/ 3151680 h 3151680"/>
              <a:gd name="connsiteX2" fmla="*/ 0 w 1826988"/>
              <a:gd name="connsiteY2" fmla="*/ 2285764 h 3151680"/>
              <a:gd name="connsiteX3" fmla="*/ 1280 w 1826988"/>
              <a:gd name="connsiteY3" fmla="*/ 2151422 h 3151680"/>
              <a:gd name="connsiteX4" fmla="*/ 42707 w 1826988"/>
              <a:gd name="connsiteY4" fmla="*/ 1990304 h 3151680"/>
              <a:gd name="connsiteX5" fmla="*/ 87086 w 1826988"/>
              <a:gd name="connsiteY5" fmla="*/ 1550071 h 3151680"/>
              <a:gd name="connsiteX6" fmla="*/ 42707 w 1826988"/>
              <a:gd name="connsiteY6" fmla="*/ 1109838 h 3151680"/>
              <a:gd name="connsiteX7" fmla="*/ 12325 w 1826988"/>
              <a:gd name="connsiteY7" fmla="*/ 991679 h 3151680"/>
              <a:gd name="connsiteX8" fmla="*/ 14515 w 1826988"/>
              <a:gd name="connsiteY8" fmla="*/ 761764 h 3151680"/>
              <a:gd name="connsiteX9" fmla="*/ 1826988 w 1826988"/>
              <a:gd name="connsiteY9" fmla="*/ 0 h 31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6988" h="3151680">
                <a:moveTo>
                  <a:pt x="1826988" y="0"/>
                </a:moveTo>
                <a:lnTo>
                  <a:pt x="1826988" y="3151680"/>
                </a:lnTo>
                <a:lnTo>
                  <a:pt x="0" y="2285764"/>
                </a:lnTo>
                <a:lnTo>
                  <a:pt x="1280" y="2151422"/>
                </a:lnTo>
                <a:lnTo>
                  <a:pt x="42707" y="1990304"/>
                </a:lnTo>
                <a:cubicBezTo>
                  <a:pt x="71805" y="1848105"/>
                  <a:pt x="87086" y="1700873"/>
                  <a:pt x="87086" y="1550071"/>
                </a:cubicBezTo>
                <a:cubicBezTo>
                  <a:pt x="87086" y="1399270"/>
                  <a:pt x="71805" y="1252038"/>
                  <a:pt x="42707" y="1109838"/>
                </a:cubicBezTo>
                <a:lnTo>
                  <a:pt x="12325" y="991679"/>
                </a:lnTo>
                <a:lnTo>
                  <a:pt x="14515" y="761764"/>
                </a:lnTo>
                <a:lnTo>
                  <a:pt x="1826988" y="0"/>
                </a:lnTo>
                <a:close/>
              </a:path>
            </a:pathLst>
          </a:custGeom>
        </p:spPr>
      </p:pic>
      <p:pic>
        <p:nvPicPr>
          <p:cNvPr id="7" name="图形">
            <a:extLst>
              <a:ext uri="{FF2B5EF4-FFF2-40B4-BE49-F238E27FC236}">
                <a16:creationId xmlns:a16="http://schemas.microsoft.com/office/drawing/2014/main" id="{756E45CB-23BA-D145-E3E1-3350B1B0940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2525050" y="1552312"/>
            <a:ext cx="1882775" cy="1783080"/>
          </a:xfrm>
          <a:custGeom>
            <a:avLst/>
            <a:gdLst>
              <a:gd name="connsiteX0" fmla="*/ 0 w 3031673"/>
              <a:gd name="connsiteY0" fmla="*/ 0 h 2870608"/>
              <a:gd name="connsiteX1" fmla="*/ 3031673 w 3031673"/>
              <a:gd name="connsiteY1" fmla="*/ 0 h 2870608"/>
              <a:gd name="connsiteX2" fmla="*/ 3031673 w 3031673"/>
              <a:gd name="connsiteY2" fmla="*/ 1878929 h 2870608"/>
              <a:gd name="connsiteX3" fmla="*/ 1219200 w 3031673"/>
              <a:gd name="connsiteY3" fmla="*/ 2640693 h 2870608"/>
              <a:gd name="connsiteX4" fmla="*/ 1217010 w 3031673"/>
              <a:gd name="connsiteY4" fmla="*/ 2870608 h 2870608"/>
              <a:gd name="connsiteX5" fmla="*/ 1193565 w 3031673"/>
              <a:gd name="connsiteY5" fmla="*/ 2779426 h 2870608"/>
              <a:gd name="connsiteX6" fmla="*/ 125288 w 3031673"/>
              <a:gd name="connsiteY6" fmla="*/ 1495772 h 2870608"/>
              <a:gd name="connsiteX7" fmla="*/ 0 w 3031673"/>
              <a:gd name="connsiteY7" fmla="*/ 1435882 h 287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1673" h="2870608">
                <a:moveTo>
                  <a:pt x="0" y="0"/>
                </a:moveTo>
                <a:lnTo>
                  <a:pt x="3031673" y="0"/>
                </a:lnTo>
                <a:lnTo>
                  <a:pt x="3031673" y="1878929"/>
                </a:lnTo>
                <a:lnTo>
                  <a:pt x="1219200" y="2640693"/>
                </a:lnTo>
                <a:lnTo>
                  <a:pt x="1217010" y="2870608"/>
                </a:lnTo>
                <a:lnTo>
                  <a:pt x="1193565" y="2779426"/>
                </a:lnTo>
                <a:cubicBezTo>
                  <a:pt x="1020709" y="2223676"/>
                  <a:pt x="631898" y="1763072"/>
                  <a:pt x="125288" y="1495772"/>
                </a:cubicBezTo>
                <a:lnTo>
                  <a:pt x="0" y="1435882"/>
                </a:lnTo>
                <a:close/>
              </a:path>
            </a:pathLst>
          </a:custGeom>
        </p:spPr>
      </p:pic>
      <p:pic>
        <p:nvPicPr>
          <p:cNvPr id="8" name="图形">
            <a:extLst>
              <a:ext uri="{FF2B5EF4-FFF2-40B4-BE49-F238E27FC236}">
                <a16:creationId xmlns:a16="http://schemas.microsoft.com/office/drawing/2014/main" id="{08F09829-FDDA-1B3E-E0FD-E5055C8D9FD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2525050" y="4161527"/>
            <a:ext cx="1882775" cy="1756410"/>
          </a:xfrm>
          <a:custGeom>
            <a:avLst/>
            <a:gdLst>
              <a:gd name="connsiteX0" fmla="*/ 1205965 w 3031673"/>
              <a:gd name="connsiteY0" fmla="*/ 0 h 2827649"/>
              <a:gd name="connsiteX1" fmla="*/ 1204685 w 3031673"/>
              <a:gd name="connsiteY1" fmla="*/ 134342 h 2827649"/>
              <a:gd name="connsiteX2" fmla="*/ 3031673 w 3031673"/>
              <a:gd name="connsiteY2" fmla="*/ 1000258 h 2827649"/>
              <a:gd name="connsiteX3" fmla="*/ 3031673 w 3031673"/>
              <a:gd name="connsiteY3" fmla="*/ 2827649 h 2827649"/>
              <a:gd name="connsiteX4" fmla="*/ 0 w 3031673"/>
              <a:gd name="connsiteY4" fmla="*/ 2827649 h 2827649"/>
              <a:gd name="connsiteX5" fmla="*/ 0 w 3031673"/>
              <a:gd name="connsiteY5" fmla="*/ 1391767 h 2827649"/>
              <a:gd name="connsiteX6" fmla="*/ 125288 w 3031673"/>
              <a:gd name="connsiteY6" fmla="*/ 1331878 h 2827649"/>
              <a:gd name="connsiteX7" fmla="*/ 1193565 w 3031673"/>
              <a:gd name="connsiteY7" fmla="*/ 48223 h 2827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1673" h="2827649">
                <a:moveTo>
                  <a:pt x="1205965" y="0"/>
                </a:moveTo>
                <a:lnTo>
                  <a:pt x="1204685" y="134342"/>
                </a:lnTo>
                <a:lnTo>
                  <a:pt x="3031673" y="1000258"/>
                </a:lnTo>
                <a:lnTo>
                  <a:pt x="3031673" y="2827649"/>
                </a:lnTo>
                <a:lnTo>
                  <a:pt x="0" y="2827649"/>
                </a:lnTo>
                <a:lnTo>
                  <a:pt x="0" y="1391767"/>
                </a:lnTo>
                <a:lnTo>
                  <a:pt x="125288" y="1331878"/>
                </a:lnTo>
                <a:cubicBezTo>
                  <a:pt x="631898" y="1064577"/>
                  <a:pt x="1020709" y="603973"/>
                  <a:pt x="1193565" y="48223"/>
                </a:cubicBezTo>
                <a:close/>
              </a:path>
            </a:pathLst>
          </a:custGeom>
        </p:spPr>
      </p:pic>
      <p:sp>
        <p:nvSpPr>
          <p:cNvPr id="9" name="图形">
            <a:extLst>
              <a:ext uri="{FF2B5EF4-FFF2-40B4-BE49-F238E27FC236}">
                <a16:creationId xmlns:a16="http://schemas.microsoft.com/office/drawing/2014/main" id="{A0CFDF69-70E5-1225-E7CC-06360D2F793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615034" y="2229857"/>
            <a:ext cx="117348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Stage 1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图形">
            <a:extLst>
              <a:ext uri="{FF2B5EF4-FFF2-40B4-BE49-F238E27FC236}">
                <a16:creationId xmlns:a16="http://schemas.microsoft.com/office/drawing/2014/main" id="{E2A498CB-D9A7-793C-E00F-D4F7D08C3A3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199298" y="3533916"/>
            <a:ext cx="117348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Stage 2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413F5E54-D021-633C-7E49-54A5D25B5E0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630778" y="4841197"/>
            <a:ext cx="117348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Stage 3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0" name="图形">
            <a:extLst>
              <a:ext uri="{FF2B5EF4-FFF2-40B4-BE49-F238E27FC236}">
                <a16:creationId xmlns:a16="http://schemas.microsoft.com/office/drawing/2014/main" id="{2B57A303-FC8B-9768-ADA8-C65635264205}"/>
              </a:ext>
            </a:extLst>
          </p:cNvPr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1260425" y="3363015"/>
            <a:ext cx="723265" cy="723900"/>
          </a:xfrm>
          <a:custGeom>
            <a:avLst/>
            <a:gdLst>
              <a:gd name="T0" fmla="*/ 2047 w 2867"/>
              <a:gd name="T1" fmla="*/ 0 h 2868"/>
              <a:gd name="T2" fmla="*/ 2150 w 2867"/>
              <a:gd name="T3" fmla="*/ 103 h 2868"/>
              <a:gd name="T4" fmla="*/ 2150 w 2867"/>
              <a:gd name="T5" fmla="*/ 512 h 2868"/>
              <a:gd name="T6" fmla="*/ 2047 w 2867"/>
              <a:gd name="T7" fmla="*/ 615 h 2868"/>
              <a:gd name="T8" fmla="*/ 1945 w 2867"/>
              <a:gd name="T9" fmla="*/ 512 h 2868"/>
              <a:gd name="T10" fmla="*/ 1945 w 2867"/>
              <a:gd name="T11" fmla="*/ 103 h 2868"/>
              <a:gd name="T12" fmla="*/ 2047 w 2867"/>
              <a:gd name="T13" fmla="*/ 0 h 2868"/>
              <a:gd name="T14" fmla="*/ 819 w 2867"/>
              <a:gd name="T15" fmla="*/ 0 h 2868"/>
              <a:gd name="T16" fmla="*/ 921 w 2867"/>
              <a:gd name="T17" fmla="*/ 103 h 2868"/>
              <a:gd name="T18" fmla="*/ 921 w 2867"/>
              <a:gd name="T19" fmla="*/ 512 h 2868"/>
              <a:gd name="T20" fmla="*/ 819 w 2867"/>
              <a:gd name="T21" fmla="*/ 615 h 2868"/>
              <a:gd name="T22" fmla="*/ 716 w 2867"/>
              <a:gd name="T23" fmla="*/ 512 h 2868"/>
              <a:gd name="T24" fmla="*/ 716 w 2867"/>
              <a:gd name="T25" fmla="*/ 103 h 2868"/>
              <a:gd name="T26" fmla="*/ 819 w 2867"/>
              <a:gd name="T27" fmla="*/ 0 h 2868"/>
              <a:gd name="T28" fmla="*/ 2355 w 2867"/>
              <a:gd name="T29" fmla="*/ 1741 h 2868"/>
              <a:gd name="T30" fmla="*/ 2252 w 2867"/>
              <a:gd name="T31" fmla="*/ 1639 h 2868"/>
              <a:gd name="T32" fmla="*/ 2047 w 2867"/>
              <a:gd name="T33" fmla="*/ 1639 h 2868"/>
              <a:gd name="T34" fmla="*/ 1945 w 2867"/>
              <a:gd name="T35" fmla="*/ 1741 h 2868"/>
              <a:gd name="T36" fmla="*/ 2047 w 2867"/>
              <a:gd name="T37" fmla="*/ 1844 h 2868"/>
              <a:gd name="T38" fmla="*/ 2252 w 2867"/>
              <a:gd name="T39" fmla="*/ 1844 h 2868"/>
              <a:gd name="T40" fmla="*/ 2355 w 2867"/>
              <a:gd name="T41" fmla="*/ 1741 h 2868"/>
              <a:gd name="T42" fmla="*/ 1638 w 2867"/>
              <a:gd name="T43" fmla="*/ 1741 h 2868"/>
              <a:gd name="T44" fmla="*/ 1535 w 2867"/>
              <a:gd name="T45" fmla="*/ 1639 h 2868"/>
              <a:gd name="T46" fmla="*/ 614 w 2867"/>
              <a:gd name="T47" fmla="*/ 1639 h 2868"/>
              <a:gd name="T48" fmla="*/ 511 w 2867"/>
              <a:gd name="T49" fmla="*/ 1741 h 2868"/>
              <a:gd name="T50" fmla="*/ 614 w 2867"/>
              <a:gd name="T51" fmla="*/ 1844 h 2868"/>
              <a:gd name="T52" fmla="*/ 1535 w 2867"/>
              <a:gd name="T53" fmla="*/ 1844 h 2868"/>
              <a:gd name="T54" fmla="*/ 1638 w 2867"/>
              <a:gd name="T55" fmla="*/ 1741 h 2868"/>
              <a:gd name="T56" fmla="*/ 2355 w 2867"/>
              <a:gd name="T57" fmla="*/ 1229 h 2868"/>
              <a:gd name="T58" fmla="*/ 2252 w 2867"/>
              <a:gd name="T59" fmla="*/ 1127 h 2868"/>
              <a:gd name="T60" fmla="*/ 614 w 2867"/>
              <a:gd name="T61" fmla="*/ 1127 h 2868"/>
              <a:gd name="T62" fmla="*/ 511 w 2867"/>
              <a:gd name="T63" fmla="*/ 1229 h 2868"/>
              <a:gd name="T64" fmla="*/ 614 w 2867"/>
              <a:gd name="T65" fmla="*/ 1332 h 2868"/>
              <a:gd name="T66" fmla="*/ 2252 w 2867"/>
              <a:gd name="T67" fmla="*/ 1332 h 2868"/>
              <a:gd name="T68" fmla="*/ 2355 w 2867"/>
              <a:gd name="T69" fmla="*/ 1229 h 2868"/>
              <a:gd name="T70" fmla="*/ 2303 w 2867"/>
              <a:gd name="T71" fmla="*/ 308 h 2868"/>
              <a:gd name="T72" fmla="*/ 2406 w 2867"/>
              <a:gd name="T73" fmla="*/ 205 h 2868"/>
              <a:gd name="T74" fmla="*/ 2559 w 2867"/>
              <a:gd name="T75" fmla="*/ 205 h 2868"/>
              <a:gd name="T76" fmla="*/ 2867 w 2867"/>
              <a:gd name="T77" fmla="*/ 512 h 2868"/>
              <a:gd name="T78" fmla="*/ 2867 w 2867"/>
              <a:gd name="T79" fmla="*/ 2560 h 2868"/>
              <a:gd name="T80" fmla="*/ 2559 w 2867"/>
              <a:gd name="T81" fmla="*/ 2868 h 2868"/>
              <a:gd name="T82" fmla="*/ 307 w 2867"/>
              <a:gd name="T83" fmla="*/ 2868 h 2868"/>
              <a:gd name="T84" fmla="*/ 0 w 2867"/>
              <a:gd name="T85" fmla="*/ 2560 h 2868"/>
              <a:gd name="T86" fmla="*/ 0 w 2867"/>
              <a:gd name="T87" fmla="*/ 512 h 2868"/>
              <a:gd name="T88" fmla="*/ 307 w 2867"/>
              <a:gd name="T89" fmla="*/ 205 h 2868"/>
              <a:gd name="T90" fmla="*/ 460 w 2867"/>
              <a:gd name="T91" fmla="*/ 205 h 2868"/>
              <a:gd name="T92" fmla="*/ 563 w 2867"/>
              <a:gd name="T93" fmla="*/ 308 h 2868"/>
              <a:gd name="T94" fmla="*/ 563 w 2867"/>
              <a:gd name="T95" fmla="*/ 512 h 2868"/>
              <a:gd name="T96" fmla="*/ 819 w 2867"/>
              <a:gd name="T97" fmla="*/ 768 h 2868"/>
              <a:gd name="T98" fmla="*/ 1075 w 2867"/>
              <a:gd name="T99" fmla="*/ 512 h 2868"/>
              <a:gd name="T100" fmla="*/ 1075 w 2867"/>
              <a:gd name="T101" fmla="*/ 308 h 2868"/>
              <a:gd name="T102" fmla="*/ 1177 w 2867"/>
              <a:gd name="T103" fmla="*/ 205 h 2868"/>
              <a:gd name="T104" fmla="*/ 1689 w 2867"/>
              <a:gd name="T105" fmla="*/ 205 h 2868"/>
              <a:gd name="T106" fmla="*/ 1791 w 2867"/>
              <a:gd name="T107" fmla="*/ 308 h 2868"/>
              <a:gd name="T108" fmla="*/ 1791 w 2867"/>
              <a:gd name="T109" fmla="*/ 512 h 2868"/>
              <a:gd name="T110" fmla="*/ 2047 w 2867"/>
              <a:gd name="T111" fmla="*/ 768 h 2868"/>
              <a:gd name="T112" fmla="*/ 2303 w 2867"/>
              <a:gd name="T113" fmla="*/ 512 h 2868"/>
              <a:gd name="T114" fmla="*/ 2303 w 2867"/>
              <a:gd name="T115" fmla="*/ 308 h 2868"/>
              <a:gd name="T116" fmla="*/ 2303 w 2867"/>
              <a:gd name="T117" fmla="*/ 308 h 2868"/>
              <a:gd name="T118" fmla="*/ 2303 w 2867"/>
              <a:gd name="T119" fmla="*/ 308 h 2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867" h="2868">
                <a:moveTo>
                  <a:pt x="2047" y="0"/>
                </a:moveTo>
                <a:cubicBezTo>
                  <a:pt x="2104" y="0"/>
                  <a:pt x="2150" y="46"/>
                  <a:pt x="2150" y="103"/>
                </a:cubicBezTo>
                <a:cubicBezTo>
                  <a:pt x="2150" y="512"/>
                  <a:pt x="2150" y="512"/>
                  <a:pt x="2150" y="512"/>
                </a:cubicBezTo>
                <a:cubicBezTo>
                  <a:pt x="2150" y="569"/>
                  <a:pt x="2104" y="615"/>
                  <a:pt x="2047" y="615"/>
                </a:cubicBezTo>
                <a:cubicBezTo>
                  <a:pt x="1991" y="615"/>
                  <a:pt x="1945" y="569"/>
                  <a:pt x="1945" y="512"/>
                </a:cubicBezTo>
                <a:cubicBezTo>
                  <a:pt x="1945" y="103"/>
                  <a:pt x="1945" y="103"/>
                  <a:pt x="1945" y="103"/>
                </a:cubicBezTo>
                <a:cubicBezTo>
                  <a:pt x="1945" y="46"/>
                  <a:pt x="1991" y="0"/>
                  <a:pt x="2047" y="0"/>
                </a:cubicBezTo>
                <a:close/>
                <a:moveTo>
                  <a:pt x="819" y="0"/>
                </a:moveTo>
                <a:cubicBezTo>
                  <a:pt x="875" y="0"/>
                  <a:pt x="921" y="46"/>
                  <a:pt x="921" y="103"/>
                </a:cubicBezTo>
                <a:cubicBezTo>
                  <a:pt x="921" y="512"/>
                  <a:pt x="921" y="512"/>
                  <a:pt x="921" y="512"/>
                </a:cubicBezTo>
                <a:cubicBezTo>
                  <a:pt x="921" y="569"/>
                  <a:pt x="875" y="615"/>
                  <a:pt x="819" y="615"/>
                </a:cubicBezTo>
                <a:cubicBezTo>
                  <a:pt x="762" y="615"/>
                  <a:pt x="716" y="569"/>
                  <a:pt x="716" y="512"/>
                </a:cubicBezTo>
                <a:cubicBezTo>
                  <a:pt x="716" y="103"/>
                  <a:pt x="716" y="103"/>
                  <a:pt x="716" y="103"/>
                </a:cubicBezTo>
                <a:cubicBezTo>
                  <a:pt x="716" y="46"/>
                  <a:pt x="762" y="0"/>
                  <a:pt x="819" y="0"/>
                </a:cubicBezTo>
                <a:close/>
                <a:moveTo>
                  <a:pt x="2355" y="1741"/>
                </a:moveTo>
                <a:cubicBezTo>
                  <a:pt x="2355" y="1685"/>
                  <a:pt x="2309" y="1639"/>
                  <a:pt x="2252" y="1639"/>
                </a:cubicBezTo>
                <a:cubicBezTo>
                  <a:pt x="2047" y="1639"/>
                  <a:pt x="2047" y="1639"/>
                  <a:pt x="2047" y="1639"/>
                </a:cubicBezTo>
                <a:cubicBezTo>
                  <a:pt x="1991" y="1639"/>
                  <a:pt x="1945" y="1685"/>
                  <a:pt x="1945" y="1741"/>
                </a:cubicBezTo>
                <a:cubicBezTo>
                  <a:pt x="1945" y="1798"/>
                  <a:pt x="1991" y="1844"/>
                  <a:pt x="2047" y="1844"/>
                </a:cubicBezTo>
                <a:cubicBezTo>
                  <a:pt x="2252" y="1844"/>
                  <a:pt x="2252" y="1844"/>
                  <a:pt x="2252" y="1844"/>
                </a:cubicBezTo>
                <a:cubicBezTo>
                  <a:pt x="2309" y="1844"/>
                  <a:pt x="2355" y="1798"/>
                  <a:pt x="2355" y="1741"/>
                </a:cubicBezTo>
                <a:close/>
                <a:moveTo>
                  <a:pt x="1638" y="1741"/>
                </a:moveTo>
                <a:cubicBezTo>
                  <a:pt x="1638" y="1685"/>
                  <a:pt x="1592" y="1639"/>
                  <a:pt x="1535" y="1639"/>
                </a:cubicBezTo>
                <a:cubicBezTo>
                  <a:pt x="614" y="1639"/>
                  <a:pt x="614" y="1639"/>
                  <a:pt x="614" y="1639"/>
                </a:cubicBezTo>
                <a:cubicBezTo>
                  <a:pt x="557" y="1639"/>
                  <a:pt x="511" y="1685"/>
                  <a:pt x="511" y="1741"/>
                </a:cubicBezTo>
                <a:cubicBezTo>
                  <a:pt x="511" y="1798"/>
                  <a:pt x="557" y="1844"/>
                  <a:pt x="614" y="1844"/>
                </a:cubicBezTo>
                <a:cubicBezTo>
                  <a:pt x="1535" y="1844"/>
                  <a:pt x="1535" y="1844"/>
                  <a:pt x="1535" y="1844"/>
                </a:cubicBezTo>
                <a:cubicBezTo>
                  <a:pt x="1592" y="1844"/>
                  <a:pt x="1638" y="1798"/>
                  <a:pt x="1638" y="1741"/>
                </a:cubicBezTo>
                <a:close/>
                <a:moveTo>
                  <a:pt x="2355" y="1229"/>
                </a:moveTo>
                <a:cubicBezTo>
                  <a:pt x="2355" y="1173"/>
                  <a:pt x="2309" y="1127"/>
                  <a:pt x="2252" y="1127"/>
                </a:cubicBezTo>
                <a:cubicBezTo>
                  <a:pt x="614" y="1127"/>
                  <a:pt x="614" y="1127"/>
                  <a:pt x="614" y="1127"/>
                </a:cubicBezTo>
                <a:cubicBezTo>
                  <a:pt x="557" y="1127"/>
                  <a:pt x="511" y="1173"/>
                  <a:pt x="511" y="1229"/>
                </a:cubicBezTo>
                <a:cubicBezTo>
                  <a:pt x="511" y="1286"/>
                  <a:pt x="557" y="1332"/>
                  <a:pt x="614" y="1332"/>
                </a:cubicBezTo>
                <a:cubicBezTo>
                  <a:pt x="2252" y="1332"/>
                  <a:pt x="2252" y="1332"/>
                  <a:pt x="2252" y="1332"/>
                </a:cubicBezTo>
                <a:cubicBezTo>
                  <a:pt x="2309" y="1332"/>
                  <a:pt x="2355" y="1286"/>
                  <a:pt x="2355" y="1229"/>
                </a:cubicBezTo>
                <a:close/>
                <a:moveTo>
                  <a:pt x="2303" y="308"/>
                </a:moveTo>
                <a:cubicBezTo>
                  <a:pt x="2303" y="251"/>
                  <a:pt x="2349" y="205"/>
                  <a:pt x="2406" y="205"/>
                </a:cubicBezTo>
                <a:cubicBezTo>
                  <a:pt x="2559" y="205"/>
                  <a:pt x="2559" y="205"/>
                  <a:pt x="2559" y="205"/>
                </a:cubicBezTo>
                <a:cubicBezTo>
                  <a:pt x="2729" y="205"/>
                  <a:pt x="2867" y="343"/>
                  <a:pt x="2867" y="512"/>
                </a:cubicBezTo>
                <a:cubicBezTo>
                  <a:pt x="2867" y="2560"/>
                  <a:pt x="2867" y="2560"/>
                  <a:pt x="2867" y="2560"/>
                </a:cubicBezTo>
                <a:cubicBezTo>
                  <a:pt x="2867" y="2730"/>
                  <a:pt x="2729" y="2868"/>
                  <a:pt x="2559" y="2868"/>
                </a:cubicBezTo>
                <a:cubicBezTo>
                  <a:pt x="307" y="2868"/>
                  <a:pt x="307" y="2868"/>
                  <a:pt x="307" y="2868"/>
                </a:cubicBezTo>
                <a:cubicBezTo>
                  <a:pt x="137" y="2868"/>
                  <a:pt x="0" y="2730"/>
                  <a:pt x="0" y="2560"/>
                </a:cubicBezTo>
                <a:cubicBezTo>
                  <a:pt x="0" y="512"/>
                  <a:pt x="0" y="512"/>
                  <a:pt x="0" y="512"/>
                </a:cubicBezTo>
                <a:cubicBezTo>
                  <a:pt x="0" y="343"/>
                  <a:pt x="137" y="205"/>
                  <a:pt x="307" y="205"/>
                </a:cubicBezTo>
                <a:cubicBezTo>
                  <a:pt x="460" y="205"/>
                  <a:pt x="460" y="205"/>
                  <a:pt x="460" y="205"/>
                </a:cubicBezTo>
                <a:cubicBezTo>
                  <a:pt x="517" y="205"/>
                  <a:pt x="563" y="251"/>
                  <a:pt x="563" y="308"/>
                </a:cubicBezTo>
                <a:cubicBezTo>
                  <a:pt x="563" y="512"/>
                  <a:pt x="563" y="512"/>
                  <a:pt x="563" y="512"/>
                </a:cubicBezTo>
                <a:cubicBezTo>
                  <a:pt x="563" y="654"/>
                  <a:pt x="677" y="768"/>
                  <a:pt x="819" y="768"/>
                </a:cubicBezTo>
                <a:cubicBezTo>
                  <a:pt x="960" y="768"/>
                  <a:pt x="1075" y="654"/>
                  <a:pt x="1075" y="512"/>
                </a:cubicBezTo>
                <a:cubicBezTo>
                  <a:pt x="1075" y="308"/>
                  <a:pt x="1075" y="308"/>
                  <a:pt x="1075" y="308"/>
                </a:cubicBezTo>
                <a:cubicBezTo>
                  <a:pt x="1075" y="251"/>
                  <a:pt x="1121" y="205"/>
                  <a:pt x="1177" y="205"/>
                </a:cubicBezTo>
                <a:cubicBezTo>
                  <a:pt x="1689" y="205"/>
                  <a:pt x="1689" y="205"/>
                  <a:pt x="1689" y="205"/>
                </a:cubicBezTo>
                <a:cubicBezTo>
                  <a:pt x="1746" y="205"/>
                  <a:pt x="1791" y="251"/>
                  <a:pt x="1791" y="308"/>
                </a:cubicBezTo>
                <a:cubicBezTo>
                  <a:pt x="1791" y="512"/>
                  <a:pt x="1791" y="512"/>
                  <a:pt x="1791" y="512"/>
                </a:cubicBezTo>
                <a:cubicBezTo>
                  <a:pt x="1791" y="654"/>
                  <a:pt x="1906" y="768"/>
                  <a:pt x="2047" y="768"/>
                </a:cubicBezTo>
                <a:cubicBezTo>
                  <a:pt x="2189" y="768"/>
                  <a:pt x="2303" y="654"/>
                  <a:pt x="2303" y="512"/>
                </a:cubicBezTo>
                <a:lnTo>
                  <a:pt x="2303" y="308"/>
                </a:lnTo>
                <a:close/>
                <a:moveTo>
                  <a:pt x="2303" y="308"/>
                </a:moveTo>
                <a:cubicBezTo>
                  <a:pt x="2303" y="308"/>
                  <a:pt x="2303" y="308"/>
                  <a:pt x="2303" y="30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35CA7AB-D443-846C-15D9-998E4EE4EAC2}"/>
              </a:ext>
            </a:extLst>
          </p:cNvPr>
          <p:cNvGrpSpPr/>
          <p:nvPr/>
        </p:nvGrpSpPr>
        <p:grpSpPr>
          <a:xfrm>
            <a:off x="4682489" y="1209741"/>
            <a:ext cx="6358891" cy="1434465"/>
            <a:chOff x="7506" y="2533"/>
            <a:chExt cx="10014" cy="2259"/>
          </a:xfrm>
        </p:grpSpPr>
        <p:sp>
          <p:nvSpPr>
            <p:cNvPr id="12" name="图形">
              <a:extLst>
                <a:ext uri="{FF2B5EF4-FFF2-40B4-BE49-F238E27FC236}">
                  <a16:creationId xmlns:a16="http://schemas.microsoft.com/office/drawing/2014/main" id="{1A210158-987E-7C8C-69E6-F1874F2CFE00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7506" y="2533"/>
              <a:ext cx="6302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Structured Extraction (LLM)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35" name="图形">
              <a:extLst>
                <a:ext uri="{FF2B5EF4-FFF2-40B4-BE49-F238E27FC236}">
                  <a16:creationId xmlns:a16="http://schemas.microsoft.com/office/drawing/2014/main" id="{E4175E2A-8988-3E85-1054-45AE506E8FC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7506" y="3181"/>
              <a:ext cx="10014" cy="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Input: Manager’s free-text request.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Action: The LLM acts purely as a parser, converting unstructured needs into a clean, structured JSON object (Role, Date, Time Block, Languages).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2038CD9-C481-7339-2C87-E86559B88B3A}"/>
              </a:ext>
            </a:extLst>
          </p:cNvPr>
          <p:cNvGrpSpPr/>
          <p:nvPr/>
        </p:nvGrpSpPr>
        <p:grpSpPr>
          <a:xfrm>
            <a:off x="4682490" y="2810030"/>
            <a:ext cx="6778626" cy="1757680"/>
            <a:chOff x="7506" y="2533"/>
            <a:chExt cx="10675" cy="2768"/>
          </a:xfrm>
        </p:grpSpPr>
        <p:sp>
          <p:nvSpPr>
            <p:cNvPr id="24" name="图形">
              <a:extLst>
                <a:ext uri="{FF2B5EF4-FFF2-40B4-BE49-F238E27FC236}">
                  <a16:creationId xmlns:a16="http://schemas.microsoft.com/office/drawing/2014/main" id="{C124060F-BD53-ABD0-B2CB-EA7586D1456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506" y="2533"/>
              <a:ext cx="10675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Deterministic Gatekeeping (Python / Pandas)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453D5AE5-2F18-D92A-99D2-9A3DED2932F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7506" y="3181"/>
              <a:ext cx="10413" cy="2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Why Code? To completely eliminate AI "Hallucination Risk" in decision-making.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Action: Python handles the core logic. It centralizes roster data and filters it against hard constraints (Availability, Minimum Notice Days, exact certification expiration dates, and weekly hour limits).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7BB0840-7DDE-B801-BDAA-65ACDC06055D}"/>
              </a:ext>
            </a:extLst>
          </p:cNvPr>
          <p:cNvGrpSpPr/>
          <p:nvPr/>
        </p:nvGrpSpPr>
        <p:grpSpPr>
          <a:xfrm>
            <a:off x="4647445" y="4816375"/>
            <a:ext cx="7509511" cy="2080895"/>
            <a:chOff x="7506" y="2533"/>
            <a:chExt cx="11826" cy="3277"/>
          </a:xfrm>
        </p:grpSpPr>
        <p:sp>
          <p:nvSpPr>
            <p:cNvPr id="27" name="图形">
              <a:extLst>
                <a:ext uri="{FF2B5EF4-FFF2-40B4-BE49-F238E27FC236}">
                  <a16:creationId xmlns:a16="http://schemas.microsoft.com/office/drawing/2014/main" id="{6294E08E-3C0B-6E18-03C0-84D5F7568AC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7506" y="2533"/>
              <a:ext cx="11826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Automated Communication (LLM + PDF RAG)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8" name="图形">
              <a:extLst>
                <a:ext uri="{FF2B5EF4-FFF2-40B4-BE49-F238E27FC236}">
                  <a16:creationId xmlns:a16="http://schemas.microsoft.com/office/drawing/2014/main" id="{23A8DAF4-2018-C552-2F88-72B6583211D3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7506" y="3181"/>
              <a:ext cx="10014" cy="2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Action: The system uses </a:t>
              </a:r>
              <a:r>
                <a:rPr lang="en-US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pdfplumber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 to dynamically extract official templates directly from the Northbridge Manual. The LLM then uses this context to draft a highly professional, corporate-grade response (Template 1 or 3).</a:t>
              </a:r>
            </a:p>
            <a:p>
              <a:pPr>
                <a:lnSpc>
                  <a:spcPct val="150000"/>
                </a:lnSpc>
              </a:pP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  <a:p>
              <a:pPr>
                <a:lnSpc>
                  <a:spcPct val="150000"/>
                </a:lnSpc>
              </a:pP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69281308"/>
      </p:ext>
    </p:extLst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6822B-BD5B-6E80-6C98-C9A0D4F3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7E0C65AD-FF00-72C7-1F71-1BCCE4469FE1}"/>
              </a:ext>
            </a:extLst>
          </p:cNvPr>
          <p:cNvGrpSpPr/>
          <p:nvPr/>
        </p:nvGrpSpPr>
        <p:grpSpPr>
          <a:xfrm>
            <a:off x="1044574" y="260350"/>
            <a:ext cx="10077452" cy="584835"/>
            <a:chOff x="1555" y="410"/>
            <a:chExt cx="15870" cy="921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F9E93E5A-D9EF-AAA7-7BCD-63FE440E2C28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2023" y="410"/>
              <a:ext cx="1501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Guardrails, Risk Mitigation &amp; Responsible AI Design</a:t>
              </a: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17AFC531-623B-33CB-7251-0C4D2DBB6F0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7035" y="67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BFA5E667-9B2F-2AC2-D615-EB89F28BA76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555" y="67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4" name="图形">
            <a:extLst>
              <a:ext uri="{FF2B5EF4-FFF2-40B4-BE49-F238E27FC236}">
                <a16:creationId xmlns:a16="http://schemas.microsoft.com/office/drawing/2014/main" id="{342C16FB-0AB2-B0EA-D794-A669625B8C1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9049" y="2740692"/>
            <a:ext cx="2323443" cy="3742194"/>
          </a:xfrm>
          <a:prstGeom prst="roundRect">
            <a:avLst>
              <a:gd name="adj" fmla="val 6649"/>
            </a:avLst>
          </a:prstGeom>
          <a:noFill/>
          <a:ln w="25400">
            <a:solidFill>
              <a:srgbClr val="B19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84BCB492-12AC-DA7C-23A7-F3FC376FB4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42065" y="1223883"/>
            <a:ext cx="2323443" cy="983400"/>
          </a:xfrm>
          <a:prstGeom prst="roundRect">
            <a:avLst>
              <a:gd name="adj" fmla="val 10405"/>
            </a:avLst>
          </a:prstGeom>
          <a:solidFill>
            <a:srgbClr val="B19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6234BA94-5F70-E6F4-D01D-6AA28881304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5400000">
            <a:off x="1498691" y="2254864"/>
            <a:ext cx="337757" cy="414707"/>
          </a:xfrm>
          <a:prstGeom prst="chevron">
            <a:avLst/>
          </a:prstGeom>
          <a:solidFill>
            <a:srgbClr val="B19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8031B387-D58A-04B2-0D64-61A9E708E81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46972" y="2740692"/>
            <a:ext cx="2323443" cy="3742194"/>
          </a:xfrm>
          <a:prstGeom prst="roundRect">
            <a:avLst>
              <a:gd name="adj" fmla="val 6649"/>
            </a:avLst>
          </a:prstGeom>
          <a:noFill/>
          <a:ln w="25400">
            <a:solidFill>
              <a:srgbClr val="343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95CCD660-66E5-F2F9-F7A4-4B9AFC41860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446972" y="1231619"/>
            <a:ext cx="2323443" cy="975664"/>
          </a:xfrm>
          <a:prstGeom prst="roundRect">
            <a:avLst>
              <a:gd name="adj" fmla="val 10405"/>
            </a:avLst>
          </a:prstGeom>
          <a:solidFill>
            <a:srgbClr val="343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" name="图形">
            <a:extLst>
              <a:ext uri="{FF2B5EF4-FFF2-40B4-BE49-F238E27FC236}">
                <a16:creationId xmlns:a16="http://schemas.microsoft.com/office/drawing/2014/main" id="{1FDD89BE-0E06-B93F-45AC-98A642D387C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5400000">
            <a:off x="4439814" y="2254864"/>
            <a:ext cx="337757" cy="414707"/>
          </a:xfrm>
          <a:prstGeom prst="chevron">
            <a:avLst/>
          </a:prstGeom>
          <a:solidFill>
            <a:srgbClr val="343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7E441831-E40D-5719-DE6E-71EB1B4DC42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425611" y="2738181"/>
            <a:ext cx="2323443" cy="3742194"/>
          </a:xfrm>
          <a:prstGeom prst="roundRect">
            <a:avLst>
              <a:gd name="adj" fmla="val 6649"/>
            </a:avLst>
          </a:prstGeom>
          <a:noFill/>
          <a:ln w="25400">
            <a:solidFill>
              <a:srgbClr val="B19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" name="图形">
            <a:extLst>
              <a:ext uri="{FF2B5EF4-FFF2-40B4-BE49-F238E27FC236}">
                <a16:creationId xmlns:a16="http://schemas.microsoft.com/office/drawing/2014/main" id="{B5A63328-4A33-6719-4B0C-7D447D5A42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425611" y="1231618"/>
            <a:ext cx="2323443" cy="975664"/>
          </a:xfrm>
          <a:prstGeom prst="roundRect">
            <a:avLst>
              <a:gd name="adj" fmla="val 10405"/>
            </a:avLst>
          </a:prstGeom>
          <a:solidFill>
            <a:srgbClr val="B19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71DDDAAA-B0A7-B5E2-A3FA-741AC4C753F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rot="5400000">
            <a:off x="7418453" y="2254864"/>
            <a:ext cx="337757" cy="414707"/>
          </a:xfrm>
          <a:prstGeom prst="chevron">
            <a:avLst/>
          </a:prstGeom>
          <a:solidFill>
            <a:srgbClr val="B19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" name="图形">
            <a:extLst>
              <a:ext uri="{FF2B5EF4-FFF2-40B4-BE49-F238E27FC236}">
                <a16:creationId xmlns:a16="http://schemas.microsoft.com/office/drawing/2014/main" id="{7DF41804-7799-9DD8-DD63-18B51F58698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1974" y="1331500"/>
            <a:ext cx="2183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Hallucination &amp; Safety Exposure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" name="图形">
            <a:extLst>
              <a:ext uri="{FF2B5EF4-FFF2-40B4-BE49-F238E27FC236}">
                <a16:creationId xmlns:a16="http://schemas.microsoft.com/office/drawing/2014/main" id="{72D39D39-6413-F97C-C930-AB2B012A936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492540" y="1316518"/>
            <a:ext cx="23234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Fairness &amp; Volunteer Burnout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D270D511-ED10-CD80-49F2-2001683DE7B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660069" y="1202129"/>
            <a:ext cx="1854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Privacy and Sensitive Volunteer Data</a:t>
            </a: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860D81A4-6C35-8BAE-C931-5DB08AD9B5D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18999" y="2787736"/>
            <a:ext cx="2183623" cy="3608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Mitigation: </a:t>
            </a: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Matching is strictly delegated to deterministic Python logic, not the LLM. The system physically blocks unsafe assignments by parsing exact YYYY-MM-DD strings to ensure mandatory certifications (e.g., Background Checks) are present and unexpired.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" name="图形">
            <a:extLst>
              <a:ext uri="{FF2B5EF4-FFF2-40B4-BE49-F238E27FC236}">
                <a16:creationId xmlns:a16="http://schemas.microsoft.com/office/drawing/2014/main" id="{46DF8D49-7EAE-7F4D-4B2A-157BB9D14DA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606109" y="2787736"/>
            <a:ext cx="2096303" cy="296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Mitigation: </a:t>
            </a: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Employs "Utilization Balancing." The code tracks active assignments and sorts eligible volunteers by current weekly hours (ascending order) to prioritize under-utilized candidates.</a:t>
            </a:r>
          </a:p>
        </p:txBody>
      </p:sp>
      <p:sp>
        <p:nvSpPr>
          <p:cNvPr id="29" name="图形">
            <a:extLst>
              <a:ext uri="{FF2B5EF4-FFF2-40B4-BE49-F238E27FC236}">
                <a16:creationId xmlns:a16="http://schemas.microsoft.com/office/drawing/2014/main" id="{2DCE47EB-46FB-C548-98D4-1634B7A58D0B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566392" y="2787736"/>
            <a:ext cx="2096303" cy="3608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Mitigation: </a:t>
            </a: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Applies strict "Data Minimization." The system only outputs operationally necessary fields (Name, Contact, Languages), automatically redacting sensitive internal notes and home addresses from the final output.</a:t>
            </a: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24AD36F4-7C41-9535-FD43-B79B0DD3F4F3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351171" y="2738181"/>
            <a:ext cx="2323443" cy="3742194"/>
          </a:xfrm>
          <a:prstGeom prst="roundRect">
            <a:avLst>
              <a:gd name="adj" fmla="val 6649"/>
            </a:avLst>
          </a:prstGeom>
          <a:noFill/>
          <a:ln w="25400">
            <a:solidFill>
              <a:srgbClr val="343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A4EBA59A-8C12-657D-FCB3-A89D9575784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309132" y="1217678"/>
            <a:ext cx="2323443" cy="989604"/>
          </a:xfrm>
          <a:prstGeom prst="roundRect">
            <a:avLst>
              <a:gd name="adj" fmla="val 10405"/>
            </a:avLst>
          </a:prstGeom>
          <a:solidFill>
            <a:srgbClr val="343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F24A86C8-7FC4-EDEE-204D-06A3938494FF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 rot="5400000">
            <a:off x="10426270" y="2254864"/>
            <a:ext cx="337757" cy="414707"/>
          </a:xfrm>
          <a:prstGeom prst="chevron">
            <a:avLst/>
          </a:prstGeom>
          <a:solidFill>
            <a:srgbClr val="343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0D39C032-7276-DA8D-BD8A-65AC5D274E4E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9447724" y="1190638"/>
            <a:ext cx="2130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Operational </a:t>
            </a: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Edge Cases &amp; </a:t>
            </a: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Silent Failures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193D80CA-8C56-1ADF-210E-DEDF34FE846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536272" y="2787736"/>
            <a:ext cx="2096303" cy="3608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Mitigation: </a:t>
            </a: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Transparent Escalation. Instead of failing silently when no match is found, the system generates a "Template 3" internal memo stating the exact constraint (e.g., "Missing Certifications") and suggests actionable adjustments for staff leads.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5132520"/>
      </p:ext>
    </p:extLst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70E9-444C-395C-EF03-2118127F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3CAF6802-04C3-8409-3155-A74B00D88CAF}"/>
              </a:ext>
            </a:extLst>
          </p:cNvPr>
          <p:cNvGrpSpPr/>
          <p:nvPr/>
        </p:nvGrpSpPr>
        <p:grpSpPr>
          <a:xfrm>
            <a:off x="2743835" y="231140"/>
            <a:ext cx="6226812" cy="646430"/>
            <a:chOff x="4231" y="364"/>
            <a:chExt cx="9806" cy="1018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4CC3AFA6-6618-98BA-896A-F83A0E22D15E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900" y="364"/>
              <a:ext cx="8468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Prototype Demonstration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7C6B58C8-8C12-65AC-A1E0-99F781DC080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3647" y="703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D8AF7811-2EA8-83BD-9B6F-FF9546C88C6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231" y="703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4" name="图形" descr="333639373137393b343435303733393bb9a4d7f7b8c5caf6">
            <a:extLst>
              <a:ext uri="{FF2B5EF4-FFF2-40B4-BE49-F238E27FC236}">
                <a16:creationId xmlns:a16="http://schemas.microsoft.com/office/drawing/2014/main" id="{2FE4ABAE-BE01-6239-6B35-0728912670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724" y="1082564"/>
            <a:ext cx="454025" cy="454025"/>
          </a:xfrm>
          <a:prstGeom prst="rect">
            <a:avLst/>
          </a:prstGeom>
        </p:spPr>
      </p:pic>
      <p:sp>
        <p:nvSpPr>
          <p:cNvPr id="23" name="图形">
            <a:extLst>
              <a:ext uri="{FF2B5EF4-FFF2-40B4-BE49-F238E27FC236}">
                <a16:creationId xmlns:a16="http://schemas.microsoft.com/office/drawing/2014/main" id="{5CA5F665-9C5E-4949-6A60-7EB1CA56DD0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95751" y="1082564"/>
            <a:ext cx="9432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Scenario 1: Operational Efficiency (The Happy Path)</a:t>
            </a: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D4EC7976-EA7A-B643-B0B9-60C74F53548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95751" y="1654485"/>
            <a:ext cx="10827778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Request: Urgent Spanish-speaking volunteer for Food Pantry.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Result: System validates Food Safety certification, matches Miguel Santos, and generates an outreach email (Template 1).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3E1995B5-7748-81B8-6EE9-C6E618F2A0E0}"/>
              </a:ext>
            </a:extLst>
          </p:cNvPr>
          <p:cNvSpPr/>
          <p:nvPr/>
        </p:nvSpPr>
        <p:spPr>
          <a:xfrm>
            <a:off x="990062" y="2814452"/>
            <a:ext cx="4870119" cy="967715"/>
          </a:xfrm>
          <a:prstGeom prst="homePlate">
            <a:avLst/>
          </a:prstGeom>
          <a:solidFill>
            <a:srgbClr val="DFC8AA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524D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Conversation Loop: Real-time visibility into Stage 1 (Parsing), Stage 2 (Matching), and Stage 3 (Drafting).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A4C19AD4-55C3-BEA4-29D0-61CFF4A5A699}"/>
              </a:ext>
            </a:extLst>
          </p:cNvPr>
          <p:cNvSpPr/>
          <p:nvPr/>
        </p:nvSpPr>
        <p:spPr>
          <a:xfrm>
            <a:off x="990062" y="3972069"/>
            <a:ext cx="4870119" cy="1044659"/>
          </a:xfrm>
          <a:prstGeom prst="homePlate">
            <a:avLst/>
          </a:prstGeom>
          <a:solidFill>
            <a:srgbClr val="DFC8AA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524D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Guardrail: The system explicitly pauses to ask "Generate communication now?" before drafting any emails, ensuring final human oversight.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743895B4-8941-1524-7AF5-03AD9E5965E5}"/>
              </a:ext>
            </a:extLst>
          </p:cNvPr>
          <p:cNvSpPr/>
          <p:nvPr/>
        </p:nvSpPr>
        <p:spPr>
          <a:xfrm>
            <a:off x="990061" y="5237382"/>
            <a:ext cx="4870119" cy="1044659"/>
          </a:xfrm>
          <a:prstGeom prst="homePlate">
            <a:avLst/>
          </a:prstGeom>
          <a:solidFill>
            <a:srgbClr val="DFC8AA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524D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Tone &amp; Style Control: Enforces formal business paragraphs and strict brand compliance, avoiding robotic or casual outputs.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CBABA7-CB1B-4734-FF9D-1BCE5CAEDF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9777" y="2537177"/>
            <a:ext cx="5006439" cy="40896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0269250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4E5E-0903-F1F5-BF4F-6A1917D0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26B35795-382A-6BC2-6299-D85BB0359B1E}"/>
              </a:ext>
            </a:extLst>
          </p:cNvPr>
          <p:cNvGrpSpPr/>
          <p:nvPr/>
        </p:nvGrpSpPr>
        <p:grpSpPr>
          <a:xfrm>
            <a:off x="2743835" y="231140"/>
            <a:ext cx="6226812" cy="646430"/>
            <a:chOff x="4231" y="364"/>
            <a:chExt cx="9806" cy="1018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C7AA39EA-ED7A-9E48-0028-7F5CE8AFC9B2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900" y="364"/>
              <a:ext cx="8468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Prototype Demonstration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B4CE05F7-BBDD-0B26-C186-70C731E7A06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3647" y="703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A7DC6159-C9E9-F379-E9D1-31F1DB0E642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231" y="703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4" name="图形" descr="333639373137393b343435303733393bb9a4d7f7b8c5caf6">
            <a:extLst>
              <a:ext uri="{FF2B5EF4-FFF2-40B4-BE49-F238E27FC236}">
                <a16:creationId xmlns:a16="http://schemas.microsoft.com/office/drawing/2014/main" id="{05146C98-7599-91FA-2799-601E3DCD6B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744" y="1035064"/>
            <a:ext cx="454025" cy="454025"/>
          </a:xfrm>
          <a:prstGeom prst="rect">
            <a:avLst/>
          </a:prstGeom>
        </p:spPr>
      </p:pic>
      <p:sp>
        <p:nvSpPr>
          <p:cNvPr id="23" name="图形">
            <a:extLst>
              <a:ext uri="{FF2B5EF4-FFF2-40B4-BE49-F238E27FC236}">
                <a16:creationId xmlns:a16="http://schemas.microsoft.com/office/drawing/2014/main" id="{2D8BFA43-2E3F-D4E4-57D2-56294F1EEBC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92771" y="1003534"/>
            <a:ext cx="9432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Scenario 2: Compliance Gatekeeping (The Edge Case)</a:t>
            </a: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C5312D11-A790-652D-2837-6A128510102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56743" y="1652718"/>
            <a:ext cx="4741531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Request: Urgent French-speaking volunteer for Youth Mentoring.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Result: System finds an available candidate but physically blocks the match because strictly required certifications (Background Check &amp; Child Safety) are missing.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351FF838-F425-1D84-AD94-DD83EA6EBCD2}"/>
              </a:ext>
            </a:extLst>
          </p:cNvPr>
          <p:cNvSpPr/>
          <p:nvPr/>
        </p:nvSpPr>
        <p:spPr>
          <a:xfrm>
            <a:off x="772953" y="4160998"/>
            <a:ext cx="4870119" cy="1044659"/>
          </a:xfrm>
          <a:prstGeom prst="homePlate">
            <a:avLst/>
          </a:prstGeom>
          <a:solidFill>
            <a:srgbClr val="DFC8AA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524D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(UX): The system explicitly pauses (Generate communication now?) to ensure human oversight before drafting any internal documents.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971E9819-CB97-58C4-2ADA-DC1022E70932}"/>
              </a:ext>
            </a:extLst>
          </p:cNvPr>
          <p:cNvSpPr/>
          <p:nvPr/>
        </p:nvSpPr>
        <p:spPr>
          <a:xfrm>
            <a:off x="772952" y="5366936"/>
            <a:ext cx="4870119" cy="1044659"/>
          </a:xfrm>
          <a:prstGeom prst="homePlate">
            <a:avLst/>
          </a:prstGeom>
          <a:solidFill>
            <a:srgbClr val="DFC8AA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524D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Corporate-Grade Escalation: RAG injection ensures the generated memo uses a highly professional, objective tone to explain the coverage gap to leadership.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28E69-4C47-8F97-70A9-0179D3F8B1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7241" y="1530280"/>
            <a:ext cx="5612377" cy="51001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9789092"/>
      </p:ext>
    </p:ext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B42C-EDCF-B44F-8EFC-098925D4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55A2B873-808F-B0E7-69DF-D3D8CFD0E671}"/>
              </a:ext>
            </a:extLst>
          </p:cNvPr>
          <p:cNvGrpSpPr/>
          <p:nvPr/>
        </p:nvGrpSpPr>
        <p:grpSpPr>
          <a:xfrm>
            <a:off x="473074" y="271145"/>
            <a:ext cx="11252838" cy="646430"/>
            <a:chOff x="655" y="427"/>
            <a:chExt cx="17721" cy="1018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E83C53A3-DADB-3B30-9B62-B5A3113471D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444" y="427"/>
              <a:ext cx="16139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Implementation Challenges &amp; Mitigations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7B2F990E-6FF7-9B0B-A60E-8F4ABB75A52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7986" y="763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215A56BA-EA32-6072-C9F8-DC1C3242C8F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55" y="741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0" name="图形">
            <a:extLst>
              <a:ext uri="{FF2B5EF4-FFF2-40B4-BE49-F238E27FC236}">
                <a16:creationId xmlns:a16="http://schemas.microsoft.com/office/drawing/2014/main" id="{A07ECE9F-1839-5EFD-EEC5-CD9ABB10DAF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97914" y="6038850"/>
            <a:ext cx="10248265" cy="348615"/>
          </a:xfrm>
          <a:prstGeom prst="rect">
            <a:avLst/>
          </a:prstGeom>
          <a:solidFill>
            <a:srgbClr val="343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43B2683-AD60-3500-B0B8-C390923D5400}"/>
              </a:ext>
            </a:extLst>
          </p:cNvPr>
          <p:cNvGrpSpPr/>
          <p:nvPr/>
        </p:nvGrpSpPr>
        <p:grpSpPr>
          <a:xfrm>
            <a:off x="1163867" y="1504038"/>
            <a:ext cx="9852541" cy="1741170"/>
            <a:chOff x="7262" y="2232"/>
            <a:chExt cx="11752" cy="2742"/>
          </a:xfrm>
        </p:grpSpPr>
        <p:pic>
          <p:nvPicPr>
            <p:cNvPr id="4" name="图形" descr="333639373137393b343435303733393bb9a4d7f7b8c5caf6">
              <a:extLst>
                <a:ext uri="{FF2B5EF4-FFF2-40B4-BE49-F238E27FC236}">
                  <a16:creationId xmlns:a16="http://schemas.microsoft.com/office/drawing/2014/main" id="{8A7CD53A-9D6D-05E7-0F8A-A2D663D0057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62" y="2481"/>
              <a:ext cx="715" cy="715"/>
            </a:xfrm>
            <a:prstGeom prst="rect">
              <a:avLst/>
            </a:prstGeom>
          </p:spPr>
        </p:pic>
        <p:sp>
          <p:nvSpPr>
            <p:cNvPr id="23" name="图形">
              <a:extLst>
                <a:ext uri="{FF2B5EF4-FFF2-40B4-BE49-F238E27FC236}">
                  <a16:creationId xmlns:a16="http://schemas.microsoft.com/office/drawing/2014/main" id="{443B4908-AAE6-6169-8FB3-87E5BBBEBF93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8233" y="2232"/>
              <a:ext cx="10553" cy="1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Data inconsistency in roster inputs </a:t>
              </a:r>
            </a:p>
            <a:p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(e.g., case sensitivity like "morning" vs "Morning").</a:t>
              </a:r>
            </a:p>
          </p:txBody>
        </p:sp>
        <p:sp>
          <p:nvSpPr>
            <p:cNvPr id="27" name="图形">
              <a:extLst>
                <a:ext uri="{FF2B5EF4-FFF2-40B4-BE49-F238E27FC236}">
                  <a16:creationId xmlns:a16="http://schemas.microsoft.com/office/drawing/2014/main" id="{AE622FC7-FECC-7E6D-AC1A-8641CA4E187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8233" y="3735"/>
              <a:ext cx="10781" cy="1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Mitigation: Implemented defensive programming (e.g., .lower() string parsing) within the Python logic to ensure robust and accurate filtering.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E5C527A-4BED-B3D4-C445-9A50E5A87A3D}"/>
              </a:ext>
            </a:extLst>
          </p:cNvPr>
          <p:cNvGrpSpPr/>
          <p:nvPr/>
        </p:nvGrpSpPr>
        <p:grpSpPr>
          <a:xfrm>
            <a:off x="1925101" y="3920439"/>
            <a:ext cx="9257771" cy="1702435"/>
            <a:chOff x="11056" y="2402"/>
            <a:chExt cx="6997" cy="2681"/>
          </a:xfrm>
        </p:grpSpPr>
        <p:sp>
          <p:nvSpPr>
            <p:cNvPr id="30" name="图形">
              <a:extLst>
                <a:ext uri="{FF2B5EF4-FFF2-40B4-BE49-F238E27FC236}">
                  <a16:creationId xmlns:a16="http://schemas.microsoft.com/office/drawing/2014/main" id="{26415D28-C3B1-E745-D446-6D573546EC9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1056" y="2402"/>
              <a:ext cx="6997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Overusing the "best fit" volunteers, leading to potential burnout.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31" name="图形">
              <a:extLst>
                <a:ext uri="{FF2B5EF4-FFF2-40B4-BE49-F238E27FC236}">
                  <a16:creationId xmlns:a16="http://schemas.microsoft.com/office/drawing/2014/main" id="{33702803-B86C-8C24-2CDA-B5A9CA5D757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11056" y="3262"/>
              <a:ext cx="6871" cy="1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Mitigation: Hardcoded a utilization balancing algorithm. The system dynamically calculates </a:t>
              </a:r>
              <a:r>
                <a:rPr lang="en-US" altLang="zh-CN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current_weekly_hours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 and sorts eligible volunteers in ascending order to prioritize those with fewer scheduled shifts.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2" name="图形" descr="333639373137393b343435303733393bb9a4d7f7b8c5caf6">
            <a:extLst>
              <a:ext uri="{FF2B5EF4-FFF2-40B4-BE49-F238E27FC236}">
                <a16:creationId xmlns:a16="http://schemas.microsoft.com/office/drawing/2014/main" id="{EC1FA860-C86B-C868-CA27-39FD8804316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1738" y="4012514"/>
            <a:ext cx="599436" cy="4540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7523281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7DEC-946C-37AC-D8ED-CFDF6735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图形">
            <a:extLst>
              <a:ext uri="{FF2B5EF4-FFF2-40B4-BE49-F238E27FC236}">
                <a16:creationId xmlns:a16="http://schemas.microsoft.com/office/drawing/2014/main" id="{C289838C-2F87-B499-4283-B3246D28D2AC}"/>
              </a:ext>
            </a:extLst>
          </p:cNvPr>
          <p:cNvGrpSpPr/>
          <p:nvPr/>
        </p:nvGrpSpPr>
        <p:grpSpPr>
          <a:xfrm>
            <a:off x="2555875" y="232410"/>
            <a:ext cx="7080252" cy="584835"/>
            <a:chOff x="3935" y="366"/>
            <a:chExt cx="11150" cy="921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DCF21E72-76E2-8979-E313-CF1D4A45001B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4606" y="366"/>
              <a:ext cx="9808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3600" b="1">
                  <a:solidFill>
                    <a:srgbClr val="343B53"/>
                  </a:solidFill>
                  <a:latin typeface="Arial"/>
                  <a:ea typeface="微软雅黑"/>
                  <a:cs typeface="MiSans Medium" panose="00000600000000000000" charset="-122"/>
                </a:defRPr>
              </a:lvl1pPr>
            </a:lstStyle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Future Integration &amp; Scalability</a:t>
              </a: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655568C-AE3D-75C8-99B7-F8C9EF9BF91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4695" y="67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0EAFACD2-E9E6-D280-CB17-114B90A0931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3935" y="676"/>
              <a:ext cx="390" cy="390"/>
            </a:xfrm>
            <a:prstGeom prst="ellipse">
              <a:avLst/>
            </a:prstGeom>
            <a:solidFill>
              <a:srgbClr val="343B53"/>
            </a:solidFill>
            <a:ln w="1905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grpSp>
        <p:nvGrpSpPr>
          <p:cNvPr id="8" name="图形">
            <a:extLst>
              <a:ext uri="{FF2B5EF4-FFF2-40B4-BE49-F238E27FC236}">
                <a16:creationId xmlns:a16="http://schemas.microsoft.com/office/drawing/2014/main" id="{664C0DC7-3AD1-174D-5753-7077C0BEDEAF}"/>
              </a:ext>
            </a:extLst>
          </p:cNvPr>
          <p:cNvGrpSpPr/>
          <p:nvPr/>
        </p:nvGrpSpPr>
        <p:grpSpPr>
          <a:xfrm>
            <a:off x="166" y="1306196"/>
            <a:ext cx="12202160" cy="5050155"/>
            <a:chOff x="509" y="2057"/>
            <a:chExt cx="19216" cy="7953"/>
          </a:xfrm>
        </p:grpSpPr>
        <p:cxnSp>
          <p:nvCxnSpPr>
            <p:cNvPr id="30" name="图形">
              <a:extLst>
                <a:ext uri="{FF2B5EF4-FFF2-40B4-BE49-F238E27FC236}">
                  <a16:creationId xmlns:a16="http://schemas.microsoft.com/office/drawing/2014/main" id="{DA3DF3EA-96FB-F65B-5F42-20725186B2DD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flipH="1">
              <a:off x="8445" y="3725"/>
              <a:ext cx="0" cy="4691"/>
            </a:xfrm>
            <a:prstGeom prst="line">
              <a:avLst/>
            </a:prstGeom>
            <a:gradFill flip="none" rotWithShape="1">
              <a:gsLst>
                <a:gs pos="55000">
                  <a:srgbClr val="F6DABC"/>
                </a:gs>
                <a:gs pos="0">
                  <a:srgbClr val="B3823D"/>
                </a:gs>
                <a:gs pos="100000">
                  <a:srgbClr val="B3823D"/>
                </a:gs>
              </a:gsLst>
              <a:lin ang="7680000" scaled="0"/>
            </a:gradFill>
            <a:ln w="12700">
              <a:solidFill>
                <a:srgbClr val="343B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图形">
              <a:extLst>
                <a:ext uri="{FF2B5EF4-FFF2-40B4-BE49-F238E27FC236}">
                  <a16:creationId xmlns:a16="http://schemas.microsoft.com/office/drawing/2014/main" id="{0BA84851-45CF-BE1C-06E0-8F3A60D8ED3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2700000">
              <a:off x="7985" y="2614"/>
              <a:ext cx="920" cy="920"/>
            </a:xfrm>
            <a:prstGeom prst="rect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54" name="图形">
              <a:extLst>
                <a:ext uri="{FF2B5EF4-FFF2-40B4-BE49-F238E27FC236}">
                  <a16:creationId xmlns:a16="http://schemas.microsoft.com/office/drawing/2014/main" id="{53EDC516-B2AF-DA3B-6D52-7A452B09EB6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rot="2700000">
              <a:off x="7985" y="8295"/>
              <a:ext cx="920" cy="920"/>
            </a:xfrm>
            <a:prstGeom prst="rect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59" name="图形">
              <a:extLst>
                <a:ext uri="{FF2B5EF4-FFF2-40B4-BE49-F238E27FC236}">
                  <a16:creationId xmlns:a16="http://schemas.microsoft.com/office/drawing/2014/main" id="{3AB88C52-162D-A1D0-661D-E5934A10210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2700000">
              <a:off x="7985" y="5454"/>
              <a:ext cx="920" cy="920"/>
            </a:xfrm>
            <a:prstGeom prst="rect">
              <a:avLst/>
            </a:prstGeom>
            <a:solidFill>
              <a:srgbClr val="34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33" name="图形">
              <a:extLst>
                <a:ext uri="{FF2B5EF4-FFF2-40B4-BE49-F238E27FC236}">
                  <a16:creationId xmlns:a16="http://schemas.microsoft.com/office/drawing/2014/main" id="{6B197783-29ED-44A2-650F-16BC52999484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8445" y="4493"/>
              <a:ext cx="1560" cy="0"/>
            </a:xfrm>
            <a:prstGeom prst="line">
              <a:avLst/>
            </a:prstGeom>
            <a:ln w="12700">
              <a:solidFill>
                <a:srgbClr val="343B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图形">
              <a:extLst>
                <a:ext uri="{FF2B5EF4-FFF2-40B4-BE49-F238E27FC236}">
                  <a16:creationId xmlns:a16="http://schemas.microsoft.com/office/drawing/2014/main" id="{574AE990-F9B0-5B20-9DAC-0BEA5E78BE6F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8445" y="7334"/>
              <a:ext cx="1560" cy="0"/>
            </a:xfrm>
            <a:prstGeom prst="line">
              <a:avLst/>
            </a:prstGeom>
            <a:ln w="12700">
              <a:solidFill>
                <a:srgbClr val="343B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图形">
              <a:extLst>
                <a:ext uri="{FF2B5EF4-FFF2-40B4-BE49-F238E27FC236}">
                  <a16:creationId xmlns:a16="http://schemas.microsoft.com/office/drawing/2014/main" id="{7E9727EF-B6C7-3625-C9CD-E64CEF16C98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2700000">
              <a:off x="10151" y="6874"/>
              <a:ext cx="920" cy="920"/>
            </a:xfrm>
            <a:prstGeom prst="rect">
              <a:avLst/>
            </a:prstGeom>
            <a:solidFill>
              <a:srgbClr val="34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35" name="图形">
              <a:extLst>
                <a:ext uri="{FF2B5EF4-FFF2-40B4-BE49-F238E27FC236}">
                  <a16:creationId xmlns:a16="http://schemas.microsoft.com/office/drawing/2014/main" id="{53452806-FDEA-CD66-9A66-50773D83693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2700000">
              <a:off x="10151" y="4034"/>
              <a:ext cx="920" cy="920"/>
            </a:xfrm>
            <a:prstGeom prst="rect">
              <a:avLst/>
            </a:prstGeom>
            <a:solidFill>
              <a:srgbClr val="34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41" name="图形">
              <a:extLst>
                <a:ext uri="{FF2B5EF4-FFF2-40B4-BE49-F238E27FC236}">
                  <a16:creationId xmlns:a16="http://schemas.microsoft.com/office/drawing/2014/main" id="{D9D8CBE9-232B-ECA2-448B-BADDDB013A1E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>
              <a:off x="10383" y="4338"/>
              <a:ext cx="454" cy="399"/>
            </a:xfrm>
            <a:custGeom>
              <a:avLst/>
              <a:gdLst>
                <a:gd name="connsiteX0" fmla="*/ 351345 w 606227"/>
                <a:gd name="connsiteY0" fmla="*/ 426074 h 533192"/>
                <a:gd name="connsiteX1" fmla="*/ 407490 w 606227"/>
                <a:gd name="connsiteY1" fmla="*/ 426074 h 533192"/>
                <a:gd name="connsiteX2" fmla="*/ 446467 w 606227"/>
                <a:gd name="connsiteY2" fmla="*/ 533192 h 533192"/>
                <a:gd name="connsiteX3" fmla="*/ 390229 w 606227"/>
                <a:gd name="connsiteY3" fmla="*/ 533192 h 533192"/>
                <a:gd name="connsiteX4" fmla="*/ 198757 w 606227"/>
                <a:gd name="connsiteY4" fmla="*/ 426074 h 533192"/>
                <a:gd name="connsiteX5" fmla="*/ 255023 w 606227"/>
                <a:gd name="connsiteY5" fmla="*/ 426074 h 533192"/>
                <a:gd name="connsiteX6" fmla="*/ 216119 w 606227"/>
                <a:gd name="connsiteY6" fmla="*/ 533192 h 533192"/>
                <a:gd name="connsiteX7" fmla="*/ 159760 w 606227"/>
                <a:gd name="connsiteY7" fmla="*/ 533192 h 533192"/>
                <a:gd name="connsiteX8" fmla="*/ 304170 w 606227"/>
                <a:gd name="connsiteY8" fmla="*/ 146113 h 533192"/>
                <a:gd name="connsiteX9" fmla="*/ 292193 w 606227"/>
                <a:gd name="connsiteY9" fmla="*/ 158070 h 533192"/>
                <a:gd name="connsiteX10" fmla="*/ 292193 w 606227"/>
                <a:gd name="connsiteY10" fmla="*/ 298304 h 533192"/>
                <a:gd name="connsiteX11" fmla="*/ 248833 w 606227"/>
                <a:gd name="connsiteY11" fmla="*/ 298304 h 533192"/>
                <a:gd name="connsiteX12" fmla="*/ 248833 w 606227"/>
                <a:gd name="connsiteY12" fmla="*/ 220448 h 533192"/>
                <a:gd name="connsiteX13" fmla="*/ 236856 w 606227"/>
                <a:gd name="connsiteY13" fmla="*/ 208491 h 533192"/>
                <a:gd name="connsiteX14" fmla="*/ 224786 w 606227"/>
                <a:gd name="connsiteY14" fmla="*/ 220448 h 533192"/>
                <a:gd name="connsiteX15" fmla="*/ 224786 w 606227"/>
                <a:gd name="connsiteY15" fmla="*/ 297841 h 533192"/>
                <a:gd name="connsiteX16" fmla="*/ 190153 w 606227"/>
                <a:gd name="connsiteY16" fmla="*/ 297841 h 533192"/>
                <a:gd name="connsiteX17" fmla="*/ 178176 w 606227"/>
                <a:gd name="connsiteY17" fmla="*/ 309797 h 533192"/>
                <a:gd name="connsiteX18" fmla="*/ 190153 w 606227"/>
                <a:gd name="connsiteY18" fmla="*/ 321846 h 533192"/>
                <a:gd name="connsiteX19" fmla="*/ 418187 w 606227"/>
                <a:gd name="connsiteY19" fmla="*/ 321846 h 533192"/>
                <a:gd name="connsiteX20" fmla="*/ 430165 w 606227"/>
                <a:gd name="connsiteY20" fmla="*/ 309797 h 533192"/>
                <a:gd name="connsiteX21" fmla="*/ 418187 w 606227"/>
                <a:gd name="connsiteY21" fmla="*/ 297841 h 533192"/>
                <a:gd name="connsiteX22" fmla="*/ 383555 w 606227"/>
                <a:gd name="connsiteY22" fmla="*/ 297841 h 533192"/>
                <a:gd name="connsiteX23" fmla="*/ 383555 w 606227"/>
                <a:gd name="connsiteY23" fmla="*/ 186339 h 533192"/>
                <a:gd name="connsiteX24" fmla="*/ 371485 w 606227"/>
                <a:gd name="connsiteY24" fmla="*/ 174382 h 533192"/>
                <a:gd name="connsiteX25" fmla="*/ 359508 w 606227"/>
                <a:gd name="connsiteY25" fmla="*/ 186339 h 533192"/>
                <a:gd name="connsiteX26" fmla="*/ 359508 w 606227"/>
                <a:gd name="connsiteY26" fmla="*/ 297841 h 533192"/>
                <a:gd name="connsiteX27" fmla="*/ 316148 w 606227"/>
                <a:gd name="connsiteY27" fmla="*/ 297841 h 533192"/>
                <a:gd name="connsiteX28" fmla="*/ 316148 w 606227"/>
                <a:gd name="connsiteY28" fmla="*/ 158070 h 533192"/>
                <a:gd name="connsiteX29" fmla="*/ 304170 w 606227"/>
                <a:gd name="connsiteY29" fmla="*/ 146113 h 533192"/>
                <a:gd name="connsiteX30" fmla="*/ 47632 w 606227"/>
                <a:gd name="connsiteY30" fmla="*/ 64920 h 533192"/>
                <a:gd name="connsiteX31" fmla="*/ 558666 w 606227"/>
                <a:gd name="connsiteY31" fmla="*/ 64920 h 533192"/>
                <a:gd name="connsiteX32" fmla="*/ 558666 w 606227"/>
                <a:gd name="connsiteY32" fmla="*/ 335749 h 533192"/>
                <a:gd name="connsiteX33" fmla="*/ 498036 w 606227"/>
                <a:gd name="connsiteY33" fmla="*/ 396366 h 533192"/>
                <a:gd name="connsiteX34" fmla="*/ 108354 w 606227"/>
                <a:gd name="connsiteY34" fmla="*/ 396366 h 533192"/>
                <a:gd name="connsiteX35" fmla="*/ 47632 w 606227"/>
                <a:gd name="connsiteY35" fmla="*/ 335749 h 533192"/>
                <a:gd name="connsiteX36" fmla="*/ 0 w 606227"/>
                <a:gd name="connsiteY36" fmla="*/ 0 h 533192"/>
                <a:gd name="connsiteX37" fmla="*/ 606227 w 606227"/>
                <a:gd name="connsiteY37" fmla="*/ 0 h 533192"/>
                <a:gd name="connsiteX38" fmla="*/ 606227 w 606227"/>
                <a:gd name="connsiteY38" fmla="*/ 35565 h 533192"/>
                <a:gd name="connsiteX39" fmla="*/ 0 w 606227"/>
                <a:gd name="connsiteY39" fmla="*/ 35565 h 53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6227" h="533192">
                  <a:moveTo>
                    <a:pt x="351345" y="426074"/>
                  </a:moveTo>
                  <a:lnTo>
                    <a:pt x="407490" y="426074"/>
                  </a:lnTo>
                  <a:lnTo>
                    <a:pt x="446467" y="533192"/>
                  </a:lnTo>
                  <a:lnTo>
                    <a:pt x="390229" y="533192"/>
                  </a:lnTo>
                  <a:close/>
                  <a:moveTo>
                    <a:pt x="198757" y="426074"/>
                  </a:moveTo>
                  <a:lnTo>
                    <a:pt x="255023" y="426074"/>
                  </a:lnTo>
                  <a:lnTo>
                    <a:pt x="216119" y="533192"/>
                  </a:lnTo>
                  <a:lnTo>
                    <a:pt x="159760" y="533192"/>
                  </a:lnTo>
                  <a:close/>
                  <a:moveTo>
                    <a:pt x="304170" y="146113"/>
                  </a:moveTo>
                  <a:cubicBezTo>
                    <a:pt x="297485" y="146113"/>
                    <a:pt x="292193" y="151396"/>
                    <a:pt x="292193" y="158070"/>
                  </a:cubicBezTo>
                  <a:lnTo>
                    <a:pt x="292193" y="298304"/>
                  </a:lnTo>
                  <a:lnTo>
                    <a:pt x="248833" y="298304"/>
                  </a:lnTo>
                  <a:lnTo>
                    <a:pt x="248833" y="220448"/>
                  </a:lnTo>
                  <a:cubicBezTo>
                    <a:pt x="248833" y="213774"/>
                    <a:pt x="243541" y="208491"/>
                    <a:pt x="236856" y="208491"/>
                  </a:cubicBezTo>
                  <a:cubicBezTo>
                    <a:pt x="230171" y="208491"/>
                    <a:pt x="224786" y="213774"/>
                    <a:pt x="224786" y="220448"/>
                  </a:cubicBezTo>
                  <a:lnTo>
                    <a:pt x="224786" y="297841"/>
                  </a:lnTo>
                  <a:lnTo>
                    <a:pt x="190153" y="297841"/>
                  </a:lnTo>
                  <a:cubicBezTo>
                    <a:pt x="183375" y="297841"/>
                    <a:pt x="177990" y="303031"/>
                    <a:pt x="178176" y="309797"/>
                  </a:cubicBezTo>
                  <a:cubicBezTo>
                    <a:pt x="178176" y="316470"/>
                    <a:pt x="183468" y="321846"/>
                    <a:pt x="190153" y="321846"/>
                  </a:cubicBezTo>
                  <a:lnTo>
                    <a:pt x="418187" y="321846"/>
                  </a:lnTo>
                  <a:cubicBezTo>
                    <a:pt x="424872" y="321846"/>
                    <a:pt x="430165" y="316470"/>
                    <a:pt x="430165" y="309797"/>
                  </a:cubicBezTo>
                  <a:cubicBezTo>
                    <a:pt x="430165" y="303124"/>
                    <a:pt x="424872" y="297841"/>
                    <a:pt x="418187" y="297841"/>
                  </a:cubicBezTo>
                  <a:lnTo>
                    <a:pt x="383555" y="297841"/>
                  </a:lnTo>
                  <a:lnTo>
                    <a:pt x="383555" y="186339"/>
                  </a:lnTo>
                  <a:cubicBezTo>
                    <a:pt x="383555" y="179666"/>
                    <a:pt x="378170" y="174382"/>
                    <a:pt x="371485" y="174382"/>
                  </a:cubicBezTo>
                  <a:cubicBezTo>
                    <a:pt x="364800" y="174382"/>
                    <a:pt x="359508" y="179666"/>
                    <a:pt x="359508" y="186339"/>
                  </a:cubicBezTo>
                  <a:lnTo>
                    <a:pt x="359508" y="297841"/>
                  </a:lnTo>
                  <a:lnTo>
                    <a:pt x="316148" y="297841"/>
                  </a:lnTo>
                  <a:lnTo>
                    <a:pt x="316148" y="158070"/>
                  </a:lnTo>
                  <a:cubicBezTo>
                    <a:pt x="316148" y="151396"/>
                    <a:pt x="310855" y="146113"/>
                    <a:pt x="304170" y="146113"/>
                  </a:cubicBezTo>
                  <a:close/>
                  <a:moveTo>
                    <a:pt x="47632" y="64920"/>
                  </a:moveTo>
                  <a:lnTo>
                    <a:pt x="558666" y="64920"/>
                  </a:lnTo>
                  <a:lnTo>
                    <a:pt x="558666" y="335749"/>
                  </a:lnTo>
                  <a:cubicBezTo>
                    <a:pt x="558666" y="369394"/>
                    <a:pt x="531740" y="396366"/>
                    <a:pt x="498036" y="396366"/>
                  </a:cubicBezTo>
                  <a:lnTo>
                    <a:pt x="108354" y="396366"/>
                  </a:lnTo>
                  <a:cubicBezTo>
                    <a:pt x="74651" y="396366"/>
                    <a:pt x="47632" y="369394"/>
                    <a:pt x="47632" y="335749"/>
                  </a:cubicBezTo>
                  <a:close/>
                  <a:moveTo>
                    <a:pt x="0" y="0"/>
                  </a:moveTo>
                  <a:lnTo>
                    <a:pt x="606227" y="0"/>
                  </a:lnTo>
                  <a:lnTo>
                    <a:pt x="606227" y="35565"/>
                  </a:lnTo>
                  <a:lnTo>
                    <a:pt x="0" y="355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42" name="图形">
              <a:extLst>
                <a:ext uri="{FF2B5EF4-FFF2-40B4-BE49-F238E27FC236}">
                  <a16:creationId xmlns:a16="http://schemas.microsoft.com/office/drawing/2014/main" id="{A8FE851E-64B2-8FCB-E462-BF5D47DD5777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>
              <a:off x="8218" y="5710"/>
              <a:ext cx="454" cy="406"/>
            </a:xfrm>
            <a:custGeom>
              <a:avLst/>
              <a:gdLst>
                <a:gd name="connsiteX0" fmla="*/ 187163 w 607639"/>
                <a:gd name="connsiteY0" fmla="*/ 266102 h 544483"/>
                <a:gd name="connsiteX1" fmla="*/ 211979 w 607639"/>
                <a:gd name="connsiteY1" fmla="*/ 352827 h 544483"/>
                <a:gd name="connsiteX2" fmla="*/ 161101 w 607639"/>
                <a:gd name="connsiteY2" fmla="*/ 352827 h 544483"/>
                <a:gd name="connsiteX3" fmla="*/ 152027 w 607639"/>
                <a:gd name="connsiteY3" fmla="*/ 178959 h 544483"/>
                <a:gd name="connsiteX4" fmla="*/ 54562 w 607639"/>
                <a:gd name="connsiteY4" fmla="*/ 458812 h 544483"/>
                <a:gd name="connsiteX5" fmla="*/ 133068 w 607639"/>
                <a:gd name="connsiteY5" fmla="*/ 458812 h 544483"/>
                <a:gd name="connsiteX6" fmla="*/ 149624 w 607639"/>
                <a:gd name="connsiteY6" fmla="*/ 403979 h 544483"/>
                <a:gd name="connsiteX7" fmla="*/ 224302 w 607639"/>
                <a:gd name="connsiteY7" fmla="*/ 403979 h 544483"/>
                <a:gd name="connsiteX8" fmla="*/ 241214 w 607639"/>
                <a:gd name="connsiteY8" fmla="*/ 458812 h 544483"/>
                <a:gd name="connsiteX9" fmla="*/ 319364 w 607639"/>
                <a:gd name="connsiteY9" fmla="*/ 458812 h 544483"/>
                <a:gd name="connsiteX10" fmla="*/ 222255 w 607639"/>
                <a:gd name="connsiteY10" fmla="*/ 178959 h 544483"/>
                <a:gd name="connsiteX11" fmla="*/ 420819 w 607639"/>
                <a:gd name="connsiteY11" fmla="*/ 172744 h 544483"/>
                <a:gd name="connsiteX12" fmla="*/ 445762 w 607639"/>
                <a:gd name="connsiteY12" fmla="*/ 259469 h 544483"/>
                <a:gd name="connsiteX13" fmla="*/ 420641 w 607639"/>
                <a:gd name="connsiteY13" fmla="*/ 259469 h 544483"/>
                <a:gd name="connsiteX14" fmla="*/ 420641 w 607639"/>
                <a:gd name="connsiteY14" fmla="*/ 173366 h 544483"/>
                <a:gd name="connsiteX15" fmla="*/ 0 w 607639"/>
                <a:gd name="connsiteY15" fmla="*/ 93288 h 544483"/>
                <a:gd name="connsiteX16" fmla="*/ 373926 w 607639"/>
                <a:gd name="connsiteY16" fmla="*/ 93288 h 544483"/>
                <a:gd name="connsiteX17" fmla="*/ 373926 w 607639"/>
                <a:gd name="connsiteY17" fmla="*/ 544483 h 544483"/>
                <a:gd name="connsiteX18" fmla="*/ 0 w 607639"/>
                <a:gd name="connsiteY18" fmla="*/ 544483 h 544483"/>
                <a:gd name="connsiteX19" fmla="*/ 233713 w 607639"/>
                <a:gd name="connsiteY19" fmla="*/ 0 h 544483"/>
                <a:gd name="connsiteX20" fmla="*/ 607639 w 607639"/>
                <a:gd name="connsiteY20" fmla="*/ 0 h 544483"/>
                <a:gd name="connsiteX21" fmla="*/ 607639 w 607639"/>
                <a:gd name="connsiteY21" fmla="*/ 451125 h 544483"/>
                <a:gd name="connsiteX22" fmla="*/ 420632 w 607639"/>
                <a:gd name="connsiteY22" fmla="*/ 451125 h 544483"/>
                <a:gd name="connsiteX23" fmla="*/ 420632 w 607639"/>
                <a:gd name="connsiteY23" fmla="*/ 310704 h 544483"/>
                <a:gd name="connsiteX24" fmla="*/ 457926 w 607639"/>
                <a:gd name="connsiteY24" fmla="*/ 310704 h 544483"/>
                <a:gd name="connsiteX25" fmla="*/ 474927 w 607639"/>
                <a:gd name="connsiteY25" fmla="*/ 365539 h 544483"/>
                <a:gd name="connsiteX26" fmla="*/ 553077 w 607639"/>
                <a:gd name="connsiteY26" fmla="*/ 365539 h 544483"/>
                <a:gd name="connsiteX27" fmla="*/ 455968 w 607639"/>
                <a:gd name="connsiteY27" fmla="*/ 85675 h 544483"/>
                <a:gd name="connsiteX28" fmla="*/ 420632 w 607639"/>
                <a:gd name="connsiteY28" fmla="*/ 85675 h 544483"/>
                <a:gd name="connsiteX29" fmla="*/ 420632 w 607639"/>
                <a:gd name="connsiteY29" fmla="*/ 46659 h 544483"/>
                <a:gd name="connsiteX30" fmla="*/ 233713 w 607639"/>
                <a:gd name="connsiteY30" fmla="*/ 46659 h 54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639" h="544483">
                  <a:moveTo>
                    <a:pt x="187163" y="266102"/>
                  </a:moveTo>
                  <a:lnTo>
                    <a:pt x="211979" y="352827"/>
                  </a:lnTo>
                  <a:lnTo>
                    <a:pt x="161101" y="352827"/>
                  </a:lnTo>
                  <a:close/>
                  <a:moveTo>
                    <a:pt x="152027" y="178959"/>
                  </a:moveTo>
                  <a:lnTo>
                    <a:pt x="54562" y="458812"/>
                  </a:lnTo>
                  <a:lnTo>
                    <a:pt x="133068" y="458812"/>
                  </a:lnTo>
                  <a:lnTo>
                    <a:pt x="149624" y="403979"/>
                  </a:lnTo>
                  <a:lnTo>
                    <a:pt x="224302" y="403979"/>
                  </a:lnTo>
                  <a:lnTo>
                    <a:pt x="241214" y="458812"/>
                  </a:lnTo>
                  <a:lnTo>
                    <a:pt x="319364" y="458812"/>
                  </a:lnTo>
                  <a:lnTo>
                    <a:pt x="222255" y="178959"/>
                  </a:lnTo>
                  <a:close/>
                  <a:moveTo>
                    <a:pt x="420819" y="172744"/>
                  </a:moveTo>
                  <a:lnTo>
                    <a:pt x="445762" y="259469"/>
                  </a:lnTo>
                  <a:lnTo>
                    <a:pt x="420641" y="259469"/>
                  </a:lnTo>
                  <a:lnTo>
                    <a:pt x="420641" y="173366"/>
                  </a:lnTo>
                  <a:close/>
                  <a:moveTo>
                    <a:pt x="0" y="93288"/>
                  </a:moveTo>
                  <a:lnTo>
                    <a:pt x="373926" y="93288"/>
                  </a:lnTo>
                  <a:lnTo>
                    <a:pt x="373926" y="544483"/>
                  </a:lnTo>
                  <a:lnTo>
                    <a:pt x="0" y="544483"/>
                  </a:lnTo>
                  <a:close/>
                  <a:moveTo>
                    <a:pt x="233713" y="0"/>
                  </a:moveTo>
                  <a:lnTo>
                    <a:pt x="607639" y="0"/>
                  </a:lnTo>
                  <a:lnTo>
                    <a:pt x="607639" y="451125"/>
                  </a:lnTo>
                  <a:lnTo>
                    <a:pt x="420632" y="451125"/>
                  </a:lnTo>
                  <a:lnTo>
                    <a:pt x="420632" y="310704"/>
                  </a:lnTo>
                  <a:lnTo>
                    <a:pt x="457926" y="310704"/>
                  </a:lnTo>
                  <a:lnTo>
                    <a:pt x="474927" y="365539"/>
                  </a:lnTo>
                  <a:lnTo>
                    <a:pt x="553077" y="365539"/>
                  </a:lnTo>
                  <a:lnTo>
                    <a:pt x="455968" y="85675"/>
                  </a:lnTo>
                  <a:lnTo>
                    <a:pt x="420632" y="85675"/>
                  </a:lnTo>
                  <a:lnTo>
                    <a:pt x="420632" y="46659"/>
                  </a:lnTo>
                  <a:lnTo>
                    <a:pt x="233713" y="466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67A50B8F-C42C-FC52-59E1-68F157F54A52}"/>
                </a:ext>
              </a:extLst>
            </p:cNvPr>
            <p:cNvGrpSpPr/>
            <p:nvPr/>
          </p:nvGrpSpPr>
          <p:grpSpPr>
            <a:xfrm>
              <a:off x="11550" y="2319"/>
              <a:ext cx="7944" cy="3436"/>
              <a:chOff x="9085" y="1331"/>
              <a:chExt cx="7944" cy="3436"/>
            </a:xfrm>
          </p:grpSpPr>
          <p:sp>
            <p:nvSpPr>
              <p:cNvPr id="46" name="图形">
                <a:extLst>
                  <a:ext uri="{FF2B5EF4-FFF2-40B4-BE49-F238E27FC236}">
                    <a16:creationId xmlns:a16="http://schemas.microsoft.com/office/drawing/2014/main" id="{83726715-992B-1710-43E8-878C8BC43D65}"/>
                  </a:ext>
                </a:extLst>
              </p:cNvPr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9085" y="2647"/>
                <a:ext cx="7944" cy="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Upgrade the current </a:t>
                </a:r>
                <a:r>
                  <a:rPr lang="en-US" altLang="zh-CN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pdfplumber</a:t>
                </a: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 lightweight parser to a scalable vector database. This will allow the system to cite the exact page and paragraph numbers from the coordination manual in every escalation memo for total transparency.</a:t>
                </a:r>
              </a:p>
            </p:txBody>
          </p:sp>
          <p:sp>
            <p:nvSpPr>
              <p:cNvPr id="47" name="图形">
                <a:extLst>
                  <a:ext uri="{FF2B5EF4-FFF2-40B4-BE49-F238E27FC236}">
                    <a16:creationId xmlns:a16="http://schemas.microsoft.com/office/drawing/2014/main" id="{7B9255A4-DFC6-40BF-DE1B-B03CE1617B94}"/>
                  </a:ext>
                </a:extLst>
              </p:cNvPr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9085" y="1331"/>
                <a:ext cx="6568" cy="1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Advanced Vector-Based RAG (</a:t>
                </a:r>
                <a:r>
                  <a:rPr lang="en-US" altLang="zh-CN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ChromaDB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/FAISS)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7EFCA2D3-2947-5521-35AA-5AAB21D38445}"/>
                </a:ext>
              </a:extLst>
            </p:cNvPr>
            <p:cNvGrpSpPr/>
            <p:nvPr/>
          </p:nvGrpSpPr>
          <p:grpSpPr>
            <a:xfrm>
              <a:off x="11550" y="6292"/>
              <a:ext cx="8175" cy="2249"/>
              <a:chOff x="9085" y="2539"/>
              <a:chExt cx="8175" cy="2249"/>
            </a:xfrm>
          </p:grpSpPr>
          <p:sp>
            <p:nvSpPr>
              <p:cNvPr id="49" name="图形">
                <a:extLst>
                  <a:ext uri="{FF2B5EF4-FFF2-40B4-BE49-F238E27FC236}">
                    <a16:creationId xmlns:a16="http://schemas.microsoft.com/office/drawing/2014/main" id="{7B5D0F9C-2211-72E0-AC30-0657C2044121}"/>
                  </a:ext>
                </a:extLst>
              </p:cNvPr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085" y="3177"/>
                <a:ext cx="7944" cy="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Integrate SMS gateway APIs (e.g., Twilio) to automatically route outreach messages based on a volunteer’s </a:t>
                </a:r>
                <a:r>
                  <a:rPr lang="en-US" altLang="zh-CN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preferred_contact</a:t>
                </a: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 field, significantly reducing response times for urgent shifts.</a:t>
                </a:r>
                <a:endPara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50" name="图形">
                <a:extLst>
                  <a:ext uri="{FF2B5EF4-FFF2-40B4-BE49-F238E27FC236}">
                    <a16:creationId xmlns:a16="http://schemas.microsoft.com/office/drawing/2014/main" id="{F3F8F441-4C55-A7A4-0EE0-2642E18A8330}"/>
                  </a:ext>
                </a:extLst>
              </p:cNvPr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9085" y="2539"/>
                <a:ext cx="8175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Omnichannel Routing (SMS Integration)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382BD15-D662-3B6E-1AF4-1501446F70E9}"/>
                </a:ext>
              </a:extLst>
            </p:cNvPr>
            <p:cNvGrpSpPr/>
            <p:nvPr/>
          </p:nvGrpSpPr>
          <p:grpSpPr>
            <a:xfrm>
              <a:off x="509" y="7761"/>
              <a:ext cx="7014" cy="2249"/>
              <a:chOff x="7972" y="2556"/>
              <a:chExt cx="7014" cy="2249"/>
            </a:xfrm>
          </p:grpSpPr>
          <p:sp>
            <p:nvSpPr>
              <p:cNvPr id="52" name="图形">
                <a:extLst>
                  <a:ext uri="{FF2B5EF4-FFF2-40B4-BE49-F238E27FC236}">
                    <a16:creationId xmlns:a16="http://schemas.microsoft.com/office/drawing/2014/main" id="{4A044CCB-CFEC-08F1-C424-F8069B2265AC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972" y="3194"/>
                <a:ext cx="7014" cy="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Aggregate data from "Template 3" refusal reasons to identify systemic gaps (e.g., "consistent shortage of child safety certified volunteers") and guide targeted recruiting.</a:t>
                </a:r>
                <a:endPara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53" name="图形">
                <a:extLst>
                  <a:ext uri="{FF2B5EF4-FFF2-40B4-BE49-F238E27FC236}">
                    <a16:creationId xmlns:a16="http://schemas.microsoft.com/office/drawing/2014/main" id="{082C1E27-5EBA-B7AD-95FA-FD3431422BCB}"/>
                  </a:ext>
                </a:extLst>
              </p:cNvPr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8303" y="2556"/>
                <a:ext cx="6683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Capacity Analytics Dashboard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BBD7B02E-A5AB-0735-00EB-5963541DFECA}"/>
                </a:ext>
              </a:extLst>
            </p:cNvPr>
            <p:cNvGrpSpPr/>
            <p:nvPr/>
          </p:nvGrpSpPr>
          <p:grpSpPr>
            <a:xfrm>
              <a:off x="972" y="4868"/>
              <a:ext cx="6551" cy="2310"/>
              <a:chOff x="8435" y="2505"/>
              <a:chExt cx="6551" cy="2310"/>
            </a:xfrm>
          </p:grpSpPr>
          <p:sp>
            <p:nvSpPr>
              <p:cNvPr id="56" name="图形">
                <a:extLst>
                  <a:ext uri="{FF2B5EF4-FFF2-40B4-BE49-F238E27FC236}">
                    <a16:creationId xmlns:a16="http://schemas.microsoft.com/office/drawing/2014/main" id="{0E6B4683-FA62-FD05-4595-3205E38369EC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8435" y="3143"/>
                <a:ext cx="6551" cy="1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Optimize AI-generated outreach messaging to track which email variations yield the highest volunteer confirmation rates.</a:t>
                </a:r>
              </a:p>
            </p:txBody>
          </p:sp>
          <p:sp>
            <p:nvSpPr>
              <p:cNvPr id="57" name="图形">
                <a:extLst>
                  <a:ext uri="{FF2B5EF4-FFF2-40B4-BE49-F238E27FC236}">
                    <a16:creationId xmlns:a16="http://schemas.microsoft.com/office/drawing/2014/main" id="{BC3EE489-C8BA-C3CD-B3E6-C8BA5AFA2CCB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1629" y="2505"/>
                <a:ext cx="3357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A/B Testing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F0E3300-A5E4-0D89-37F4-16C1BBC36D09}"/>
                </a:ext>
              </a:extLst>
            </p:cNvPr>
            <p:cNvGrpSpPr/>
            <p:nvPr/>
          </p:nvGrpSpPr>
          <p:grpSpPr>
            <a:xfrm>
              <a:off x="509" y="2057"/>
              <a:ext cx="7014" cy="2249"/>
              <a:chOff x="7972" y="2505"/>
              <a:chExt cx="7014" cy="2249"/>
            </a:xfrm>
          </p:grpSpPr>
          <p:sp>
            <p:nvSpPr>
              <p:cNvPr id="60" name="图形">
                <a:extLst>
                  <a:ext uri="{FF2B5EF4-FFF2-40B4-BE49-F238E27FC236}">
                    <a16:creationId xmlns:a16="http://schemas.microsoft.com/office/drawing/2014/main" id="{D75806ED-AB48-A964-D94E-76B104ED0899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972" y="3143"/>
                <a:ext cx="7014" cy="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Connect directly to scheduling systems (e.g., Google Calendar/Outlook) for real-time conflict checks and one-click volunteer invites.</a:t>
                </a:r>
                <a:endPara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61" name="图形">
                <a:extLst>
                  <a:ext uri="{FF2B5EF4-FFF2-40B4-BE49-F238E27FC236}">
                    <a16:creationId xmlns:a16="http://schemas.microsoft.com/office/drawing/2014/main" id="{4A040147-5DA4-D6E7-1D60-15D7E98ECC47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972" y="2505"/>
                <a:ext cx="7014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  <a:sym typeface="Arial"/>
                  </a:rPr>
                  <a:t>Calendar API Integration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2" name="图形">
            <a:extLst>
              <a:ext uri="{FF2B5EF4-FFF2-40B4-BE49-F238E27FC236}">
                <a16:creationId xmlns:a16="http://schemas.microsoft.com/office/drawing/2014/main" id="{EFE6F8B6-7008-988D-3BC1-FC5080AA4048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4895381" y="1845711"/>
            <a:ext cx="288290" cy="253365"/>
          </a:xfrm>
          <a:custGeom>
            <a:avLst/>
            <a:gdLst>
              <a:gd name="connsiteX0" fmla="*/ 351345 w 606227"/>
              <a:gd name="connsiteY0" fmla="*/ 426074 h 533192"/>
              <a:gd name="connsiteX1" fmla="*/ 407490 w 606227"/>
              <a:gd name="connsiteY1" fmla="*/ 426074 h 533192"/>
              <a:gd name="connsiteX2" fmla="*/ 446467 w 606227"/>
              <a:gd name="connsiteY2" fmla="*/ 533192 h 533192"/>
              <a:gd name="connsiteX3" fmla="*/ 390229 w 606227"/>
              <a:gd name="connsiteY3" fmla="*/ 533192 h 533192"/>
              <a:gd name="connsiteX4" fmla="*/ 198757 w 606227"/>
              <a:gd name="connsiteY4" fmla="*/ 426074 h 533192"/>
              <a:gd name="connsiteX5" fmla="*/ 255023 w 606227"/>
              <a:gd name="connsiteY5" fmla="*/ 426074 h 533192"/>
              <a:gd name="connsiteX6" fmla="*/ 216119 w 606227"/>
              <a:gd name="connsiteY6" fmla="*/ 533192 h 533192"/>
              <a:gd name="connsiteX7" fmla="*/ 159760 w 606227"/>
              <a:gd name="connsiteY7" fmla="*/ 533192 h 533192"/>
              <a:gd name="connsiteX8" fmla="*/ 304170 w 606227"/>
              <a:gd name="connsiteY8" fmla="*/ 146113 h 533192"/>
              <a:gd name="connsiteX9" fmla="*/ 292193 w 606227"/>
              <a:gd name="connsiteY9" fmla="*/ 158070 h 533192"/>
              <a:gd name="connsiteX10" fmla="*/ 292193 w 606227"/>
              <a:gd name="connsiteY10" fmla="*/ 298304 h 533192"/>
              <a:gd name="connsiteX11" fmla="*/ 248833 w 606227"/>
              <a:gd name="connsiteY11" fmla="*/ 298304 h 533192"/>
              <a:gd name="connsiteX12" fmla="*/ 248833 w 606227"/>
              <a:gd name="connsiteY12" fmla="*/ 220448 h 533192"/>
              <a:gd name="connsiteX13" fmla="*/ 236856 w 606227"/>
              <a:gd name="connsiteY13" fmla="*/ 208491 h 533192"/>
              <a:gd name="connsiteX14" fmla="*/ 224786 w 606227"/>
              <a:gd name="connsiteY14" fmla="*/ 220448 h 533192"/>
              <a:gd name="connsiteX15" fmla="*/ 224786 w 606227"/>
              <a:gd name="connsiteY15" fmla="*/ 297841 h 533192"/>
              <a:gd name="connsiteX16" fmla="*/ 190153 w 606227"/>
              <a:gd name="connsiteY16" fmla="*/ 297841 h 533192"/>
              <a:gd name="connsiteX17" fmla="*/ 178176 w 606227"/>
              <a:gd name="connsiteY17" fmla="*/ 309797 h 533192"/>
              <a:gd name="connsiteX18" fmla="*/ 190153 w 606227"/>
              <a:gd name="connsiteY18" fmla="*/ 321846 h 533192"/>
              <a:gd name="connsiteX19" fmla="*/ 418187 w 606227"/>
              <a:gd name="connsiteY19" fmla="*/ 321846 h 533192"/>
              <a:gd name="connsiteX20" fmla="*/ 430165 w 606227"/>
              <a:gd name="connsiteY20" fmla="*/ 309797 h 533192"/>
              <a:gd name="connsiteX21" fmla="*/ 418187 w 606227"/>
              <a:gd name="connsiteY21" fmla="*/ 297841 h 533192"/>
              <a:gd name="connsiteX22" fmla="*/ 383555 w 606227"/>
              <a:gd name="connsiteY22" fmla="*/ 297841 h 533192"/>
              <a:gd name="connsiteX23" fmla="*/ 383555 w 606227"/>
              <a:gd name="connsiteY23" fmla="*/ 186339 h 533192"/>
              <a:gd name="connsiteX24" fmla="*/ 371485 w 606227"/>
              <a:gd name="connsiteY24" fmla="*/ 174382 h 533192"/>
              <a:gd name="connsiteX25" fmla="*/ 359508 w 606227"/>
              <a:gd name="connsiteY25" fmla="*/ 186339 h 533192"/>
              <a:gd name="connsiteX26" fmla="*/ 359508 w 606227"/>
              <a:gd name="connsiteY26" fmla="*/ 297841 h 533192"/>
              <a:gd name="connsiteX27" fmla="*/ 316148 w 606227"/>
              <a:gd name="connsiteY27" fmla="*/ 297841 h 533192"/>
              <a:gd name="connsiteX28" fmla="*/ 316148 w 606227"/>
              <a:gd name="connsiteY28" fmla="*/ 158070 h 533192"/>
              <a:gd name="connsiteX29" fmla="*/ 304170 w 606227"/>
              <a:gd name="connsiteY29" fmla="*/ 146113 h 533192"/>
              <a:gd name="connsiteX30" fmla="*/ 47632 w 606227"/>
              <a:gd name="connsiteY30" fmla="*/ 64920 h 533192"/>
              <a:gd name="connsiteX31" fmla="*/ 558666 w 606227"/>
              <a:gd name="connsiteY31" fmla="*/ 64920 h 533192"/>
              <a:gd name="connsiteX32" fmla="*/ 558666 w 606227"/>
              <a:gd name="connsiteY32" fmla="*/ 335749 h 533192"/>
              <a:gd name="connsiteX33" fmla="*/ 498036 w 606227"/>
              <a:gd name="connsiteY33" fmla="*/ 396366 h 533192"/>
              <a:gd name="connsiteX34" fmla="*/ 108354 w 606227"/>
              <a:gd name="connsiteY34" fmla="*/ 396366 h 533192"/>
              <a:gd name="connsiteX35" fmla="*/ 47632 w 606227"/>
              <a:gd name="connsiteY35" fmla="*/ 335749 h 533192"/>
              <a:gd name="connsiteX36" fmla="*/ 0 w 606227"/>
              <a:gd name="connsiteY36" fmla="*/ 0 h 533192"/>
              <a:gd name="connsiteX37" fmla="*/ 606227 w 606227"/>
              <a:gd name="connsiteY37" fmla="*/ 0 h 533192"/>
              <a:gd name="connsiteX38" fmla="*/ 606227 w 606227"/>
              <a:gd name="connsiteY38" fmla="*/ 35565 h 533192"/>
              <a:gd name="connsiteX39" fmla="*/ 0 w 606227"/>
              <a:gd name="connsiteY39" fmla="*/ 35565 h 533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6227" h="533192">
                <a:moveTo>
                  <a:pt x="351345" y="426074"/>
                </a:moveTo>
                <a:lnTo>
                  <a:pt x="407490" y="426074"/>
                </a:lnTo>
                <a:lnTo>
                  <a:pt x="446467" y="533192"/>
                </a:lnTo>
                <a:lnTo>
                  <a:pt x="390229" y="533192"/>
                </a:lnTo>
                <a:close/>
                <a:moveTo>
                  <a:pt x="198757" y="426074"/>
                </a:moveTo>
                <a:lnTo>
                  <a:pt x="255023" y="426074"/>
                </a:lnTo>
                <a:lnTo>
                  <a:pt x="216119" y="533192"/>
                </a:lnTo>
                <a:lnTo>
                  <a:pt x="159760" y="533192"/>
                </a:lnTo>
                <a:close/>
                <a:moveTo>
                  <a:pt x="304170" y="146113"/>
                </a:moveTo>
                <a:cubicBezTo>
                  <a:pt x="297485" y="146113"/>
                  <a:pt x="292193" y="151396"/>
                  <a:pt x="292193" y="158070"/>
                </a:cubicBezTo>
                <a:lnTo>
                  <a:pt x="292193" y="298304"/>
                </a:lnTo>
                <a:lnTo>
                  <a:pt x="248833" y="298304"/>
                </a:lnTo>
                <a:lnTo>
                  <a:pt x="248833" y="220448"/>
                </a:lnTo>
                <a:cubicBezTo>
                  <a:pt x="248833" y="213774"/>
                  <a:pt x="243541" y="208491"/>
                  <a:pt x="236856" y="208491"/>
                </a:cubicBezTo>
                <a:cubicBezTo>
                  <a:pt x="230171" y="208491"/>
                  <a:pt x="224786" y="213774"/>
                  <a:pt x="224786" y="220448"/>
                </a:cubicBezTo>
                <a:lnTo>
                  <a:pt x="224786" y="297841"/>
                </a:lnTo>
                <a:lnTo>
                  <a:pt x="190153" y="297841"/>
                </a:lnTo>
                <a:cubicBezTo>
                  <a:pt x="183375" y="297841"/>
                  <a:pt x="177990" y="303031"/>
                  <a:pt x="178176" y="309797"/>
                </a:cubicBezTo>
                <a:cubicBezTo>
                  <a:pt x="178176" y="316470"/>
                  <a:pt x="183468" y="321846"/>
                  <a:pt x="190153" y="321846"/>
                </a:cubicBezTo>
                <a:lnTo>
                  <a:pt x="418187" y="321846"/>
                </a:lnTo>
                <a:cubicBezTo>
                  <a:pt x="424872" y="321846"/>
                  <a:pt x="430165" y="316470"/>
                  <a:pt x="430165" y="309797"/>
                </a:cubicBezTo>
                <a:cubicBezTo>
                  <a:pt x="430165" y="303124"/>
                  <a:pt x="424872" y="297841"/>
                  <a:pt x="418187" y="297841"/>
                </a:cubicBezTo>
                <a:lnTo>
                  <a:pt x="383555" y="297841"/>
                </a:lnTo>
                <a:lnTo>
                  <a:pt x="383555" y="186339"/>
                </a:lnTo>
                <a:cubicBezTo>
                  <a:pt x="383555" y="179666"/>
                  <a:pt x="378170" y="174382"/>
                  <a:pt x="371485" y="174382"/>
                </a:cubicBezTo>
                <a:cubicBezTo>
                  <a:pt x="364800" y="174382"/>
                  <a:pt x="359508" y="179666"/>
                  <a:pt x="359508" y="186339"/>
                </a:cubicBezTo>
                <a:lnTo>
                  <a:pt x="359508" y="297841"/>
                </a:lnTo>
                <a:lnTo>
                  <a:pt x="316148" y="297841"/>
                </a:lnTo>
                <a:lnTo>
                  <a:pt x="316148" y="158070"/>
                </a:lnTo>
                <a:cubicBezTo>
                  <a:pt x="316148" y="151396"/>
                  <a:pt x="310855" y="146113"/>
                  <a:pt x="304170" y="146113"/>
                </a:cubicBezTo>
                <a:close/>
                <a:moveTo>
                  <a:pt x="47632" y="64920"/>
                </a:moveTo>
                <a:lnTo>
                  <a:pt x="558666" y="64920"/>
                </a:lnTo>
                <a:lnTo>
                  <a:pt x="558666" y="335749"/>
                </a:lnTo>
                <a:cubicBezTo>
                  <a:pt x="558666" y="369394"/>
                  <a:pt x="531740" y="396366"/>
                  <a:pt x="498036" y="396366"/>
                </a:cubicBezTo>
                <a:lnTo>
                  <a:pt x="108354" y="396366"/>
                </a:lnTo>
                <a:cubicBezTo>
                  <a:pt x="74651" y="396366"/>
                  <a:pt x="47632" y="369394"/>
                  <a:pt x="47632" y="335749"/>
                </a:cubicBezTo>
                <a:close/>
                <a:moveTo>
                  <a:pt x="0" y="0"/>
                </a:moveTo>
                <a:lnTo>
                  <a:pt x="606227" y="0"/>
                </a:lnTo>
                <a:lnTo>
                  <a:pt x="606227" y="35565"/>
                </a:lnTo>
                <a:lnTo>
                  <a:pt x="0" y="35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3498EA6-CE7A-BA17-75FC-EBB899E7D171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6255777" y="4528186"/>
            <a:ext cx="288290" cy="257810"/>
          </a:xfrm>
          <a:custGeom>
            <a:avLst/>
            <a:gdLst>
              <a:gd name="connsiteX0" fmla="*/ 187163 w 607639"/>
              <a:gd name="connsiteY0" fmla="*/ 266102 h 544483"/>
              <a:gd name="connsiteX1" fmla="*/ 211979 w 607639"/>
              <a:gd name="connsiteY1" fmla="*/ 352827 h 544483"/>
              <a:gd name="connsiteX2" fmla="*/ 161101 w 607639"/>
              <a:gd name="connsiteY2" fmla="*/ 352827 h 544483"/>
              <a:gd name="connsiteX3" fmla="*/ 152027 w 607639"/>
              <a:gd name="connsiteY3" fmla="*/ 178959 h 544483"/>
              <a:gd name="connsiteX4" fmla="*/ 54562 w 607639"/>
              <a:gd name="connsiteY4" fmla="*/ 458812 h 544483"/>
              <a:gd name="connsiteX5" fmla="*/ 133068 w 607639"/>
              <a:gd name="connsiteY5" fmla="*/ 458812 h 544483"/>
              <a:gd name="connsiteX6" fmla="*/ 149624 w 607639"/>
              <a:gd name="connsiteY6" fmla="*/ 403979 h 544483"/>
              <a:gd name="connsiteX7" fmla="*/ 224302 w 607639"/>
              <a:gd name="connsiteY7" fmla="*/ 403979 h 544483"/>
              <a:gd name="connsiteX8" fmla="*/ 241214 w 607639"/>
              <a:gd name="connsiteY8" fmla="*/ 458812 h 544483"/>
              <a:gd name="connsiteX9" fmla="*/ 319364 w 607639"/>
              <a:gd name="connsiteY9" fmla="*/ 458812 h 544483"/>
              <a:gd name="connsiteX10" fmla="*/ 222255 w 607639"/>
              <a:gd name="connsiteY10" fmla="*/ 178959 h 544483"/>
              <a:gd name="connsiteX11" fmla="*/ 420819 w 607639"/>
              <a:gd name="connsiteY11" fmla="*/ 172744 h 544483"/>
              <a:gd name="connsiteX12" fmla="*/ 445762 w 607639"/>
              <a:gd name="connsiteY12" fmla="*/ 259469 h 544483"/>
              <a:gd name="connsiteX13" fmla="*/ 420641 w 607639"/>
              <a:gd name="connsiteY13" fmla="*/ 259469 h 544483"/>
              <a:gd name="connsiteX14" fmla="*/ 420641 w 607639"/>
              <a:gd name="connsiteY14" fmla="*/ 173366 h 544483"/>
              <a:gd name="connsiteX15" fmla="*/ 0 w 607639"/>
              <a:gd name="connsiteY15" fmla="*/ 93288 h 544483"/>
              <a:gd name="connsiteX16" fmla="*/ 373926 w 607639"/>
              <a:gd name="connsiteY16" fmla="*/ 93288 h 544483"/>
              <a:gd name="connsiteX17" fmla="*/ 373926 w 607639"/>
              <a:gd name="connsiteY17" fmla="*/ 544483 h 544483"/>
              <a:gd name="connsiteX18" fmla="*/ 0 w 607639"/>
              <a:gd name="connsiteY18" fmla="*/ 544483 h 544483"/>
              <a:gd name="connsiteX19" fmla="*/ 233713 w 607639"/>
              <a:gd name="connsiteY19" fmla="*/ 0 h 544483"/>
              <a:gd name="connsiteX20" fmla="*/ 607639 w 607639"/>
              <a:gd name="connsiteY20" fmla="*/ 0 h 544483"/>
              <a:gd name="connsiteX21" fmla="*/ 607639 w 607639"/>
              <a:gd name="connsiteY21" fmla="*/ 451125 h 544483"/>
              <a:gd name="connsiteX22" fmla="*/ 420632 w 607639"/>
              <a:gd name="connsiteY22" fmla="*/ 451125 h 544483"/>
              <a:gd name="connsiteX23" fmla="*/ 420632 w 607639"/>
              <a:gd name="connsiteY23" fmla="*/ 310704 h 544483"/>
              <a:gd name="connsiteX24" fmla="*/ 457926 w 607639"/>
              <a:gd name="connsiteY24" fmla="*/ 310704 h 544483"/>
              <a:gd name="connsiteX25" fmla="*/ 474927 w 607639"/>
              <a:gd name="connsiteY25" fmla="*/ 365539 h 544483"/>
              <a:gd name="connsiteX26" fmla="*/ 553077 w 607639"/>
              <a:gd name="connsiteY26" fmla="*/ 365539 h 544483"/>
              <a:gd name="connsiteX27" fmla="*/ 455968 w 607639"/>
              <a:gd name="connsiteY27" fmla="*/ 85675 h 544483"/>
              <a:gd name="connsiteX28" fmla="*/ 420632 w 607639"/>
              <a:gd name="connsiteY28" fmla="*/ 85675 h 544483"/>
              <a:gd name="connsiteX29" fmla="*/ 420632 w 607639"/>
              <a:gd name="connsiteY29" fmla="*/ 46659 h 544483"/>
              <a:gd name="connsiteX30" fmla="*/ 233713 w 607639"/>
              <a:gd name="connsiteY30" fmla="*/ 46659 h 54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7639" h="544483">
                <a:moveTo>
                  <a:pt x="187163" y="266102"/>
                </a:moveTo>
                <a:lnTo>
                  <a:pt x="211979" y="352827"/>
                </a:lnTo>
                <a:lnTo>
                  <a:pt x="161101" y="352827"/>
                </a:lnTo>
                <a:close/>
                <a:moveTo>
                  <a:pt x="152027" y="178959"/>
                </a:moveTo>
                <a:lnTo>
                  <a:pt x="54562" y="458812"/>
                </a:lnTo>
                <a:lnTo>
                  <a:pt x="133068" y="458812"/>
                </a:lnTo>
                <a:lnTo>
                  <a:pt x="149624" y="403979"/>
                </a:lnTo>
                <a:lnTo>
                  <a:pt x="224302" y="403979"/>
                </a:lnTo>
                <a:lnTo>
                  <a:pt x="241214" y="458812"/>
                </a:lnTo>
                <a:lnTo>
                  <a:pt x="319364" y="458812"/>
                </a:lnTo>
                <a:lnTo>
                  <a:pt x="222255" y="178959"/>
                </a:lnTo>
                <a:close/>
                <a:moveTo>
                  <a:pt x="420819" y="172744"/>
                </a:moveTo>
                <a:lnTo>
                  <a:pt x="445762" y="259469"/>
                </a:lnTo>
                <a:lnTo>
                  <a:pt x="420641" y="259469"/>
                </a:lnTo>
                <a:lnTo>
                  <a:pt x="420641" y="173366"/>
                </a:lnTo>
                <a:close/>
                <a:moveTo>
                  <a:pt x="0" y="93288"/>
                </a:moveTo>
                <a:lnTo>
                  <a:pt x="373926" y="93288"/>
                </a:lnTo>
                <a:lnTo>
                  <a:pt x="373926" y="544483"/>
                </a:lnTo>
                <a:lnTo>
                  <a:pt x="0" y="544483"/>
                </a:lnTo>
                <a:close/>
                <a:moveTo>
                  <a:pt x="233713" y="0"/>
                </a:moveTo>
                <a:lnTo>
                  <a:pt x="607639" y="0"/>
                </a:lnTo>
                <a:lnTo>
                  <a:pt x="607639" y="451125"/>
                </a:lnTo>
                <a:lnTo>
                  <a:pt x="420632" y="451125"/>
                </a:lnTo>
                <a:lnTo>
                  <a:pt x="420632" y="310704"/>
                </a:lnTo>
                <a:lnTo>
                  <a:pt x="457926" y="310704"/>
                </a:lnTo>
                <a:lnTo>
                  <a:pt x="474927" y="365539"/>
                </a:lnTo>
                <a:lnTo>
                  <a:pt x="553077" y="365539"/>
                </a:lnTo>
                <a:lnTo>
                  <a:pt x="455968" y="85675"/>
                </a:lnTo>
                <a:lnTo>
                  <a:pt x="420632" y="85675"/>
                </a:lnTo>
                <a:lnTo>
                  <a:pt x="420632" y="46659"/>
                </a:lnTo>
                <a:lnTo>
                  <a:pt x="233713" y="46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EDAE1B39-3B33-7E54-CE53-9E32460E17C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4895381" y="5443403"/>
            <a:ext cx="288290" cy="253365"/>
          </a:xfrm>
          <a:custGeom>
            <a:avLst/>
            <a:gdLst>
              <a:gd name="connsiteX0" fmla="*/ 351345 w 606227"/>
              <a:gd name="connsiteY0" fmla="*/ 426074 h 533192"/>
              <a:gd name="connsiteX1" fmla="*/ 407490 w 606227"/>
              <a:gd name="connsiteY1" fmla="*/ 426074 h 533192"/>
              <a:gd name="connsiteX2" fmla="*/ 446467 w 606227"/>
              <a:gd name="connsiteY2" fmla="*/ 533192 h 533192"/>
              <a:gd name="connsiteX3" fmla="*/ 390229 w 606227"/>
              <a:gd name="connsiteY3" fmla="*/ 533192 h 533192"/>
              <a:gd name="connsiteX4" fmla="*/ 198757 w 606227"/>
              <a:gd name="connsiteY4" fmla="*/ 426074 h 533192"/>
              <a:gd name="connsiteX5" fmla="*/ 255023 w 606227"/>
              <a:gd name="connsiteY5" fmla="*/ 426074 h 533192"/>
              <a:gd name="connsiteX6" fmla="*/ 216119 w 606227"/>
              <a:gd name="connsiteY6" fmla="*/ 533192 h 533192"/>
              <a:gd name="connsiteX7" fmla="*/ 159760 w 606227"/>
              <a:gd name="connsiteY7" fmla="*/ 533192 h 533192"/>
              <a:gd name="connsiteX8" fmla="*/ 304170 w 606227"/>
              <a:gd name="connsiteY8" fmla="*/ 146113 h 533192"/>
              <a:gd name="connsiteX9" fmla="*/ 292193 w 606227"/>
              <a:gd name="connsiteY9" fmla="*/ 158070 h 533192"/>
              <a:gd name="connsiteX10" fmla="*/ 292193 w 606227"/>
              <a:gd name="connsiteY10" fmla="*/ 298304 h 533192"/>
              <a:gd name="connsiteX11" fmla="*/ 248833 w 606227"/>
              <a:gd name="connsiteY11" fmla="*/ 298304 h 533192"/>
              <a:gd name="connsiteX12" fmla="*/ 248833 w 606227"/>
              <a:gd name="connsiteY12" fmla="*/ 220448 h 533192"/>
              <a:gd name="connsiteX13" fmla="*/ 236856 w 606227"/>
              <a:gd name="connsiteY13" fmla="*/ 208491 h 533192"/>
              <a:gd name="connsiteX14" fmla="*/ 224786 w 606227"/>
              <a:gd name="connsiteY14" fmla="*/ 220448 h 533192"/>
              <a:gd name="connsiteX15" fmla="*/ 224786 w 606227"/>
              <a:gd name="connsiteY15" fmla="*/ 297841 h 533192"/>
              <a:gd name="connsiteX16" fmla="*/ 190153 w 606227"/>
              <a:gd name="connsiteY16" fmla="*/ 297841 h 533192"/>
              <a:gd name="connsiteX17" fmla="*/ 178176 w 606227"/>
              <a:gd name="connsiteY17" fmla="*/ 309797 h 533192"/>
              <a:gd name="connsiteX18" fmla="*/ 190153 w 606227"/>
              <a:gd name="connsiteY18" fmla="*/ 321846 h 533192"/>
              <a:gd name="connsiteX19" fmla="*/ 418187 w 606227"/>
              <a:gd name="connsiteY19" fmla="*/ 321846 h 533192"/>
              <a:gd name="connsiteX20" fmla="*/ 430165 w 606227"/>
              <a:gd name="connsiteY20" fmla="*/ 309797 h 533192"/>
              <a:gd name="connsiteX21" fmla="*/ 418187 w 606227"/>
              <a:gd name="connsiteY21" fmla="*/ 297841 h 533192"/>
              <a:gd name="connsiteX22" fmla="*/ 383555 w 606227"/>
              <a:gd name="connsiteY22" fmla="*/ 297841 h 533192"/>
              <a:gd name="connsiteX23" fmla="*/ 383555 w 606227"/>
              <a:gd name="connsiteY23" fmla="*/ 186339 h 533192"/>
              <a:gd name="connsiteX24" fmla="*/ 371485 w 606227"/>
              <a:gd name="connsiteY24" fmla="*/ 174382 h 533192"/>
              <a:gd name="connsiteX25" fmla="*/ 359508 w 606227"/>
              <a:gd name="connsiteY25" fmla="*/ 186339 h 533192"/>
              <a:gd name="connsiteX26" fmla="*/ 359508 w 606227"/>
              <a:gd name="connsiteY26" fmla="*/ 297841 h 533192"/>
              <a:gd name="connsiteX27" fmla="*/ 316148 w 606227"/>
              <a:gd name="connsiteY27" fmla="*/ 297841 h 533192"/>
              <a:gd name="connsiteX28" fmla="*/ 316148 w 606227"/>
              <a:gd name="connsiteY28" fmla="*/ 158070 h 533192"/>
              <a:gd name="connsiteX29" fmla="*/ 304170 w 606227"/>
              <a:gd name="connsiteY29" fmla="*/ 146113 h 533192"/>
              <a:gd name="connsiteX30" fmla="*/ 47632 w 606227"/>
              <a:gd name="connsiteY30" fmla="*/ 64920 h 533192"/>
              <a:gd name="connsiteX31" fmla="*/ 558666 w 606227"/>
              <a:gd name="connsiteY31" fmla="*/ 64920 h 533192"/>
              <a:gd name="connsiteX32" fmla="*/ 558666 w 606227"/>
              <a:gd name="connsiteY32" fmla="*/ 335749 h 533192"/>
              <a:gd name="connsiteX33" fmla="*/ 498036 w 606227"/>
              <a:gd name="connsiteY33" fmla="*/ 396366 h 533192"/>
              <a:gd name="connsiteX34" fmla="*/ 108354 w 606227"/>
              <a:gd name="connsiteY34" fmla="*/ 396366 h 533192"/>
              <a:gd name="connsiteX35" fmla="*/ 47632 w 606227"/>
              <a:gd name="connsiteY35" fmla="*/ 335749 h 533192"/>
              <a:gd name="connsiteX36" fmla="*/ 0 w 606227"/>
              <a:gd name="connsiteY36" fmla="*/ 0 h 533192"/>
              <a:gd name="connsiteX37" fmla="*/ 606227 w 606227"/>
              <a:gd name="connsiteY37" fmla="*/ 0 h 533192"/>
              <a:gd name="connsiteX38" fmla="*/ 606227 w 606227"/>
              <a:gd name="connsiteY38" fmla="*/ 35565 h 533192"/>
              <a:gd name="connsiteX39" fmla="*/ 0 w 606227"/>
              <a:gd name="connsiteY39" fmla="*/ 35565 h 533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6227" h="533192">
                <a:moveTo>
                  <a:pt x="351345" y="426074"/>
                </a:moveTo>
                <a:lnTo>
                  <a:pt x="407490" y="426074"/>
                </a:lnTo>
                <a:lnTo>
                  <a:pt x="446467" y="533192"/>
                </a:lnTo>
                <a:lnTo>
                  <a:pt x="390229" y="533192"/>
                </a:lnTo>
                <a:close/>
                <a:moveTo>
                  <a:pt x="198757" y="426074"/>
                </a:moveTo>
                <a:lnTo>
                  <a:pt x="255023" y="426074"/>
                </a:lnTo>
                <a:lnTo>
                  <a:pt x="216119" y="533192"/>
                </a:lnTo>
                <a:lnTo>
                  <a:pt x="159760" y="533192"/>
                </a:lnTo>
                <a:close/>
                <a:moveTo>
                  <a:pt x="304170" y="146113"/>
                </a:moveTo>
                <a:cubicBezTo>
                  <a:pt x="297485" y="146113"/>
                  <a:pt x="292193" y="151396"/>
                  <a:pt x="292193" y="158070"/>
                </a:cubicBezTo>
                <a:lnTo>
                  <a:pt x="292193" y="298304"/>
                </a:lnTo>
                <a:lnTo>
                  <a:pt x="248833" y="298304"/>
                </a:lnTo>
                <a:lnTo>
                  <a:pt x="248833" y="220448"/>
                </a:lnTo>
                <a:cubicBezTo>
                  <a:pt x="248833" y="213774"/>
                  <a:pt x="243541" y="208491"/>
                  <a:pt x="236856" y="208491"/>
                </a:cubicBezTo>
                <a:cubicBezTo>
                  <a:pt x="230171" y="208491"/>
                  <a:pt x="224786" y="213774"/>
                  <a:pt x="224786" y="220448"/>
                </a:cubicBezTo>
                <a:lnTo>
                  <a:pt x="224786" y="297841"/>
                </a:lnTo>
                <a:lnTo>
                  <a:pt x="190153" y="297841"/>
                </a:lnTo>
                <a:cubicBezTo>
                  <a:pt x="183375" y="297841"/>
                  <a:pt x="177990" y="303031"/>
                  <a:pt x="178176" y="309797"/>
                </a:cubicBezTo>
                <a:cubicBezTo>
                  <a:pt x="178176" y="316470"/>
                  <a:pt x="183468" y="321846"/>
                  <a:pt x="190153" y="321846"/>
                </a:cubicBezTo>
                <a:lnTo>
                  <a:pt x="418187" y="321846"/>
                </a:lnTo>
                <a:cubicBezTo>
                  <a:pt x="424872" y="321846"/>
                  <a:pt x="430165" y="316470"/>
                  <a:pt x="430165" y="309797"/>
                </a:cubicBezTo>
                <a:cubicBezTo>
                  <a:pt x="430165" y="303124"/>
                  <a:pt x="424872" y="297841"/>
                  <a:pt x="418187" y="297841"/>
                </a:cubicBezTo>
                <a:lnTo>
                  <a:pt x="383555" y="297841"/>
                </a:lnTo>
                <a:lnTo>
                  <a:pt x="383555" y="186339"/>
                </a:lnTo>
                <a:cubicBezTo>
                  <a:pt x="383555" y="179666"/>
                  <a:pt x="378170" y="174382"/>
                  <a:pt x="371485" y="174382"/>
                </a:cubicBezTo>
                <a:cubicBezTo>
                  <a:pt x="364800" y="174382"/>
                  <a:pt x="359508" y="179666"/>
                  <a:pt x="359508" y="186339"/>
                </a:cubicBezTo>
                <a:lnTo>
                  <a:pt x="359508" y="297841"/>
                </a:lnTo>
                <a:lnTo>
                  <a:pt x="316148" y="297841"/>
                </a:lnTo>
                <a:lnTo>
                  <a:pt x="316148" y="158070"/>
                </a:lnTo>
                <a:cubicBezTo>
                  <a:pt x="316148" y="151396"/>
                  <a:pt x="310855" y="146113"/>
                  <a:pt x="304170" y="146113"/>
                </a:cubicBezTo>
                <a:close/>
                <a:moveTo>
                  <a:pt x="47632" y="64920"/>
                </a:moveTo>
                <a:lnTo>
                  <a:pt x="558666" y="64920"/>
                </a:lnTo>
                <a:lnTo>
                  <a:pt x="558666" y="335749"/>
                </a:lnTo>
                <a:cubicBezTo>
                  <a:pt x="558666" y="369394"/>
                  <a:pt x="531740" y="396366"/>
                  <a:pt x="498036" y="396366"/>
                </a:cubicBezTo>
                <a:lnTo>
                  <a:pt x="108354" y="396366"/>
                </a:lnTo>
                <a:cubicBezTo>
                  <a:pt x="74651" y="396366"/>
                  <a:pt x="47632" y="369394"/>
                  <a:pt x="47632" y="335749"/>
                </a:cubicBezTo>
                <a:close/>
                <a:moveTo>
                  <a:pt x="0" y="0"/>
                </a:moveTo>
                <a:lnTo>
                  <a:pt x="606227" y="0"/>
                </a:lnTo>
                <a:lnTo>
                  <a:pt x="606227" y="35565"/>
                </a:lnTo>
                <a:lnTo>
                  <a:pt x="0" y="35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312715"/>
      </p:ext>
    </p:extLst>
  </p:cSld>
  <p:clrMapOvr>
    <a:masterClrMapping/>
  </p:clrMapOvr>
  <p:transition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图形"/>
          <p:cNvGrpSpPr/>
          <p:nvPr/>
        </p:nvGrpSpPr>
        <p:grpSpPr>
          <a:xfrm>
            <a:off x="-2446020" y="-78105"/>
            <a:ext cx="15270480" cy="7259320"/>
            <a:chOff x="-3852" y="-123"/>
            <a:chExt cx="24048" cy="11432"/>
          </a:xfrm>
        </p:grpSpPr>
        <p:sp>
          <p:nvSpPr>
            <p:cNvPr id="13" name="图形"/>
            <p:cNvSpPr/>
            <p:nvPr>
              <p:custDataLst>
                <p:tags r:id="rId6"/>
              </p:custDataLst>
            </p:nvPr>
          </p:nvSpPr>
          <p:spPr>
            <a:xfrm>
              <a:off x="5888" y="1512"/>
              <a:ext cx="505" cy="505"/>
            </a:xfrm>
            <a:prstGeom prst="ellipse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" name="图形"/>
            <p:cNvSpPr/>
            <p:nvPr>
              <p:custDataLst>
                <p:tags r:id="rId7"/>
              </p:custDataLst>
            </p:nvPr>
          </p:nvSpPr>
          <p:spPr>
            <a:xfrm rot="2700000">
              <a:off x="-1348" y="1669"/>
              <a:ext cx="6067" cy="1107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381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pic>
          <p:nvPicPr>
            <p:cNvPr id="3" name="图形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64" r="10864"/>
            <a:stretch/>
          </p:blipFill>
          <p:spPr>
            <a:xfrm>
              <a:off x="867" y="2930"/>
              <a:ext cx="5106" cy="5106"/>
            </a:xfrm>
            <a:prstGeom prst="ellipse">
              <a:avLst/>
            </a:prstGeom>
            <a:noFill/>
          </p:spPr>
        </p:pic>
        <p:sp>
          <p:nvSpPr>
            <p:cNvPr id="12" name="图形"/>
            <p:cNvSpPr/>
            <p:nvPr>
              <p:custDataLst>
                <p:tags r:id="rId9"/>
              </p:custDataLst>
            </p:nvPr>
          </p:nvSpPr>
          <p:spPr>
            <a:xfrm rot="2700000">
              <a:off x="2464" y="-2294"/>
              <a:ext cx="822" cy="5164"/>
            </a:xfrm>
            <a:prstGeom prst="roundRect">
              <a:avLst>
                <a:gd name="adj" fmla="val 50000"/>
              </a:avLst>
            </a:prstGeom>
            <a:solidFill>
              <a:srgbClr val="B19E86">
                <a:alpha val="49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5" name="图形"/>
            <p:cNvSpPr/>
            <p:nvPr>
              <p:custDataLst>
                <p:tags r:id="rId10"/>
              </p:custDataLst>
            </p:nvPr>
          </p:nvSpPr>
          <p:spPr>
            <a:xfrm>
              <a:off x="16077" y="9639"/>
              <a:ext cx="4119" cy="608"/>
            </a:xfrm>
            <a:prstGeom prst="roundRect">
              <a:avLst>
                <a:gd name="adj" fmla="val 50000"/>
              </a:avLst>
            </a:prstGeom>
            <a:solidFill>
              <a:srgbClr val="B19E8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6" name="图形"/>
            <p:cNvSpPr/>
            <p:nvPr>
              <p:custDataLst>
                <p:tags r:id="rId11"/>
              </p:custDataLst>
            </p:nvPr>
          </p:nvSpPr>
          <p:spPr>
            <a:xfrm>
              <a:off x="15197" y="9690"/>
              <a:ext cx="505" cy="505"/>
            </a:xfrm>
            <a:prstGeom prst="ellipse">
              <a:avLst/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7" name="图形"/>
            <p:cNvSpPr/>
            <p:nvPr>
              <p:custDataLst>
                <p:tags r:id="rId12"/>
              </p:custDataLst>
            </p:nvPr>
          </p:nvSpPr>
          <p:spPr>
            <a:xfrm rot="2700000">
              <a:off x="4708" y="8316"/>
              <a:ext cx="822" cy="516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381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4" name="图形"/>
          <p:cNvSpPr txBox="1"/>
          <p:nvPr/>
        </p:nvSpPr>
        <p:spPr>
          <a:xfrm>
            <a:off x="4871721" y="2403475"/>
            <a:ext cx="6721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7200" dirty="0">
                <a:solidFill>
                  <a:schemeClr val="bg1"/>
                </a:solidFill>
                <a:latin typeface="Times New Roman" panose="02020603050405020304" pitchFamily="18" charset="0"/>
                <a:ea typeface="优设标题黑" pitchFamily="2" charset="-122"/>
                <a:cs typeface="Times New Roman" panose="02020603050405020304" pitchFamily="18" charset="0"/>
                <a:sym typeface="Arial"/>
              </a:rPr>
              <a:t>Thank You</a:t>
            </a:r>
            <a:endParaRPr lang="zh-CN" altLang="en-US" sz="7200" dirty="0">
              <a:solidFill>
                <a:schemeClr val="bg1"/>
              </a:solidFill>
              <a:latin typeface="Times New Roman" panose="02020603050405020304" pitchFamily="18" charset="0"/>
              <a:ea typeface="优设标题黑" pitchFamily="2" charset="-122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图形"/>
          <p:cNvSpPr txBox="1"/>
          <p:nvPr/>
        </p:nvSpPr>
        <p:spPr>
          <a:xfrm>
            <a:off x="4903620" y="3495338"/>
            <a:ext cx="673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Volunteer Matching &amp; Communication Assistant</a:t>
            </a:r>
          </a:p>
        </p:txBody>
      </p:sp>
      <p:grpSp>
        <p:nvGrpSpPr>
          <p:cNvPr id="9" name="图形"/>
          <p:cNvGrpSpPr/>
          <p:nvPr/>
        </p:nvGrpSpPr>
        <p:grpSpPr>
          <a:xfrm>
            <a:off x="5553644" y="4314537"/>
            <a:ext cx="5619115" cy="462915"/>
            <a:chOff x="8080" y="7420"/>
            <a:chExt cx="8849" cy="729"/>
          </a:xfrm>
        </p:grpSpPr>
        <p:sp>
          <p:nvSpPr>
            <p:cNvPr id="7" name="图形"/>
            <p:cNvSpPr/>
            <p:nvPr>
              <p:custDataLst>
                <p:tags r:id="rId4"/>
              </p:custDataLst>
            </p:nvPr>
          </p:nvSpPr>
          <p:spPr>
            <a:xfrm>
              <a:off x="8080" y="7440"/>
              <a:ext cx="3826" cy="709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254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Presenter: Karina</a:t>
              </a:r>
              <a:endParaRPr lang="zh-CN" altLang="en-US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8" name="图形"/>
            <p:cNvSpPr/>
            <p:nvPr>
              <p:custDataLst>
                <p:tags r:id="rId5"/>
              </p:custDataLst>
            </p:nvPr>
          </p:nvSpPr>
          <p:spPr>
            <a:xfrm>
              <a:off x="12302" y="7420"/>
              <a:ext cx="4627" cy="709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 w="25400">
              <a:solidFill>
                <a:srgbClr val="B19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Team</a:t>
              </a:r>
              <a:r>
                <a:rPr lang="zh-CN" altLang="en-US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：</a:t>
              </a:r>
              <a:r>
                <a:rPr lang="en-US" altLang="zh-CN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Strategic Task Force</a:t>
              </a:r>
            </a:p>
          </p:txBody>
        </p:sp>
      </p:grpSp>
      <p:grpSp>
        <p:nvGrpSpPr>
          <p:cNvPr id="19" name="图形"/>
          <p:cNvGrpSpPr/>
          <p:nvPr/>
        </p:nvGrpSpPr>
        <p:grpSpPr>
          <a:xfrm>
            <a:off x="8040370" y="345441"/>
            <a:ext cx="4151630" cy="392430"/>
            <a:chOff x="12662" y="544"/>
            <a:chExt cx="6538" cy="618"/>
          </a:xfrm>
        </p:grpSpPr>
        <p:sp>
          <p:nvSpPr>
            <p:cNvPr id="6" name="图形"/>
            <p:cNvSpPr/>
            <p:nvPr>
              <p:custDataLst>
                <p:tags r:id="rId2"/>
              </p:custDataLst>
            </p:nvPr>
          </p:nvSpPr>
          <p:spPr>
            <a:xfrm rot="16200000" flipH="1">
              <a:off x="18317" y="279"/>
              <a:ext cx="618" cy="114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1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8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2662" y="588"/>
              <a:ext cx="5142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  <a:sym typeface="Arial"/>
                </a:rPr>
                <a:t>Northbridge Community Alliance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4ZGExZGM1M2NlM2E0ZDZmYmU4NDI4OTdlNmIyOWYifQ=="/>
  <p:tag name="KSO_WPP_MARK_KEY" val="dda39068-c3c3-4b03-a80f-d80b6c4882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MiSans Medium"/>
        <a:ea typeface="MiSans Medium"/>
        <a:cs typeface=""/>
      </a:majorFont>
      <a:minorFont>
        <a:latin typeface="MiSans Medium"/>
        <a:ea typeface="MiSans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Medium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MiSans Medium"/>
        <a:font script="Hebr" typeface="MiSans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Medium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MiSans Medium"/>
        <a:font script="Hebr" typeface="MiSans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1086</Words>
  <Application>Microsoft Macintosh PowerPoint</Application>
  <PresentationFormat>Widescreen</PresentationFormat>
  <Paragraphs>97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微软雅黑</vt:lpstr>
      <vt:lpstr>MiSans Medium</vt:lpstr>
      <vt:lpstr>Arial</vt:lpstr>
      <vt:lpstr>Times New Roman</vt:lpstr>
      <vt:lpstr>Wingdings</vt:lpstr>
      <vt:lpstr>第一PPT，www.1ppt.com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第一PPT，www.1ppt.com</dc:creator>
  <cp:keywords>www.1ppt.com</cp:keywords>
  <dc:description>第一PPT</dc:description>
  <cp:lastModifiedBy>Shao Yu Hsu</cp:lastModifiedBy>
  <cp:revision>266</cp:revision>
  <dcterms:created xsi:type="dcterms:W3CDTF">2019-06-19T02:08:00Z</dcterms:created>
  <dcterms:modified xsi:type="dcterms:W3CDTF">2026-03-05T02:32:01Z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